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58c6b2e8054789" /><Relationship Type="http://schemas.openxmlformats.org/officeDocument/2006/relationships/extended-properties" Target="/docProps/app.xml" Id="R09c898c79aed4875" /><Relationship Type="http://schemas.openxmlformats.org/officeDocument/2006/relationships/officeDocument" Target="/ppt/presentation.xml" Id="R19fa3c3cce534b3f" /></Relationships>
</file>

<file path=ppt/presentation.xml><?xml version="1.0" encoding="utf-8"?>
<p:presentation xmlns:p="http://schemas.openxmlformats.org/presentationml/2006/main">
  <p:sldMasterIdLst>
    <p:sldMasterId xmlns:r="http://schemas.openxmlformats.org/officeDocument/2006/relationships" id="2147483648" r:id="Re4f8ace06c214cf4"/>
  </p:sldMasterIdLst>
  <p:notesMasterIdLst>
    <p:notesMasterId xmlns:r="http://schemas.openxmlformats.org/officeDocument/2006/relationships" r:id="Rf6295d74b9aa490b"/>
  </p:notesMasterIdLst>
  <p:sldIdLst>
    <p:sldId xmlns:r="http://schemas.openxmlformats.org/officeDocument/2006/relationships" id="256" r:id="R5b1b3ba2b73a40a0"/>
    <p:sldId xmlns:r="http://schemas.openxmlformats.org/officeDocument/2006/relationships" id="257" r:id="R8c7b92d89fa341da"/>
    <p:sldId xmlns:r="http://schemas.openxmlformats.org/officeDocument/2006/relationships" id="258" r:id="R8eacf4a6b7c14ca6"/>
    <p:sldId xmlns:r="http://schemas.openxmlformats.org/officeDocument/2006/relationships" id="259" r:id="Rffe6dcbab9964583"/>
    <p:sldId xmlns:r="http://schemas.openxmlformats.org/officeDocument/2006/relationships" id="260" r:id="R41d7f49cdf914552"/>
    <p:sldId xmlns:r="http://schemas.openxmlformats.org/officeDocument/2006/relationships" id="261" r:id="R84a12f263cc84926"/>
    <p:sldId xmlns:r="http://schemas.openxmlformats.org/officeDocument/2006/relationships" id="262" r:id="R94962372c92a4f67"/>
    <p:sldId xmlns:r="http://schemas.openxmlformats.org/officeDocument/2006/relationships" id="263" r:id="R23f1918bc1144753"/>
    <p:sldId xmlns:r="http://schemas.openxmlformats.org/officeDocument/2006/relationships" id="264" r:id="Rd9150a80d6824104"/>
    <p:sldId xmlns:r="http://schemas.openxmlformats.org/officeDocument/2006/relationships" id="265" r:id="Re2ee38127cc44b07"/>
    <p:sldId xmlns:r="http://schemas.openxmlformats.org/officeDocument/2006/relationships" id="266" r:id="R28a0a9637248481d"/>
    <p:sldId xmlns:r="http://schemas.openxmlformats.org/officeDocument/2006/relationships" id="267" r:id="R4ea85136aece4b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e4f896d2a84fbc" /><Relationship Type="http://schemas.openxmlformats.org/officeDocument/2006/relationships/slideMaster" Target="/ppt/slideMasters/slideMaster1.xml" Id="Re4f8ace06c214cf4" /><Relationship Type="http://schemas.openxmlformats.org/officeDocument/2006/relationships/notesMaster" Target="/ppt/notesMasters/notesMaster1.xml" Id="Rf6295d74b9aa490b" /><Relationship Type="http://schemas.openxmlformats.org/officeDocument/2006/relationships/presProps" Target="/ppt/presProps.xml" Id="Ref75516b71844148" /><Relationship Type="http://schemas.openxmlformats.org/officeDocument/2006/relationships/tableStyles" Target="/ppt/tableStyles.xml" Id="Re054298889c247c7" /><Relationship Type="http://schemas.openxmlformats.org/officeDocument/2006/relationships/slide" Target="/ppt/slides/slide1.xml" Id="R5b1b3ba2b73a40a0" /><Relationship Type="http://schemas.openxmlformats.org/officeDocument/2006/relationships/slide" Target="/ppt/slides/slide2.xml" Id="R8c7b92d89fa341da" /><Relationship Type="http://schemas.openxmlformats.org/officeDocument/2006/relationships/slide" Target="/ppt/slides/slide3.xml" Id="R8eacf4a6b7c14ca6" /><Relationship Type="http://schemas.openxmlformats.org/officeDocument/2006/relationships/slide" Target="/ppt/slides/slide4.xml" Id="Rffe6dcbab9964583" /><Relationship Type="http://schemas.openxmlformats.org/officeDocument/2006/relationships/slide" Target="/ppt/slides/slide5.xml" Id="R41d7f49cdf914552" /><Relationship Type="http://schemas.openxmlformats.org/officeDocument/2006/relationships/slide" Target="/ppt/slides/slide6.xml" Id="R84a12f263cc84926" /><Relationship Type="http://schemas.openxmlformats.org/officeDocument/2006/relationships/slide" Target="/ppt/slides/slide7.xml" Id="R94962372c92a4f67" /><Relationship Type="http://schemas.openxmlformats.org/officeDocument/2006/relationships/slide" Target="/ppt/slides/slide8.xml" Id="R23f1918bc1144753" /><Relationship Type="http://schemas.openxmlformats.org/officeDocument/2006/relationships/slide" Target="/ppt/slides/slide9.xml" Id="Rd9150a80d6824104" /><Relationship Type="http://schemas.openxmlformats.org/officeDocument/2006/relationships/slide" Target="/ppt/slides/slide10.xml" Id="Re2ee38127cc44b07" /><Relationship Type="http://schemas.openxmlformats.org/officeDocument/2006/relationships/slide" Target="/ppt/slides/slide11.xml" Id="R28a0a9637248481d" /><Relationship Type="http://schemas.openxmlformats.org/officeDocument/2006/relationships/slide" Target="/ppt/slides/slide12.xml" Id="R4ea85136aece4b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8a4cc020e649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d47b80e2764617" /><Relationship Type="http://schemas.openxmlformats.org/officeDocument/2006/relationships/notesMaster" Target="/ppt/notesMasters/notesMaster1.xml" Id="R45b5ebf1632142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8f40a0fc746f5" /><Relationship Type="http://schemas.openxmlformats.org/officeDocument/2006/relationships/notesMaster" Target="/ppt/notesMasters/notesMaster1.xml" Id="Rc1309a8cfc6846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157d0ae1fc426f" /><Relationship Type="http://schemas.openxmlformats.org/officeDocument/2006/relationships/notesMaster" Target="/ppt/notesMasters/notesMaster1.xml" Id="R81f7f3bcbf10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1ee5996b894259" /><Relationship Type="http://schemas.openxmlformats.org/officeDocument/2006/relationships/notesMaster" Target="/ppt/notesMasters/notesMaster1.xml" Id="R6d3f8d2e2cc943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c996b8c9804fb4" /><Relationship Type="http://schemas.openxmlformats.org/officeDocument/2006/relationships/notesMaster" Target="/ppt/notesMasters/notesMaster1.xml" Id="Rb4521e66b9bb42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f3e499968949c5" /><Relationship Type="http://schemas.openxmlformats.org/officeDocument/2006/relationships/notesMaster" Target="/ppt/notesMasters/notesMaster1.xml" Id="Rdc7342061e2f4f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bb2b79c2e47d0" /><Relationship Type="http://schemas.openxmlformats.org/officeDocument/2006/relationships/notesMaster" Target="/ppt/notesMasters/notesMaster1.xml" Id="R4b990503dd434c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284a12b7f24f8f" /><Relationship Type="http://schemas.openxmlformats.org/officeDocument/2006/relationships/notesMaster" Target="/ppt/notesMasters/notesMaster1.xml" Id="R0ab6cd2648a84f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e4bc2ec3a64471" /><Relationship Type="http://schemas.openxmlformats.org/officeDocument/2006/relationships/notesMaster" Target="/ppt/notesMasters/notesMaster1.xml" Id="R207ba0eaf4c14a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f8426bd6b44dd1" /><Relationship Type="http://schemas.openxmlformats.org/officeDocument/2006/relationships/notesMaster" Target="/ppt/notesMasters/notesMaster1.xml" Id="Re5af5947edb744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910f51cd45423e" /><Relationship Type="http://schemas.openxmlformats.org/officeDocument/2006/relationships/notesMaster" Target="/ppt/notesMasters/notesMaster1.xml" Id="Rd2f45e894f8045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b3e9323bc64d99" /><Relationship Type="http://schemas.openxmlformats.org/officeDocument/2006/relationships/notesMaster" Target="/ppt/notesMasters/notesMaster1.xml" Id="Raa480b6c9eb448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Nova as an offline-first personal voice companion. The artwork is an abstract illustration reused from the project assets, not a photograph of the prototype. Explain that today's live demo runs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goal was a 24-hour hackathon prototype. Explain the intended need without claiming market statistics or medical benefits. Source: project handoff and current user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layer in order. Whisper.cpp transcribes audio, wake detection activates supported requests, and deterministic tools handle memory and scheduling. Ollama handles general conversation and Piper speaks. Sources: scripts/always_on_assistant.py and project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software capabilities. Avoid claiming all have just passed physical testing. Explicit memory and hello worked in the latest user demonstration. Sources: docs/TASKS_AND_REMINDERS.md, docs/PRIVACY.md and user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working defaults for evaluation. Online providers require explicit opt-in. Experimental interruption has echo limitations. GPIO and service preparation do not establish real hardware success. Sources: config and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safeguards implemented and regression-tested, not guarantees of flawless real-world operation. Sources: module history 12.7.1 through 12.9 and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the recent passive extraction produced five rejected suggestions and zero saves. Active voice sometimes misses an answer. Bluetooth standalone output worked but recorded microphone audio contained static on Pi. Multi-hour physical soak remains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hello and favorite-food saving and recall worked. Do not describe the remaining sequence as already performed. Present it as the live demonstration plan. Source: latest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one command at a time. Wait for LISTENING. Say Nova, yes only when asked for confirmation. Do not repeat writes blindly if playback fails. Replace task IDs with IDs that Nova actually returns. Sources: current command checklist and supported router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applications of implemented features, not measured outcomes. Nova is not a medical, financial or safety-critical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deletion is not secure erasure and local storage does not imply encryption at rest. Software mute is not an electrical microphone cutoff. Never treat an unknown passive speaker as the owner. No real Pi deployment validation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and offer the live demonstration. Reiterate that the validated software demo is on Windows and Raspberry Pi microphone audio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9e5a8970f347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897437197641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f70300cd794c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57cd97260847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f5d58a1bb644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3f36cafd0e4a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131A52-A2F3-4F8A-82D6-46C72A6540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7892AE-DD12-4E46-A9B4-B277D2DF35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110942-3B1E-4A43-8929-EF4B3B2DCC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5A02DF-E57D-4C2E-952F-95CF396FD9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D6D87C-29D5-4A68-9F94-E6875B319B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CB1478-5B75-4F7B-A9E6-2B19160C76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51634E-04D5-4D43-9BA1-2B3376502E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D05241-6103-4753-9D1F-B94256AEE2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FDDD70-AEEB-45C7-BF67-D80EF4254C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F3F543-B472-417D-AFDA-0BF8149CFC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38420540f14a25" /><Relationship Type="http://schemas.openxmlformats.org/officeDocument/2006/relationships/slideLayout" Target="/ppt/slideLayouts/slideLayout1.xml" Id="R17f761367c2f4364" /><Relationship Type="http://schemas.openxmlformats.org/officeDocument/2006/relationships/slideLayout" Target="/ppt/slideLayouts/slideLayout2.xml" Id="R0617213789ff44b5" /><Relationship Type="http://schemas.openxmlformats.org/officeDocument/2006/relationships/slideLayout" Target="/ppt/slideLayouts/slideLayout3.xml" Id="R1cc7da28fe9545c6" /><Relationship Type="http://schemas.openxmlformats.org/officeDocument/2006/relationships/slideLayout" Target="/ppt/slideLayouts/slideLayout4.xml" Id="Rb31d8e24f6e74d83" /><Relationship Type="http://schemas.openxmlformats.org/officeDocument/2006/relationships/slideLayout" Target="/ppt/slideLayouts/slideLayout5.xml" Id="R1252637296f24727" /><Relationship Type="http://schemas.openxmlformats.org/officeDocument/2006/relationships/slideLayout" Target="/ppt/slideLayouts/slideLayout6.xml" Id="R28b938dc9e1c42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f761367c2f4364"/>
    <p:sldLayoutId xmlns:r="http://schemas.openxmlformats.org/officeDocument/2006/relationships" id="2147483650" r:id="R0617213789ff44b5"/>
    <p:sldLayoutId xmlns:r="http://schemas.openxmlformats.org/officeDocument/2006/relationships" id="2147483651" r:id="R1cc7da28fe9545c6"/>
    <p:sldLayoutId xmlns:r="http://schemas.openxmlformats.org/officeDocument/2006/relationships" id="2147483652" r:id="Rb31d8e24f6e74d83"/>
    <p:sldLayoutId xmlns:r="http://schemas.openxmlformats.org/officeDocument/2006/relationships" id="2147483653" r:id="R1252637296f24727"/>
    <p:sldLayoutId xmlns:r="http://schemas.openxmlformats.org/officeDocument/2006/relationships" id="2147483654" r:id="R28b938dc9e1c42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d621e6df5c4846" /><Relationship Type="http://schemas.openxmlformats.org/officeDocument/2006/relationships/image" Target="/ppt/media/image.png" Id="R9ef71880075544c6" /><Relationship Type="http://schemas.openxmlformats.org/officeDocument/2006/relationships/notesSlide" Target="/ppt/notesSlides/notesSlide1.xml" Id="Red2d84aeb4c543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5aa5a4151d4abf" /><Relationship Type="http://schemas.openxmlformats.org/officeDocument/2006/relationships/notesSlide" Target="/ppt/notesSlides/notesSlide2.xml" Id="Rd20eaf8005be4c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5aecd4ea2a4fde" /><Relationship Type="http://schemas.openxmlformats.org/officeDocument/2006/relationships/notesSlide" Target="/ppt/notesSlides/notesSlide3.xml" Id="Rdefca5d18ecc48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40a731b57a411e" /><Relationship Type="http://schemas.openxmlformats.org/officeDocument/2006/relationships/notesSlide" Target="/ppt/notesSlides/notesSlide4.xml" Id="R1c90d51b35fc4f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1b5c7a42b44e91" /><Relationship Type="http://schemas.openxmlformats.org/officeDocument/2006/relationships/notesSlide" Target="/ppt/notesSlides/notesSlide5.xml" Id="R6e884f82fc8646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c028961b4c4f80" /><Relationship Type="http://schemas.openxmlformats.org/officeDocument/2006/relationships/notesSlide" Target="/ppt/notesSlides/notesSlide6.xml" Id="R97b9fc68753246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126831c64c4244" /><Relationship Type="http://schemas.openxmlformats.org/officeDocument/2006/relationships/notesSlide" Target="/ppt/notesSlides/notesSlide7.xml" Id="R53231e3170164f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db98b6ed8a4865" /><Relationship Type="http://schemas.openxmlformats.org/officeDocument/2006/relationships/notesSlide" Target="/ppt/notesSlides/notesSlide8.xml" Id="Rd567566fcb65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b434a6c8bd40fd" /><Relationship Type="http://schemas.openxmlformats.org/officeDocument/2006/relationships/notesSlide" Target="/ppt/notesSlides/notesSlide9.xml" Id="R80891fe4c6364e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45dc71b11248f7" /><Relationship Type="http://schemas.openxmlformats.org/officeDocument/2006/relationships/notesSlide" Target="/ppt/notesSlides/notesSlide10.xml" Id="R37a0f77094094e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10ed11833d4d28" /><Relationship Type="http://schemas.openxmlformats.org/officeDocument/2006/relationships/notesSlide" Target="/ppt/notesSlides/notesSlide11.xml" Id="R7d8c618c634f40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a4186f6ae974d33" /><Relationship Type="http://schemas.openxmlformats.org/officeDocument/2006/relationships/notesSlide" Target="/ppt/notesSlides/notesSlide12.xml" Id="Rdb6b4f17a26340b6" /></Relationships>
</file>

<file path=ppt/slides/slide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1E964A8-0133-4A6F-8B08-83D503AB466F}"/>
              </a:ext>
            </a:extLst>
          </p:cNvPr>
          <p:cNvPicPr>
            <a:picLocks xmlns:a="http://schemas.openxmlformats.org/drawingml/2006/main" noChangeAspect="1"/>
          </p:cNvPicPr>
          <p:nvPr/>
        </p:nvPicPr>
        <p:blipFill>
          <a:blip xmlns:r="http://schemas.openxmlformats.org/officeDocument/2006/relationships" xmlns:a="http://schemas.openxmlformats.org/drawingml/2006/main" r:embed="R9ef71880075544c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2114F8-CB9D-4BAE-8262-A77F718D4CEF}"/>
              </a:ext>
            </a:extLst>
          </p:cNvPr>
          <p:cNvSpPr>
            <a:spLocks xmlns:a="http://schemas.openxmlformats.org/drawingml/2006/main" noGrp="1"/>
          </p:cNvSpPr>
          <p:nvPr/>
        </p:nvSpPr>
        <p:spPr>
          <a:xfrm xmlns:a="http://schemas.openxmlformats.org/drawingml/2006/main">
            <a:off x="685800" y="16192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FFFF"/>
                </a:solidFill>
                <a:latin typeface="Arial"/>
                <a:ea typeface="Arial"/>
                <a:cs typeface="Arial"/>
              </a:defRPr>
            </a:defPPr>
          </a:lstStyle>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C735D513-4EF2-4712-B580-0DAC72BE4945}"/>
              </a:ext>
            </a:extLst>
          </p:cNvPr>
          <p:cNvSpPr>
            <a:spLocks xmlns:a="http://schemas.openxmlformats.org/drawingml/2006/main" noGrp="1"/>
          </p:cNvSpPr>
          <p:nvPr/>
        </p:nvSpPr>
        <p:spPr>
          <a:xfrm xmlns:a="http://schemas.openxmlformats.org/drawingml/2006/main">
            <a:off x="723900" y="28575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75E3C0"/>
                </a:solidFill>
                <a:latin typeface="Arial"/>
                <a:ea typeface="Arial"/>
                <a:cs typeface="Arial"/>
              </a:defRPr>
            </a:defPPr>
          </a:lstStyle>
          <a:p xmlns:a="http://schemas.openxmlformats.org/drawingml/2006/main">
            <a:pPr>
              <a:defRPr sz="2850" b="0">
                <a:solidFill>
                  <a:srgbClr val="75E3C0"/>
                </a:solidFill>
                <a:latin typeface="Arial"/>
                <a:ea typeface="Arial"/>
                <a:cs typeface="Arial"/>
              </a:defRPr>
            </a:pPr>
            <a:r>
              <a:rPr sz="2850" b="0">
                <a:solidFill>
                  <a:srgbClr val="75E3C0"/>
                </a:solidFill>
                <a:latin typeface="Arial"/>
                <a:ea typeface="Arial"/>
                <a:cs typeface="Arial"/>
              </a:rPr>
              <a:t>Offline AI companion</a:t>
            </a:r>
          </a:p>
        </p:txBody>
      </p:sp>
      <p:sp>
        <p:nvSpPr>
          <p:cNvPr id="4" name="">
            <a:extLst xmlns:a="http://schemas.openxmlformats.org/drawingml/2006/main">
              <a:ext uri="{FF2B5EF4-FFF2-40B4-BE49-F238E27FC236}">
                <a16:creationId xmlns:a16="http://schemas.microsoft.com/office/drawing/2014/main" id="{4EB26AAA-FAD0-492E-B0CA-2CDCC2FFBEA5}"/>
              </a:ext>
            </a:extLst>
          </p:cNvPr>
          <p:cNvSpPr>
            <a:spLocks xmlns:a="http://schemas.openxmlformats.org/drawingml/2006/main" noGrp="1"/>
          </p:cNvSpPr>
          <p:nvPr/>
        </p:nvSpPr>
        <p:spPr>
          <a:xfrm xmlns:a="http://schemas.openxmlformats.org/drawingml/2006/main">
            <a:off x="723900" y="37814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8E2E8"/>
                </a:solidFill>
                <a:latin typeface="Arial"/>
                <a:ea typeface="Arial"/>
                <a:cs typeface="Arial"/>
              </a:defRPr>
            </a:defPPr>
          </a:lstStyle>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Voice interaction with persistent memory</a:t>
            </a:r>
          </a:p>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and explicit privacy controls</a:t>
            </a:r>
          </a:p>
        </p:txBody>
      </p:sp>
      <p:sp>
        <p:nvSpPr>
          <p:cNvPr id="5" name="">
            <a:extLst xmlns:a="http://schemas.openxmlformats.org/drawingml/2006/main">
              <a:ext uri="{FF2B5EF4-FFF2-40B4-BE49-F238E27FC236}">
                <a16:creationId xmlns:a16="http://schemas.microsoft.com/office/drawing/2014/main" id="{FAB9C29A-1B1B-42B9-9E07-7FE6B5B68174}"/>
              </a:ext>
            </a:extLst>
          </p:cNvPr>
          <p:cNvSpPr>
            <a:spLocks xmlns:a="http://schemas.openxmlformats.org/drawingml/2006/main" noGrp="1"/>
          </p:cNvSpPr>
          <p:nvPr/>
        </p:nvSpPr>
        <p:spPr>
          <a:xfrm xmlns:a="http://schemas.openxmlformats.org/drawingml/2006/main">
            <a:off x="723900" y="57721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3A8B5"/>
                </a:solidFill>
                <a:latin typeface="Arial"/>
                <a:ea typeface="Arial"/>
                <a:cs typeface="Arial"/>
              </a:defRPr>
            </a:defPPr>
          </a:lstStyle>
          <a:p xmlns:a="http://schemas.openxmlformats.org/drawingml/2006/main">
            <a:pPr>
              <a:defRPr sz="1725" b="0">
                <a:solidFill>
                  <a:srgbClr val="93A8B5"/>
                </a:solidFill>
                <a:latin typeface="Arial"/>
                <a:ea typeface="Arial"/>
                <a:cs typeface="Arial"/>
              </a:defRPr>
            </a:pPr>
            <a:r>
              <a:rPr sz="1725" b="0">
                <a:solidFill>
                  <a:srgbClr val="93A8B5"/>
                </a:solidFill>
                <a:latin typeface="Arial"/>
                <a:ea typeface="Arial"/>
                <a:cs typeface="Arial"/>
              </a:rPr>
              <a:t>Hackathon evaluation</a:t>
            </a:r>
          </a:p>
        </p:txBody>
      </p:sp>
    </p:spTree>
    <p:extLst>
      <p:ext uri="{BB962C8B-B14F-4D97-AF65-F5344CB8AC3E}">
        <p14:creationId xmlns:p14="http://schemas.microsoft.com/office/powerpoint/2010/main" val="2128113469"/>
      </p:ext>
    </p:extLst>
  </p:cSld>
</p:sld>
</file>

<file path=ppt/slides/slide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C43CDE-0BFF-4701-B0B2-3E7E34E7C0B4}"/>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FDCCFF4E-BA29-41A1-A1E1-5DDF22A4CCA3}"/>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FC1ED01-9CAB-4810-AE86-A7CD1EB082C3}"/>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74247D80-8786-4F43-BDB0-1F4055EB8012}"/>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 voice companion that remembers useful information and helps manage everyday work.</a:t>
            </a:r>
          </a:p>
        </p:txBody>
      </p:sp>
      <p:sp>
        <p:nvSpPr>
          <p:cNvPr id="5" name="">
            <a:extLst xmlns:a="http://schemas.openxmlformats.org/drawingml/2006/main">
              <a:ext uri="{FF2B5EF4-FFF2-40B4-BE49-F238E27FC236}">
                <a16:creationId xmlns:a16="http://schemas.microsoft.com/office/drawing/2014/main" id="{3AC69FD2-F886-4254-98BB-6BD6B55959F1}"/>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Interaction</a:t>
            </a:r>
          </a:p>
        </p:txBody>
      </p:sp>
      <p:sp>
        <p:nvSpPr>
          <p:cNvPr id="6" name="">
            <a:extLst xmlns:a="http://schemas.openxmlformats.org/drawingml/2006/main">
              <a:ext uri="{FF2B5EF4-FFF2-40B4-BE49-F238E27FC236}">
                <a16:creationId xmlns:a16="http://schemas.microsoft.com/office/drawing/2014/main" id="{10FA94E4-19A3-431D-BA6C-89DEDB2B9F29}"/>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Say Nova to ask a question, save a note, or manage a task or reminder.</a:t>
            </a:r>
          </a:p>
        </p:txBody>
      </p:sp>
      <p:sp>
        <p:nvSpPr>
          <p:cNvPr id="7" name="">
            <a:extLst xmlns:a="http://schemas.openxmlformats.org/drawingml/2006/main">
              <a:ext uri="{FF2B5EF4-FFF2-40B4-BE49-F238E27FC236}">
                <a16:creationId xmlns:a16="http://schemas.microsoft.com/office/drawing/2014/main" id="{F51C795A-509B-4485-9575-892E914A1AFA}"/>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Local operation</a:t>
            </a:r>
          </a:p>
        </p:txBody>
      </p:sp>
      <p:sp>
        <p:nvSpPr>
          <p:cNvPr id="8" name="">
            <a:extLst xmlns:a="http://schemas.openxmlformats.org/drawingml/2006/main">
              <a:ext uri="{FF2B5EF4-FFF2-40B4-BE49-F238E27FC236}">
                <a16:creationId xmlns:a16="http://schemas.microsoft.com/office/drawing/2014/main" id="{2E931AFD-9F10-4CAE-A239-F8B0A8BE10CE}"/>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Speech recognition, language inference, speech synthesis and SQLite storage run locally.</a:t>
            </a:r>
          </a:p>
        </p:txBody>
      </p:sp>
      <p:sp>
        <p:nvSpPr>
          <p:cNvPr id="9" name="">
            <a:extLst xmlns:a="http://schemas.openxmlformats.org/drawingml/2006/main">
              <a:ext uri="{FF2B5EF4-FFF2-40B4-BE49-F238E27FC236}">
                <a16:creationId xmlns:a16="http://schemas.microsoft.com/office/drawing/2014/main" id="{C7642A4A-118F-49A1-8E15-ECC9BDE018F3}"/>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Deployment target</a:t>
            </a:r>
          </a:p>
        </p:txBody>
      </p:sp>
      <p:sp>
        <p:nvSpPr>
          <p:cNvPr id="10" name="">
            <a:extLst xmlns:a="http://schemas.openxmlformats.org/drawingml/2006/main">
              <a:ext uri="{FF2B5EF4-FFF2-40B4-BE49-F238E27FC236}">
                <a16:creationId xmlns:a16="http://schemas.microsoft.com/office/drawing/2014/main" id="{E2C4445E-22E0-4B82-AB52-865C202BABEE}"/>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Windows development today. Raspberry Pi 5 with 4 GB RAM as the deployment target.</a:t>
            </a:r>
          </a:p>
        </p:txBody>
      </p:sp>
    </p:spTree>
    <p:extLst>
      <p:ext uri="{BB962C8B-B14F-4D97-AF65-F5344CB8AC3E}">
        <p14:creationId xmlns:p14="http://schemas.microsoft.com/office/powerpoint/2010/main" val="1189730833"/>
      </p:ext>
    </p:extLst>
  </p:cSld>
</p:sld>
</file>

<file path=ppt/slides/slide3.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BAD27-35AD-425A-AE2C-916F79069099}"/>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F5FE073F-43A7-4D9C-8462-4CE0360B327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7D60637-9EDD-4B49-A44E-B7692F2D31FD}"/>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input</a:t>
            </a:r>
          </a:p>
        </p:txBody>
      </p:sp>
      <p:sp>
        <p:nvSpPr>
          <p:cNvPr id="4" name="">
            <a:extLst xmlns:a="http://schemas.openxmlformats.org/drawingml/2006/main">
              <a:ext uri="{FF2B5EF4-FFF2-40B4-BE49-F238E27FC236}">
                <a16:creationId xmlns:a16="http://schemas.microsoft.com/office/drawing/2014/main" id="{A326F488-569D-4C37-B7A6-60D21D44B3D6}"/>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Microphone capture and voice activity detection feed local Whisper.cpp transcription.</a:t>
            </a:r>
          </a:p>
        </p:txBody>
      </p:sp>
      <p:sp>
        <p:nvSpPr>
          <p:cNvPr id="5" name="">
            <a:extLst xmlns:a="http://schemas.openxmlformats.org/drawingml/2006/main">
              <a:ext uri="{FF2B5EF4-FFF2-40B4-BE49-F238E27FC236}">
                <a16:creationId xmlns:a16="http://schemas.microsoft.com/office/drawing/2014/main" id="{57D5F4DC-D33B-4667-BCE3-808BC5A4141B}"/>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Request handling</a:t>
            </a:r>
          </a:p>
        </p:txBody>
      </p:sp>
      <p:sp>
        <p:nvSpPr>
          <p:cNvPr id="6" name="">
            <a:extLst xmlns:a="http://schemas.openxmlformats.org/drawingml/2006/main">
              <a:ext uri="{FF2B5EF4-FFF2-40B4-BE49-F238E27FC236}">
                <a16:creationId xmlns:a16="http://schemas.microsoft.com/office/drawing/2014/main" id="{3D34A901-7DA6-4072-AA51-3A4B21D6CF25}"/>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Wake detection routes active commands to the assistant, local tools or Ollama.</a:t>
            </a:r>
          </a:p>
        </p:txBody>
      </p:sp>
      <p:sp>
        <p:nvSpPr>
          <p:cNvPr id="7" name="">
            <a:extLst xmlns:a="http://schemas.openxmlformats.org/drawingml/2006/main">
              <a:ext uri="{FF2B5EF4-FFF2-40B4-BE49-F238E27FC236}">
                <a16:creationId xmlns:a16="http://schemas.microsoft.com/office/drawing/2014/main" id="{34FE520D-A888-4A41-8C65-A5BC694A6BA2}"/>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Persistent storage</a:t>
            </a:r>
          </a:p>
        </p:txBody>
      </p:sp>
      <p:sp>
        <p:nvSpPr>
          <p:cNvPr id="8" name="">
            <a:extLst xmlns:a="http://schemas.openxmlformats.org/drawingml/2006/main">
              <a:ext uri="{FF2B5EF4-FFF2-40B4-BE49-F238E27FC236}">
                <a16:creationId xmlns:a16="http://schemas.microsoft.com/office/drawing/2014/main" id="{9FC8C1C9-0C1E-42C3-A6F8-168143069937}"/>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SQLite stores confirmed facts, observations, notes, tasks and reminders.</a:t>
            </a:r>
          </a:p>
        </p:txBody>
      </p:sp>
      <p:sp>
        <p:nvSpPr>
          <p:cNvPr id="9" name="">
            <a:extLst xmlns:a="http://schemas.openxmlformats.org/drawingml/2006/main">
              <a:ext uri="{FF2B5EF4-FFF2-40B4-BE49-F238E27FC236}">
                <a16:creationId xmlns:a16="http://schemas.microsoft.com/office/drawing/2014/main" id="{E9DBB7C2-33BF-443D-969C-1CE37C0BDFE5}"/>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response</a:t>
            </a:r>
          </a:p>
        </p:txBody>
      </p:sp>
      <p:sp>
        <p:nvSpPr>
          <p:cNvPr id="10" name="">
            <a:extLst xmlns:a="http://schemas.openxmlformats.org/drawingml/2006/main">
              <a:ext uri="{FF2B5EF4-FFF2-40B4-BE49-F238E27FC236}">
                <a16:creationId xmlns:a16="http://schemas.microsoft.com/office/drawing/2014/main" id="{D6263951-1AC2-45F1-930A-0168F3E90A0F}"/>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Piper generates speech. The default mode returns to listening after playback.</a:t>
            </a:r>
          </a:p>
        </p:txBody>
      </p:sp>
    </p:spTree>
    <p:extLst>
      <p:ext uri="{BB962C8B-B14F-4D97-AF65-F5344CB8AC3E}">
        <p14:creationId xmlns:p14="http://schemas.microsoft.com/office/powerpoint/2010/main" val="767176490"/>
      </p:ext>
    </p:extLst>
  </p:cSld>
</p:sld>
</file>

<file path=ppt/slides/slide4.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40F4D2-670A-4B48-8B7C-049EFD65B6BF}"/>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Features available today</a:t>
            </a:r>
          </a:p>
        </p:txBody>
      </p:sp>
      <p:sp>
        <p:nvSpPr>
          <p:cNvPr id="2" name="">
            <a:extLst xmlns:a="http://schemas.openxmlformats.org/drawingml/2006/main">
              <a:ext uri="{FF2B5EF4-FFF2-40B4-BE49-F238E27FC236}">
                <a16:creationId xmlns:a16="http://schemas.microsoft.com/office/drawing/2014/main" id="{ED40C159-C173-498D-8B1E-51836215BA85}"/>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15CC07C-D8E4-4CE3-B99D-A0F7F61B0B78}"/>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assistant</a:t>
            </a:r>
          </a:p>
        </p:txBody>
      </p:sp>
      <p:sp>
        <p:nvSpPr>
          <p:cNvPr id="4" name="">
            <a:extLst xmlns:a="http://schemas.openxmlformats.org/drawingml/2006/main">
              <a:ext uri="{FF2B5EF4-FFF2-40B4-BE49-F238E27FC236}">
                <a16:creationId xmlns:a16="http://schemas.microsoft.com/office/drawing/2014/main" id="{D9F132E0-B65A-403C-9710-69AFB4CF511F}"/>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Continuous listening, wake activation, local conversation and spoken responses.</a:t>
            </a:r>
          </a:p>
        </p:txBody>
      </p:sp>
      <p:sp>
        <p:nvSpPr>
          <p:cNvPr id="5" name="">
            <a:extLst xmlns:a="http://schemas.openxmlformats.org/drawingml/2006/main">
              <a:ext uri="{FF2B5EF4-FFF2-40B4-BE49-F238E27FC236}">
                <a16:creationId xmlns:a16="http://schemas.microsoft.com/office/drawing/2014/main" id="{5ADC9C55-BDE4-44BE-913D-4CB28116F27F}"/>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Personal memory</a:t>
            </a:r>
          </a:p>
        </p:txBody>
      </p:sp>
      <p:sp>
        <p:nvSpPr>
          <p:cNvPr id="6" name="">
            <a:extLst xmlns:a="http://schemas.openxmlformats.org/drawingml/2006/main">
              <a:ext uri="{FF2B5EF4-FFF2-40B4-BE49-F238E27FC236}">
                <a16:creationId xmlns:a16="http://schemas.microsoft.com/office/drawing/2014/main" id="{3F7456AB-B677-4652-BB55-49E95423A7B9}"/>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optional passive observations, paraphrased recall and memory review.</a:t>
            </a:r>
          </a:p>
        </p:txBody>
      </p:sp>
      <p:sp>
        <p:nvSpPr>
          <p:cNvPr id="7" name="">
            <a:extLst xmlns:a="http://schemas.openxmlformats.org/drawingml/2006/main">
              <a:ext uri="{FF2B5EF4-FFF2-40B4-BE49-F238E27FC236}">
                <a16:creationId xmlns:a16="http://schemas.microsoft.com/office/drawing/2014/main" id="{6929A039-3EAE-4B83-A104-AFFE5C676B61}"/>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Daily organization</a:t>
            </a:r>
          </a:p>
        </p:txBody>
      </p:sp>
      <p:sp>
        <p:nvSpPr>
          <p:cNvPr id="8" name="">
            <a:extLst xmlns:a="http://schemas.openxmlformats.org/drawingml/2006/main">
              <a:ext uri="{FF2B5EF4-FFF2-40B4-BE49-F238E27FC236}">
                <a16:creationId xmlns:a16="http://schemas.microsoft.com/office/drawing/2014/main" id="{0763A108-19BD-4677-9E03-183D9CED6B36}"/>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Persistent notes, task completion and editing, reminder scheduling and rescheduling.</a:t>
            </a:r>
          </a:p>
        </p:txBody>
      </p:sp>
      <p:sp>
        <p:nvSpPr>
          <p:cNvPr id="9" name="">
            <a:extLst xmlns:a="http://schemas.openxmlformats.org/drawingml/2006/main">
              <a:ext uri="{FF2B5EF4-FFF2-40B4-BE49-F238E27FC236}">
                <a16:creationId xmlns:a16="http://schemas.microsoft.com/office/drawing/2014/main" id="{400C559F-6002-4B22-9C46-EA2E46D60217}"/>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User control</a:t>
            </a:r>
          </a:p>
        </p:txBody>
      </p:sp>
      <p:sp>
        <p:nvSpPr>
          <p:cNvPr id="10" name="">
            <a:extLst xmlns:a="http://schemas.openxmlformats.org/drawingml/2006/main">
              <a:ext uri="{FF2B5EF4-FFF2-40B4-BE49-F238E27FC236}">
                <a16:creationId xmlns:a16="http://schemas.microsoft.com/office/drawing/2014/main" id="{9EF890EB-B557-405E-A65A-E37647B1C41B}"/>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Software mute, confirmed deletion, privacy filtering and optional interruption.</a:t>
            </a:r>
          </a:p>
        </p:txBody>
      </p:sp>
    </p:spTree>
    <p:extLst>
      <p:ext uri="{BB962C8B-B14F-4D97-AF65-F5344CB8AC3E}">
        <p14:creationId xmlns:p14="http://schemas.microsoft.com/office/powerpoint/2010/main" val="614782623"/>
      </p:ext>
    </p:extLst>
  </p:cSld>
</p:sld>
</file>

<file path=ppt/slides/slide5.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151BFA-A0D3-496C-9002-F5017122E6DC}"/>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operating options</a:t>
            </a:r>
          </a:p>
        </p:txBody>
      </p:sp>
      <p:sp>
        <p:nvSpPr>
          <p:cNvPr id="2" name="">
            <a:extLst xmlns:a="http://schemas.openxmlformats.org/drawingml/2006/main">
              <a:ext uri="{FF2B5EF4-FFF2-40B4-BE49-F238E27FC236}">
                <a16:creationId xmlns:a16="http://schemas.microsoft.com/office/drawing/2014/main" id="{8D1FE667-91A6-47EB-B5D6-7CE916187ABC}"/>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F5D86B7-44EF-4363-A371-8CB2C04834AA}"/>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Default voice mode</a:t>
            </a:r>
          </a:p>
        </p:txBody>
      </p:sp>
      <p:sp>
        <p:nvSpPr>
          <p:cNvPr id="4" name="">
            <a:extLst xmlns:a="http://schemas.openxmlformats.org/drawingml/2006/main">
              <a:ext uri="{FF2B5EF4-FFF2-40B4-BE49-F238E27FC236}">
                <a16:creationId xmlns:a16="http://schemas.microsoft.com/office/drawing/2014/main" id="{B820CA58-9D96-4BED-97DB-0673A7C02648}"/>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Half-duplex operation preserves the established listening and playback behavior.</a:t>
            </a:r>
          </a:p>
        </p:txBody>
      </p:sp>
      <p:sp>
        <p:nvSpPr>
          <p:cNvPr id="5" name="">
            <a:extLst xmlns:a="http://schemas.openxmlformats.org/drawingml/2006/main">
              <a:ext uri="{FF2B5EF4-FFF2-40B4-BE49-F238E27FC236}">
                <a16:creationId xmlns:a16="http://schemas.microsoft.com/office/drawing/2014/main" id="{35256EE9-F324-40FC-BA7A-C2AA83156440}"/>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Optional features</a:t>
            </a:r>
          </a:p>
        </p:txBody>
      </p:sp>
      <p:sp>
        <p:nvSpPr>
          <p:cNvPr id="6" name="">
            <a:extLst xmlns:a="http://schemas.openxmlformats.org/drawingml/2006/main">
              <a:ext uri="{FF2B5EF4-FFF2-40B4-BE49-F238E27FC236}">
                <a16:creationId xmlns:a16="http://schemas.microsoft.com/office/drawing/2014/main" id="{154ACFE6-48D8-4F5C-B6EE-75DBAF0F1BF5}"/>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Passive extraction and experimental console or spoken interruption use configuration flags.</a:t>
            </a:r>
          </a:p>
        </p:txBody>
      </p:sp>
      <p:sp>
        <p:nvSpPr>
          <p:cNvPr id="7" name="">
            <a:extLst xmlns:a="http://schemas.openxmlformats.org/drawingml/2006/main">
              <a:ext uri="{FF2B5EF4-FFF2-40B4-BE49-F238E27FC236}">
                <a16:creationId xmlns:a16="http://schemas.microsoft.com/office/drawing/2014/main" id="{CF2DB2AD-5FFB-4E21-B72D-24BA192C649C}"/>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Live information</a:t>
            </a:r>
          </a:p>
        </p:txBody>
      </p:sp>
      <p:sp>
        <p:nvSpPr>
          <p:cNvPr id="8" name="">
            <a:extLst xmlns:a="http://schemas.openxmlformats.org/drawingml/2006/main">
              <a:ext uri="{FF2B5EF4-FFF2-40B4-BE49-F238E27FC236}">
                <a16:creationId xmlns:a16="http://schemas.microsoft.com/office/drawing/2014/main" id="{797C2B68-AE78-4316-A1B4-9CBFC062C481}"/>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Open-Meteo weather and NewsAPI headlines require explicit online enablement.</a:t>
            </a:r>
          </a:p>
        </p:txBody>
      </p:sp>
      <p:sp>
        <p:nvSpPr>
          <p:cNvPr id="9" name="">
            <a:extLst xmlns:a="http://schemas.openxmlformats.org/drawingml/2006/main">
              <a:ext uri="{FF2B5EF4-FFF2-40B4-BE49-F238E27FC236}">
                <a16:creationId xmlns:a16="http://schemas.microsoft.com/office/drawing/2014/main" id="{8C88636C-A010-4175-B4EA-C16FB367E698}"/>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Pi preparation</a:t>
            </a:r>
          </a:p>
        </p:txBody>
      </p:sp>
      <p:sp>
        <p:nvSpPr>
          <p:cNvPr id="10" name="">
            <a:extLst xmlns:a="http://schemas.openxmlformats.org/drawingml/2006/main">
              <a:ext uri="{FF2B5EF4-FFF2-40B4-BE49-F238E27FC236}">
                <a16:creationId xmlns:a16="http://schemas.microsoft.com/office/drawing/2014/main" id="{8C6A40C1-EBD3-4980-8DDE-BB4E1C45CF4C}"/>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ARM64 setup, model provisioning, GPIO controls and systemd startup are implemented.</a:t>
            </a:r>
          </a:p>
        </p:txBody>
      </p:sp>
    </p:spTree>
    <p:extLst>
      <p:ext uri="{BB962C8B-B14F-4D97-AF65-F5344CB8AC3E}">
        <p14:creationId xmlns:p14="http://schemas.microsoft.com/office/powerpoint/2010/main" val="695270208"/>
      </p:ext>
    </p:extLst>
  </p:cSld>
</p:sld>
</file>

<file path=ppt/slides/slide6.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FAB623-128B-478F-9D68-F650B6DCAFFA}"/>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Limitations addressed in software</a:t>
            </a:r>
          </a:p>
        </p:txBody>
      </p:sp>
      <p:sp>
        <p:nvSpPr>
          <p:cNvPr id="2" name="">
            <a:extLst xmlns:a="http://schemas.openxmlformats.org/drawingml/2006/main">
              <a:ext uri="{FF2B5EF4-FFF2-40B4-BE49-F238E27FC236}">
                <a16:creationId xmlns:a16="http://schemas.microsoft.com/office/drawing/2014/main" id="{2472C352-80FE-46F4-8EBC-14AEB58B81E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4D053F5-96F3-4EB4-BA5D-6CC77CC554B4}"/>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Unsupported memories</a:t>
            </a:r>
          </a:p>
        </p:txBody>
      </p:sp>
      <p:sp>
        <p:nvSpPr>
          <p:cNvPr id="4" name="">
            <a:extLst xmlns:a="http://schemas.openxmlformats.org/drawingml/2006/main">
              <a:ext uri="{FF2B5EF4-FFF2-40B4-BE49-F238E27FC236}">
                <a16:creationId xmlns:a16="http://schemas.microsoft.com/office/drawing/2014/main" id="{CCDDD67B-1021-4F5C-A077-AB87E4DDD516}"/>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Grounding rejects negation, questions, hypotheticals and unsupported task or event claims.</a:t>
            </a:r>
          </a:p>
        </p:txBody>
      </p:sp>
      <p:sp>
        <p:nvSpPr>
          <p:cNvPr id="5" name="">
            <a:extLst xmlns:a="http://schemas.openxmlformats.org/drawingml/2006/main">
              <a:ext uri="{FF2B5EF4-FFF2-40B4-BE49-F238E27FC236}">
                <a16:creationId xmlns:a16="http://schemas.microsoft.com/office/drawing/2014/main" id="{32CC8039-2C39-49E5-8892-9DA23EF46312}"/>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Unsafe network access</a:t>
            </a:r>
          </a:p>
        </p:txBody>
      </p:sp>
      <p:sp>
        <p:nvSpPr>
          <p:cNvPr id="6" name="">
            <a:extLst xmlns:a="http://schemas.openxmlformats.org/drawingml/2006/main">
              <a:ext uri="{FF2B5EF4-FFF2-40B4-BE49-F238E27FC236}">
                <a16:creationId xmlns:a16="http://schemas.microsoft.com/office/drawing/2014/main" id="{65063F6E-9FFA-411F-8C60-8E318C8E1D1B}"/>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Ollama accepts loopback endpoints. External tools stay disabled by default.</a:t>
            </a:r>
          </a:p>
        </p:txBody>
      </p:sp>
      <p:sp>
        <p:nvSpPr>
          <p:cNvPr id="7" name="">
            <a:extLst xmlns:a="http://schemas.openxmlformats.org/drawingml/2006/main">
              <a:ext uri="{FF2B5EF4-FFF2-40B4-BE49-F238E27FC236}">
                <a16:creationId xmlns:a16="http://schemas.microsoft.com/office/drawing/2014/main" id="{205C7A3A-7981-40C4-B5AD-947849150878}"/>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Privacy exposure</a:t>
            </a:r>
          </a:p>
        </p:txBody>
      </p:sp>
      <p:sp>
        <p:nvSpPr>
          <p:cNvPr id="8" name="">
            <a:extLst xmlns:a="http://schemas.openxmlformats.org/drawingml/2006/main">
              <a:ext uri="{FF2B5EF4-FFF2-40B4-BE49-F238E27FC236}">
                <a16:creationId xmlns:a16="http://schemas.microsoft.com/office/drawing/2014/main" id="{7D836325-B6C3-47AB-8281-A8C7F4D54EF6}"/>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Credential checks, sanitized diagnostics, temporary audio cleanup and optional retention.</a:t>
            </a:r>
          </a:p>
        </p:txBody>
      </p:sp>
      <p:sp>
        <p:nvSpPr>
          <p:cNvPr id="9" name="">
            <a:extLst xmlns:a="http://schemas.openxmlformats.org/drawingml/2006/main">
              <a:ext uri="{FF2B5EF4-FFF2-40B4-BE49-F238E27FC236}">
                <a16:creationId xmlns:a16="http://schemas.microsoft.com/office/drawing/2014/main" id="{434A6576-B3C2-4C2A-93CA-349E54CBC7C2}"/>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Lifecycle failures</a:t>
            </a:r>
          </a:p>
        </p:txBody>
      </p:sp>
      <p:sp>
        <p:nvSpPr>
          <p:cNvPr id="10" name="">
            <a:extLst xmlns:a="http://schemas.openxmlformats.org/drawingml/2006/main">
              <a:ext uri="{FF2B5EF4-FFF2-40B4-BE49-F238E27FC236}">
                <a16:creationId xmlns:a16="http://schemas.microsoft.com/office/drawing/2014/main" id="{B233F752-0186-4E54-9C6A-111E662431F7}"/>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Mute boundaries, bounded queues, accepted-work draining and confirmed record changes.</a:t>
            </a:r>
          </a:p>
        </p:txBody>
      </p:sp>
    </p:spTree>
    <p:extLst>
      <p:ext uri="{BB962C8B-B14F-4D97-AF65-F5344CB8AC3E}">
        <p14:creationId xmlns:p14="http://schemas.microsoft.com/office/powerpoint/2010/main" val="1944751099"/>
      </p:ext>
    </p:extLst>
  </p:cSld>
</p:sld>
</file>

<file path=ppt/slides/slide7.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A8F22B-7350-46EC-AC5E-E879C729410B}"/>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limitations</a:t>
            </a:r>
          </a:p>
        </p:txBody>
      </p:sp>
      <p:sp>
        <p:nvSpPr>
          <p:cNvPr id="2" name="">
            <a:extLst xmlns:a="http://schemas.openxmlformats.org/drawingml/2006/main">
              <a:ext uri="{FF2B5EF4-FFF2-40B4-BE49-F238E27FC236}">
                <a16:creationId xmlns:a16="http://schemas.microsoft.com/office/drawing/2014/main" id="{BE1CE862-F3ED-41C6-8FAF-82A823161504}"/>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FC14C2A-8DE5-4257-A327-0C894BD59451}"/>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Intermittent responses</a:t>
            </a:r>
          </a:p>
        </p:txBody>
      </p:sp>
      <p:sp>
        <p:nvSpPr>
          <p:cNvPr id="4" name="">
            <a:extLst xmlns:a="http://schemas.openxmlformats.org/drawingml/2006/main">
              <a:ext uri="{FF2B5EF4-FFF2-40B4-BE49-F238E27FC236}">
                <a16:creationId xmlns:a16="http://schemas.microsoft.com/office/drawing/2014/main" id="{F32B093E-0768-4B8A-B2B0-1FEDBD076E89}"/>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Some live voice attempts miss an answer. Commands need clear speech and completion time.</a:t>
            </a:r>
          </a:p>
        </p:txBody>
      </p:sp>
      <p:sp>
        <p:nvSpPr>
          <p:cNvPr id="5" name="">
            <a:extLst xmlns:a="http://schemas.openxmlformats.org/drawingml/2006/main">
              <a:ext uri="{FF2B5EF4-FFF2-40B4-BE49-F238E27FC236}">
                <a16:creationId xmlns:a16="http://schemas.microsoft.com/office/drawing/2014/main" id="{FFC1BD64-F20D-4B58-B5F5-3D912DE7ED08}"/>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Passive recall</a:t>
            </a:r>
          </a:p>
        </p:txBody>
      </p:sp>
      <p:sp>
        <p:nvSpPr>
          <p:cNvPr id="6" name="">
            <a:extLst xmlns:a="http://schemas.openxmlformats.org/drawingml/2006/main">
              <a:ext uri="{FF2B5EF4-FFF2-40B4-BE49-F238E27FC236}">
                <a16:creationId xmlns:a16="http://schemas.microsoft.com/office/drawing/2014/main" id="{878B0410-8B87-451A-BAE5-5A5397B84308}"/>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The recent passive attempt saved no memories. Demo reliability still needs validation.</a:t>
            </a:r>
          </a:p>
        </p:txBody>
      </p:sp>
      <p:sp>
        <p:nvSpPr>
          <p:cNvPr id="7" name="">
            <a:extLst xmlns:a="http://schemas.openxmlformats.org/drawingml/2006/main">
              <a:ext uri="{FF2B5EF4-FFF2-40B4-BE49-F238E27FC236}">
                <a16:creationId xmlns:a16="http://schemas.microsoft.com/office/drawing/2014/main" id="{4671FB79-0C6B-4676-9FB6-74FBA5BD499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Raspberry Pi audio</a:t>
            </a:r>
          </a:p>
        </p:txBody>
      </p:sp>
      <p:sp>
        <p:nvSpPr>
          <p:cNvPr id="8" name="">
            <a:extLst xmlns:a="http://schemas.openxmlformats.org/drawingml/2006/main">
              <a:ext uri="{FF2B5EF4-FFF2-40B4-BE49-F238E27FC236}">
                <a16:creationId xmlns:a16="http://schemas.microsoft.com/office/drawing/2014/main" id="{418F17D2-DCE2-4D17-952D-51645F55CE4F}"/>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Speaker-only playback works. Microphone recordings still produce static.</a:t>
            </a:r>
          </a:p>
        </p:txBody>
      </p:sp>
      <p:sp>
        <p:nvSpPr>
          <p:cNvPr id="9" name="">
            <a:extLst xmlns:a="http://schemas.openxmlformats.org/drawingml/2006/main">
              <a:ext uri="{FF2B5EF4-FFF2-40B4-BE49-F238E27FC236}">
                <a16:creationId xmlns:a16="http://schemas.microsoft.com/office/drawing/2014/main" id="{7C682F4D-FE2E-47E5-9805-3789F54D3F16}"/>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Pending validation</a:t>
            </a:r>
          </a:p>
        </p:txBody>
      </p:sp>
      <p:sp>
        <p:nvSpPr>
          <p:cNvPr id="10" name="">
            <a:extLst xmlns:a="http://schemas.openxmlformats.org/drawingml/2006/main">
              <a:ext uri="{FF2B5EF4-FFF2-40B4-BE49-F238E27FC236}">
                <a16:creationId xmlns:a16="http://schemas.microsoft.com/office/drawing/2014/main" id="{2B4409CA-FA84-4AC2-8B1A-BF9615B9B425}"/>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Physical GPIO and systemd tests, extended reliability runs, and live provider tests remain.</a:t>
            </a:r>
          </a:p>
        </p:txBody>
      </p:sp>
    </p:spTree>
    <p:extLst>
      <p:ext uri="{BB962C8B-B14F-4D97-AF65-F5344CB8AC3E}">
        <p14:creationId xmlns:p14="http://schemas.microsoft.com/office/powerpoint/2010/main" val="1711149437"/>
      </p:ext>
    </p:extLst>
  </p:cSld>
</p:sld>
</file>

<file path=ppt/slides/slide8.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8B33D7-59BA-498A-B0DA-6BECBC5126B0}"/>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Our demonstration approach</a:t>
            </a:r>
          </a:p>
        </p:txBody>
      </p:sp>
      <p:sp>
        <p:nvSpPr>
          <p:cNvPr id="2" name="">
            <a:extLst xmlns:a="http://schemas.openxmlformats.org/drawingml/2006/main">
              <a:ext uri="{FF2B5EF4-FFF2-40B4-BE49-F238E27FC236}">
                <a16:creationId xmlns:a16="http://schemas.microsoft.com/office/drawing/2014/main" id="{6A8C5CB8-55A5-450A-8108-41CC887BC0EB}"/>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9F62C73-33F0-4024-A524-D73A37D640C4}"/>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Working platform</a:t>
            </a:r>
          </a:p>
        </p:txBody>
      </p:sp>
      <p:sp>
        <p:nvSpPr>
          <p:cNvPr id="4" name="">
            <a:extLst xmlns:a="http://schemas.openxmlformats.org/drawingml/2006/main">
              <a:ext uri="{FF2B5EF4-FFF2-40B4-BE49-F238E27FC236}">
                <a16:creationId xmlns:a16="http://schemas.microsoft.com/office/drawing/2014/main" id="{B53CF634-88DF-4608-AEC9-218885E4CDD3}"/>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Run Nova on the tested Windows setup while showing the Raspberry Pi prototype separately.</a:t>
            </a:r>
          </a:p>
        </p:txBody>
      </p:sp>
      <p:sp>
        <p:nvSpPr>
          <p:cNvPr id="5" name="">
            <a:extLst xmlns:a="http://schemas.openxmlformats.org/drawingml/2006/main">
              <a:ext uri="{FF2B5EF4-FFF2-40B4-BE49-F238E27FC236}">
                <a16:creationId xmlns:a16="http://schemas.microsoft.com/office/drawing/2014/main" id="{9D10B658-B401-4329-A0AE-52F2E4C7CA83}"/>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Observed success</a:t>
            </a:r>
          </a:p>
        </p:txBody>
      </p:sp>
      <p:sp>
        <p:nvSpPr>
          <p:cNvPr id="6" name="">
            <a:extLst xmlns:a="http://schemas.openxmlformats.org/drawingml/2006/main">
              <a:ext uri="{FF2B5EF4-FFF2-40B4-BE49-F238E27FC236}">
                <a16:creationId xmlns:a16="http://schemas.microsoft.com/office/drawing/2014/main" id="{BDF7BAB7-D367-4F96-9EC7-F1199EEFAC1F}"/>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Hello and favorite-food saving and recall worked in the latest live test.</a:t>
            </a:r>
          </a:p>
        </p:txBody>
      </p:sp>
      <p:sp>
        <p:nvSpPr>
          <p:cNvPr id="7" name="">
            <a:extLst xmlns:a="http://schemas.openxmlformats.org/drawingml/2006/main">
              <a:ext uri="{FF2B5EF4-FFF2-40B4-BE49-F238E27FC236}">
                <a16:creationId xmlns:a16="http://schemas.microsoft.com/office/drawing/2014/main" id="{5A14885F-16F2-473C-B3A7-9526937A1E3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Demo sequence</a:t>
            </a:r>
          </a:p>
        </p:txBody>
      </p:sp>
      <p:sp>
        <p:nvSpPr>
          <p:cNvPr id="8" name="">
            <a:extLst xmlns:a="http://schemas.openxmlformats.org/drawingml/2006/main">
              <a:ext uri="{FF2B5EF4-FFF2-40B4-BE49-F238E27FC236}">
                <a16:creationId xmlns:a16="http://schemas.microsoft.com/office/drawing/2014/main" id="{DBF9FB11-FE76-4E19-8F67-1436578D86B5}"/>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Greeting, explicit memory, note, task, reminder, mute and recall after restart.</a:t>
            </a:r>
          </a:p>
        </p:txBody>
      </p:sp>
      <p:sp>
        <p:nvSpPr>
          <p:cNvPr id="9" name="">
            <a:extLst xmlns:a="http://schemas.openxmlformats.org/drawingml/2006/main">
              <a:ext uri="{FF2B5EF4-FFF2-40B4-BE49-F238E27FC236}">
                <a16:creationId xmlns:a16="http://schemas.microsoft.com/office/drawing/2014/main" id="{53916ABD-BA36-4CB4-B5C9-F6D875AAAEAA}"/>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Fallback</a:t>
            </a:r>
          </a:p>
        </p:txBody>
      </p:sp>
      <p:sp>
        <p:nvSpPr>
          <p:cNvPr id="10" name="">
            <a:extLst xmlns:a="http://schemas.openxmlformats.org/drawingml/2006/main">
              <a:ext uri="{FF2B5EF4-FFF2-40B4-BE49-F238E27FC236}">
                <a16:creationId xmlns:a16="http://schemas.microsoft.com/office/drawing/2014/main" id="{B375A7C5-1684-45F3-A93E-C17884F6B9AB}"/>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Keep a local recording of a successful run. Avoid new installations during evaluation.</a:t>
            </a:r>
          </a:p>
        </p:txBody>
      </p:sp>
    </p:spTree>
    <p:extLst>
      <p:ext uri="{BB962C8B-B14F-4D97-AF65-F5344CB8AC3E}">
        <p14:creationId xmlns:p14="http://schemas.microsoft.com/office/powerpoint/2010/main" val="1362525069"/>
      </p:ext>
    </p:extLst>
  </p:cSld>
</p:sld>
</file>

<file path=ppt/slides/slide9.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17EAAA-A4C0-4488-87A3-E0165B9F59A8}"/>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Live evaluation commands</a:t>
            </a:r>
          </a:p>
        </p:txBody>
      </p:sp>
      <p:sp>
        <p:nvSpPr>
          <p:cNvPr id="2" name="">
            <a:extLst xmlns:a="http://schemas.openxmlformats.org/drawingml/2006/main">
              <a:ext uri="{FF2B5EF4-FFF2-40B4-BE49-F238E27FC236}">
                <a16:creationId xmlns:a16="http://schemas.microsoft.com/office/drawing/2014/main" id="{828C2022-3096-4CF6-8838-8D8F6AC46F11}"/>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2D9912C-7A07-407A-BA46-FE22E610E6D4}"/>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1  Save and recall</a:t>
            </a:r>
          </a:p>
        </p:txBody>
      </p:sp>
      <p:sp>
        <p:nvSpPr>
          <p:cNvPr id="4" name="">
            <a:extLst xmlns:a="http://schemas.openxmlformats.org/drawingml/2006/main">
              <a:ext uri="{FF2B5EF4-FFF2-40B4-BE49-F238E27FC236}">
                <a16:creationId xmlns:a16="http://schemas.microsoft.com/office/drawing/2014/main" id="{258733EC-AEFF-46A8-931A-28A8A529CEFC}"/>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my favorite food is biryani.</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what is my favorite food?</a:t>
            </a:r>
          </a:p>
        </p:txBody>
      </p:sp>
      <p:sp>
        <p:nvSpPr>
          <p:cNvPr id="5" name="">
            <a:extLst xmlns:a="http://schemas.openxmlformats.org/drawingml/2006/main">
              <a:ext uri="{FF2B5EF4-FFF2-40B4-BE49-F238E27FC236}">
                <a16:creationId xmlns:a16="http://schemas.microsoft.com/office/drawing/2014/main" id="{A52FE776-21EE-4C99-8537-5F5C21554035}"/>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2  Notes and tasks</a:t>
            </a:r>
          </a:p>
        </p:txBody>
      </p:sp>
      <p:sp>
        <p:nvSpPr>
          <p:cNvPr id="6" name="">
            <a:extLst xmlns:a="http://schemas.openxmlformats.org/drawingml/2006/main">
              <a:ext uri="{FF2B5EF4-FFF2-40B4-BE49-F238E27FC236}">
                <a16:creationId xmlns:a16="http://schemas.microsoft.com/office/drawing/2014/main" id="{3ECB371C-8CA1-450E-9D24-B127D8FE1345}"/>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remember that the demo is in room seven.</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add a task to finish my project.</a:t>
            </a:r>
          </a:p>
        </p:txBody>
      </p:sp>
      <p:sp>
        <p:nvSpPr>
          <p:cNvPr id="7" name="">
            <a:extLst xmlns:a="http://schemas.openxmlformats.org/drawingml/2006/main">
              <a:ext uri="{FF2B5EF4-FFF2-40B4-BE49-F238E27FC236}">
                <a16:creationId xmlns:a16="http://schemas.microsoft.com/office/drawing/2014/main" id="{9D09B21A-29FC-4FDC-850B-89FF2D8CF450}"/>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3  Reminder</a:t>
            </a:r>
          </a:p>
        </p:txBody>
      </p:sp>
      <p:sp>
        <p:nvSpPr>
          <p:cNvPr id="8" name="">
            <a:extLst xmlns:a="http://schemas.openxmlformats.org/drawingml/2006/main">
              <a:ext uri="{FF2B5EF4-FFF2-40B4-BE49-F238E27FC236}">
                <a16:creationId xmlns:a16="http://schemas.microsoft.com/office/drawing/2014/main" id="{AE522044-C1B4-488F-A852-DCE1AC9F3E48}"/>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remind me to drink water in 1 minute.</a:t>
            </a:r>
          </a:p>
        </p:txBody>
      </p:sp>
      <p:sp>
        <p:nvSpPr>
          <p:cNvPr id="9" name="">
            <a:extLst xmlns:a="http://schemas.openxmlformats.org/drawingml/2006/main">
              <a:ext uri="{FF2B5EF4-FFF2-40B4-BE49-F238E27FC236}">
                <a16:creationId xmlns:a16="http://schemas.microsoft.com/office/drawing/2014/main" id="{81BB1C96-F965-4A51-BFA5-068EAC3466A8}"/>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4  Mute and restart</a:t>
            </a:r>
          </a:p>
        </p:txBody>
      </p:sp>
      <p:sp>
        <p:nvSpPr>
          <p:cNvPr id="10" name="">
            <a:extLst xmlns:a="http://schemas.openxmlformats.org/drawingml/2006/main">
              <a:ext uri="{FF2B5EF4-FFF2-40B4-BE49-F238E27FC236}">
                <a16:creationId xmlns:a16="http://schemas.microsoft.com/office/drawing/2014/main" id="{6F90CAEC-DA7A-460C-ACCE-D4DE26E1BA68}"/>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Press M to test mute. Unmute, restart, then recall the saved favorite food.</a:t>
            </a:r>
          </a:p>
        </p:txBody>
      </p:sp>
    </p:spTree>
    <p:extLst>
      <p:ext uri="{BB962C8B-B14F-4D97-AF65-F5344CB8AC3E}">
        <p14:creationId xmlns:p14="http://schemas.microsoft.com/office/powerpoint/2010/main" val="360675651"/>
      </p:ext>
    </p:extLst>
  </p:cSld>
</p:sld>
</file>

<file path=ppt/slides/slide10.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ECC5E3-2D66-408B-9EC9-8E20198ADCCA}"/>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F79DC08A-6A90-4DDA-8065-BC32A02D45B2}"/>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1251E78-ECAC-43AA-9B13-86FE2C572419}"/>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Students</a:t>
            </a:r>
          </a:p>
        </p:txBody>
      </p:sp>
      <p:sp>
        <p:nvSpPr>
          <p:cNvPr id="4" name="">
            <a:extLst xmlns:a="http://schemas.openxmlformats.org/drawingml/2006/main">
              <a:ext uri="{FF2B5EF4-FFF2-40B4-BE49-F238E27FC236}">
                <a16:creationId xmlns:a16="http://schemas.microsoft.com/office/drawing/2014/main" id="{ADD481EA-33A6-43FF-9BC5-A191DFF76447}"/>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Capture project notes and create reminders for study sessions or deadlines.</a:t>
            </a:r>
          </a:p>
        </p:txBody>
      </p:sp>
      <p:sp>
        <p:nvSpPr>
          <p:cNvPr id="5" name="">
            <a:extLst xmlns:a="http://schemas.openxmlformats.org/drawingml/2006/main">
              <a:ext uri="{FF2B5EF4-FFF2-40B4-BE49-F238E27FC236}">
                <a16:creationId xmlns:a16="http://schemas.microsoft.com/office/drawing/2014/main" id="{4F16E5B6-A2C3-4ABB-8158-08115A475F91}"/>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Developers</a:t>
            </a:r>
          </a:p>
        </p:txBody>
      </p:sp>
      <p:sp>
        <p:nvSpPr>
          <p:cNvPr id="6" name="">
            <a:extLst xmlns:a="http://schemas.openxmlformats.org/drawingml/2006/main">
              <a:ext uri="{FF2B5EF4-FFF2-40B4-BE49-F238E27FC236}">
                <a16:creationId xmlns:a16="http://schemas.microsoft.com/office/drawing/2014/main" id="{CEBFD357-CB35-4E09-813B-C2ED20C38BA1}"/>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Manage project tasks and recall preferences without switching to a keyboard.</a:t>
            </a:r>
          </a:p>
        </p:txBody>
      </p:sp>
      <p:sp>
        <p:nvSpPr>
          <p:cNvPr id="7" name="">
            <a:extLst xmlns:a="http://schemas.openxmlformats.org/drawingml/2006/main">
              <a:ext uri="{FF2B5EF4-FFF2-40B4-BE49-F238E27FC236}">
                <a16:creationId xmlns:a16="http://schemas.microsoft.com/office/drawing/2014/main" id="{9C52751A-EF8E-462B-96C1-1E316A05BF05}"/>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Everyday routines</a:t>
            </a:r>
          </a:p>
        </p:txBody>
      </p:sp>
      <p:sp>
        <p:nvSpPr>
          <p:cNvPr id="8" name="">
            <a:extLst xmlns:a="http://schemas.openxmlformats.org/drawingml/2006/main">
              <a:ext uri="{FF2B5EF4-FFF2-40B4-BE49-F238E27FC236}">
                <a16:creationId xmlns:a16="http://schemas.microsoft.com/office/drawing/2014/main" id="{2E9F92BC-E7A0-4FB1-80D9-BEF995B05407}"/>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Save explicitly requested facts and receive reminders for ordinary activities.</a:t>
            </a:r>
          </a:p>
        </p:txBody>
      </p:sp>
      <p:sp>
        <p:nvSpPr>
          <p:cNvPr id="9" name="">
            <a:extLst xmlns:a="http://schemas.openxmlformats.org/drawingml/2006/main">
              <a:ext uri="{FF2B5EF4-FFF2-40B4-BE49-F238E27FC236}">
                <a16:creationId xmlns:a16="http://schemas.microsoft.com/office/drawing/2014/main" id="{93400C8A-439F-4C06-B8B3-D854EF7FE8B2}"/>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Limited connectivity</a:t>
            </a:r>
          </a:p>
        </p:txBody>
      </p:sp>
      <p:sp>
        <p:nvSpPr>
          <p:cNvPr id="10" name="">
            <a:extLst xmlns:a="http://schemas.openxmlformats.org/drawingml/2006/main">
              <a:ext uri="{FF2B5EF4-FFF2-40B4-BE49-F238E27FC236}">
                <a16:creationId xmlns:a16="http://schemas.microsoft.com/office/drawing/2014/main" id="{24AE37F9-5B8F-48D6-BB97-A7A07DA322A2}"/>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Use local voice and memory after provisioning without a cloud inference service.</a:t>
            </a:r>
          </a:p>
        </p:txBody>
      </p:sp>
    </p:spTree>
    <p:extLst>
      <p:ext uri="{BB962C8B-B14F-4D97-AF65-F5344CB8AC3E}">
        <p14:creationId xmlns:p14="http://schemas.microsoft.com/office/powerpoint/2010/main" val="1420359457"/>
      </p:ext>
    </p:extLst>
  </p:cSld>
</p:sld>
</file>

<file path=ppt/slides/slide1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01F79F-FB1A-4F7D-AD2B-87EB0B3D4B7E}"/>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Privacy and deployment boundaries</a:t>
            </a:r>
          </a:p>
        </p:txBody>
      </p:sp>
      <p:sp>
        <p:nvSpPr>
          <p:cNvPr id="2" name="">
            <a:extLst xmlns:a="http://schemas.openxmlformats.org/drawingml/2006/main">
              <a:ext uri="{FF2B5EF4-FFF2-40B4-BE49-F238E27FC236}">
                <a16:creationId xmlns:a16="http://schemas.microsoft.com/office/drawing/2014/main" id="{C6D1DB8C-DEE3-4CA7-922D-807BDC50560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8BEA96B-DD7B-4039-A902-52A623124D22}"/>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Explicit authority</a:t>
            </a:r>
          </a:p>
        </p:txBody>
      </p:sp>
      <p:sp>
        <p:nvSpPr>
          <p:cNvPr id="4" name="">
            <a:extLst xmlns:a="http://schemas.openxmlformats.org/drawingml/2006/main">
              <a:ext uri="{FF2B5EF4-FFF2-40B4-BE49-F238E27FC236}">
                <a16:creationId xmlns:a16="http://schemas.microsoft.com/office/drawing/2014/main" id="{ABED3080-0263-46A5-BC5C-09A8927AE50D}"/>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take priority. Passive observations preserve speaker attribution.</a:t>
            </a:r>
          </a:p>
        </p:txBody>
      </p:sp>
      <p:sp>
        <p:nvSpPr>
          <p:cNvPr id="5" name="">
            <a:extLst xmlns:a="http://schemas.openxmlformats.org/drawingml/2006/main">
              <a:ext uri="{FF2B5EF4-FFF2-40B4-BE49-F238E27FC236}">
                <a16:creationId xmlns:a16="http://schemas.microsoft.com/office/drawing/2014/main" id="{200DD0B4-FFCC-45C4-8E0E-F3B49061557E}"/>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Safe changes</a:t>
            </a:r>
          </a:p>
        </p:txBody>
      </p:sp>
      <p:sp>
        <p:nvSpPr>
          <p:cNvPr id="6" name="">
            <a:extLst xmlns:a="http://schemas.openxmlformats.org/drawingml/2006/main">
              <a:ext uri="{FF2B5EF4-FFF2-40B4-BE49-F238E27FC236}">
                <a16:creationId xmlns:a16="http://schemas.microsoft.com/office/drawing/2014/main" id="{6CE5C121-C67C-4D39-92F1-1533D885AA1E}"/>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Corrections and destructive actions require confirmation and scoped record selection.</a:t>
            </a:r>
          </a:p>
        </p:txBody>
      </p:sp>
      <p:sp>
        <p:nvSpPr>
          <p:cNvPr id="7" name="">
            <a:extLst xmlns:a="http://schemas.openxmlformats.org/drawingml/2006/main">
              <a:ext uri="{FF2B5EF4-FFF2-40B4-BE49-F238E27FC236}">
                <a16:creationId xmlns:a16="http://schemas.microsoft.com/office/drawing/2014/main" id="{E216259E-CBEF-4A96-AE5D-0A23EEC27092}"/>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Storage limits</a:t>
            </a:r>
          </a:p>
        </p:txBody>
      </p:sp>
      <p:sp>
        <p:nvSpPr>
          <p:cNvPr id="8" name="">
            <a:extLst xmlns:a="http://schemas.openxmlformats.org/drawingml/2006/main">
              <a:ext uri="{FF2B5EF4-FFF2-40B4-BE49-F238E27FC236}">
                <a16:creationId xmlns:a16="http://schemas.microsoft.com/office/drawing/2014/main" id="{F840EF61-444D-471D-B421-FAB343C77E4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Data stays local, but local storage alone does not guarantee encryption or secure erasure.</a:t>
            </a:r>
          </a:p>
        </p:txBody>
      </p:sp>
      <p:sp>
        <p:nvSpPr>
          <p:cNvPr id="9" name="">
            <a:extLst xmlns:a="http://schemas.openxmlformats.org/drawingml/2006/main">
              <a:ext uri="{FF2B5EF4-FFF2-40B4-BE49-F238E27FC236}">
                <a16:creationId xmlns:a16="http://schemas.microsoft.com/office/drawing/2014/main" id="{9200A9C6-8534-4E8C-BE86-2CB1842DB16E}"/>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Physical prototype</a:t>
            </a:r>
          </a:p>
        </p:txBody>
      </p:sp>
      <p:sp>
        <p:nvSpPr>
          <p:cNvPr id="10" name="">
            <a:extLst xmlns:a="http://schemas.openxmlformats.org/drawingml/2006/main">
              <a:ext uri="{FF2B5EF4-FFF2-40B4-BE49-F238E27FC236}">
                <a16:creationId xmlns:a16="http://schemas.microsoft.com/office/drawing/2014/main" id="{2759D86E-2952-4326-AE3C-0BA35C8BECA3}"/>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GPIO mute controls software capture. Pi audio and hardware validation remain pending.</a:t>
            </a:r>
          </a:p>
        </p:txBody>
      </p:sp>
    </p:spTree>
    <p:extLst>
      <p:ext uri="{BB962C8B-B14F-4D97-AF65-F5344CB8AC3E}">
        <p14:creationId xmlns:p14="http://schemas.microsoft.com/office/powerpoint/2010/main" val="1889708386"/>
      </p:ext>
    </p:extLst>
  </p:cSld>
</p:sld>
</file>

<file path=ppt/slides/slide1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B4EDC3-8A29-481F-8C75-54DD00A5499D}"/>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8E21F642-EDBB-4ECE-943F-D03AAC4808CD}"/>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B1D4CA7-557F-4BE1-BEEB-7D54B8932AA1}"/>
              </a:ext>
            </a:extLst>
          </p:cNvPr>
          <p:cNvSpPr>
            <a:spLocks xmlns:a="http://schemas.openxmlformats.org/drawingml/2006/main" noGrp="1"/>
          </p:cNvSpPr>
          <p:nvPr/>
        </p:nvSpPr>
        <p:spPr>
          <a:xfrm xmlns:a="http://schemas.openxmlformats.org/drawingml/2006/main">
            <a:off x="704850" y="2428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75E3C0"/>
                </a:solidFill>
                <a:latin typeface="Arial"/>
                <a:ea typeface="Arial"/>
                <a:cs typeface="Arial"/>
              </a:defRPr>
            </a:defPPr>
          </a:lstStyle>
          <a:p xmlns:a="http://schemas.openxmlformats.org/drawingml/2006/main">
            <a:pPr>
              <a:defRPr sz="3300" b="0">
                <a:solidFill>
                  <a:srgbClr val="75E3C0"/>
                </a:solidFill>
                <a:latin typeface="Arial"/>
                <a:ea typeface="Arial"/>
                <a:cs typeface="Arial"/>
              </a:defRPr>
            </a:pPr>
            <a:r>
              <a:rPr sz="3300" b="0">
                <a:solidFill>
                  <a:srgbClr val="75E3C0"/>
                </a:solidFill>
                <a:latin typeface="Arial"/>
                <a:ea typeface="Arial"/>
                <a:cs typeface="Arial"/>
              </a:rPr>
              <a:t>Questions and live demonstration</a:t>
            </a:r>
          </a:p>
        </p:txBody>
      </p:sp>
      <p:sp>
        <p:nvSpPr>
          <p:cNvPr id="4" name="">
            <a:extLst xmlns:a="http://schemas.openxmlformats.org/drawingml/2006/main">
              <a:ext uri="{FF2B5EF4-FFF2-40B4-BE49-F238E27FC236}">
                <a16:creationId xmlns:a16="http://schemas.microsoft.com/office/drawing/2014/main" id="{25218ABD-A395-4D68-BB63-8567F9B8FA36}"/>
              </a:ext>
            </a:extLst>
          </p:cNvPr>
          <p:cNvSpPr>
            <a:spLocks xmlns:a="http://schemas.openxmlformats.org/drawingml/2006/main" noGrp="1"/>
          </p:cNvSpPr>
          <p:nvPr/>
        </p:nvSpPr>
        <p:spPr>
          <a:xfrm xmlns:a="http://schemas.openxmlformats.org/drawingml/2006/main">
            <a:off x="704850" y="3857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E2E8"/>
                </a:solidFill>
                <a:latin typeface="Arial"/>
                <a:ea typeface="Arial"/>
                <a:cs typeface="Arial"/>
              </a:defRPr>
            </a:defPPr>
          </a:lstStyle>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Nova</a:t>
            </a:r>
          </a:p>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Offline voice interaction with persistent memory</a:t>
            </a:r>
          </a:p>
        </p:txBody>
      </p:sp>
    </p:spTree>
    <p:extLst>
      <p:ext uri="{BB962C8B-B14F-4D97-AF65-F5344CB8AC3E}">
        <p14:creationId xmlns:p14="http://schemas.microsoft.com/office/powerpoint/2010/main" val="110920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2026-10-10T06:36:09.3620000Z</dcterms:created>
  <dcterms:modified xsi:type="dcterms:W3CDTF">2026-10-10T06:36:09.3620000Z</dcterms:modified>
</coreProperties>
</file>