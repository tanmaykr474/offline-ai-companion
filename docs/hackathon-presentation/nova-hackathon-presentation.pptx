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25 seconds: Introduce Nova as a local voice companion with persistent personal memory. Explain that the implementation combines established models rather than training a new one. The Windows prototype and automated policies have evidence. Pi5 is a deployment target with implemented preparation and GPIO code, but its physical operation remains unverified. Do not use always-on to imply uninterrupted full-duplex recording.</a:t>
            </a:r>
          </a:p>
          <a:p/>
          <a:p>
            <a:r>
              <a:t>Repository evidence: scripts/always_on_assistant.py; config.py; docs/DEVELOPMENT_STATUS.md</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Frame these as design motivations, not validated market statistics. Personal assistants should remain useful when the external network is unavailable. Repeatedly restating personal information is inconvenient. Continuous sensing needs understandable controls. Nova attempts to address these needs locally. The repository does not provide user research or quantified market validation.</a:t>
            </a:r>
          </a:p>
          <a:p/>
          <a:p>
            <a:r>
              <a:t>Repository evidence: project description in pyproject.toml; core/privacy.py; memory/database.py</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Explain the complete local integration. Emphasize confirmed facts versus unidentified passive observations, deterministic tools, transactional memory changes and shared privacy gates. Optional passive extraction defaults off. This is integration innovation rather than a new foundation model. Online weather/news are a clearly separate opt-in branch.</a:t>
            </a:r>
          </a:p>
          <a:p/>
          <a:p>
            <a:r>
              <a:t>Repository evidence: core/assistant.py; memory/passive_processor.py; memory/management.py; tools/lifecycle.py</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Walk the top row from mic through RMS VAD to whisper.cpp and transcript activation. Follow active commands to Assistant, local memory or loopback Ollama, then Piper and speaker. Background speech enters only the optional passive worker. Explain reminders route through the main output loop. The amber boundary is explicit weather/news, not cloud inference. Navy dashed arrows are control. GPIO supplies software permission and reflects state. Plaintext storage and unverified Pi hardware are visible limitations.</a:t>
            </a:r>
          </a:p>
          <a:p/>
          <a:p>
            <a:r>
              <a:t>Repository evidence: scripts/always_on_assistant.py:70; src/offline_ai_companion/audio/continuous_recorder.py:23; src/offline_ai_companion/audio/vad.py:5; src/offline_ai_companion/stt/whisper.py:15; src/offline_ai_companion/core/wake_detector.py:20; src/offline_ai_companion/core/assistant.py:31; src/offline_ai_companion/core/hardware.py:164; src/offline_ai_companion/core/pi_deployment.py:50; src/offline_ai_companion/core/systemd_units.py:1; src/offline_ai_companion/tools/online_tools.py:1; src/offline_ai_companion/memory/hybrid_retriever.py:1; src/offline_ai_companion/core/privacy_policy.py:1; src/offline_ai_companion/main.py:7</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All stack choices come from adapters and configuration. Clarify that the declared application runtime is Python3.13, while bundled Python3.12 is used only for artifact authoring and qualified audit checks. tiny.en and lessac are platform defaults. GPIO uses local gpiozero/LGPIOFactory rather than remote pins. No embeddings are in this implementation.</a:t>
            </a:r>
          </a:p>
          <a:p/>
          <a:p>
            <a:r>
              <a:t>Repository evidence: pyproject.toml; config.py; core/platform_config.py; core/hardware.py; deployment/raspberry-pi/nova.env.example</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 A typical utterance ends after one second of silence. STT precedes wake handling. Wake+command activates directly, and wake-only permits a single eight-second follow-up. Most tool/recall paths avoid general model generation. Capture resumes after output and0.3-second settling. Background speech does not receive an answer. The flow is half-duplex, so users should wait for listening before speaking again.</a:t>
            </a:r>
          </a:p>
          <a:p/>
          <a:p>
            <a:r>
              <a:t>Repository evidence: audio/continuous_recorder.py; stt/whisper.py; core/activation_controller.py; scripts/always_on_assistant.py</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SQLite holds separate facts, notes, tasks, reminders and evidence-bearing passive records. Conversation history stays in RAM with ten-turn and4,000-character bounds. Hybrid recall uses a bounded concept lexicon, not embeddings. Management confirmations expire and recheck rows within a transaction. Do not say every creation requires confirmation: legacy name, explicit note/task and reminder creation are direct-write exceptions. Historical1,278-pass checkpoint is not the new audit result. Read verification.md before presenting updated checks.</a:t>
            </a:r>
          </a:p>
          <a:p/>
          <a:p>
            <a:r>
              <a:t>Repository evidence: memory/database.py; memory/hybrid_retriever.py; core/conversation.py; memory/management.py; tools/lifecycle.py; docs/DEVELOPMENT_STATUS.md</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Explain intended wiring and fail-closed permission behavior, not a proven hardware demo. Default BCM17/27/22 drive RGB and BCM23 reads the switch. Listening green, processing/speaking blue and mute red. Restart starts muted and needs deliberate stable switch cycling. GPIO faults latch mute. Headless production requires LinuxARM64 with local lgpio. Provisioning/setup and systemd templates exist, but actual GPIO, ALSA, boot and model performance are unverified. The switch does not disconnect mic power.</a:t>
            </a:r>
          </a:p>
          <a:p/>
          <a:p>
            <a:r>
              <a:t>Repository evidence: core/hardware.py; core/service_runtime.py; core/pi_deployment.py; deployment/raspberry-pi/README.md</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about two minutes within the pitch if time permits: Use a synthetic isolated SQLite path and preloaded models. Say Nova explain a solar eclipse in one sentence. Save Alex via name command and pizza via proposed favorite+yes. Add a one-minute water reminder. Restart with same DB and recall name/favorite. Show a task and its displayedID. Mute withM and verify muted speech creates no task. Explain exact wording can vary. Use the actual always_on_assistant script, not the startup-only packagedCLI. If the interpreter/device fails, label the text-mode fallback honestly.</a:t>
            </a:r>
          </a:p>
          <a:p/>
          <a:p>
            <a:r>
              <a:t>Repository evidence: scripts/always_on_assistant.py; scripts/assistant_test.py; demo-script.md; tools/memory_tools.py</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Disclose limits concretely. RMSVAD is susceptible to venue noise and transcript-based activation incursSTT cost before wake. Sequential processing has capture gaps. Small model context can constrain memory prompts. SQLite is plaintext, speaker identity is absent and electrical cutoff is absent. NoAEC/full-duplex exists. Pi, provider and multi-hour physical evidence need validation. The audit found StorePython/venv inaccessible in this environment, empty root docs and a nonportable Windows freeze. These must be addressed before claiming easy deployment.</a:t>
            </a:r>
          </a:p>
          <a:p/>
          <a:p>
            <a:r>
              <a:t>Repository evidence: audio/vad.py; core/wake_detector.py; core/hardware.py; core/assistant.py; docs/DEVELOPMENT_STATUS.md; requirements.txt</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These are recommendations, not completed features. Prioritize physical Pi validation and repeatable packaging before expanding scope. Measure thermal/resource/latency and long-running reliability. Then consider acoustic wake/VAD, authenticated voice commands, consent/retention controls, encrypted storage and true electrical mic disconnect. Full-duplex and broader integrations require their own implementation. No invented milestones, user metrics or promised model performance.</a:t>
            </a:r>
          </a:p>
          <a:p/>
          <a:p>
            <a:r>
              <a:t>Repository evidence: repository-evaluation.md recommendations; docs/LONG_RUNNING_VALIDATION.md; deployment/raspberry-pi/README.md</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Closing,25 seconds: Nova demonstrates a coherent local voice architecture with persistent memory, deterministic tools and software privacy gates. The repository contains substantial automated test coverage and bounded recovery policies. State clearly that target hardware and sustained physical reliability are next validation gates. Invite questions and keep jury-cross-questions.md nearby. Avoid promising encrypted, authenticated or uninterrupted listening behavior.</a:t>
            </a:r>
          </a:p>
          <a:p/>
          <a:p>
            <a:r>
              <a:t>Repository evidence: scripts/always_on_assistant.py; docs/DEVELOPMENT_STATUS.md; repository-evaluation.md</a:t>
            </a:r>
          </a:p>
          <a:p>
            <a:r>
              <a:t>Audit snapshot: 10 October 2026. Historical results and unverified hardware are identified explicitly.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Personal Offline Always-On AI Companion</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01</a:t>
            </a:r>
          </a:p>
        </p:txBody>
      </p:sp>
      <p:sp>
        <p:nvSpPr>
          <p:cNvPr id="5" name="TextBox 4"/>
          <p:cNvSpPr txBox="1"/>
          <p:nvPr/>
        </p:nvSpPr>
        <p:spPr>
          <a:xfrm>
            <a:off x="548640" y="1965960"/>
            <a:ext cx="10881360" cy="1188720"/>
          </a:xfrm>
          <a:prstGeom prst="rect">
            <a:avLst/>
          </a:prstGeom>
          <a:noFill/>
        </p:spPr>
        <p:txBody>
          <a:bodyPr wrap="square" lIns="0" rIns="0" tIns="0" bIns="0">
            <a:spAutoFit/>
          </a:bodyPr>
          <a:lstStyle/>
          <a:p>
            <a:pPr>
              <a:spcAft>
                <a:spcPts val="1000"/>
              </a:spcAft>
              <a:defRPr sz="3600" b="1">
                <a:solidFill>
                  <a:srgbClr val="007F86"/>
                </a:solidFill>
                <a:latin typeface="Arial"/>
              </a:defRPr>
            </a:pPr>
            <a:r>
              <a:t>Speech and personal memory</a:t>
            </a:r>
          </a:p>
          <a:p>
            <a:pPr>
              <a:spcAft>
                <a:spcPts val="1000"/>
              </a:spcAft>
              <a:defRPr sz="3600" b="1">
                <a:solidFill>
                  <a:srgbClr val="007F86"/>
                </a:solidFill>
                <a:latin typeface="Arial"/>
              </a:defRPr>
            </a:pPr>
            <a:r>
              <a:t>processed on your own device</a:t>
            </a:r>
          </a:p>
        </p:txBody>
      </p:sp>
      <p:sp>
        <p:nvSpPr>
          <p:cNvPr id="6" name="TextBox 5"/>
          <p:cNvSpPr txBox="1"/>
          <p:nvPr/>
        </p:nvSpPr>
        <p:spPr>
          <a:xfrm>
            <a:off x="548640" y="3703320"/>
            <a:ext cx="9692640" cy="1143000"/>
          </a:xfrm>
          <a:prstGeom prst="rect">
            <a:avLst/>
          </a:prstGeom>
          <a:noFill/>
        </p:spPr>
        <p:txBody>
          <a:bodyPr wrap="square" lIns="0" rIns="0" tIns="0" bIns="0">
            <a:spAutoFit/>
          </a:bodyPr>
          <a:lstStyle/>
          <a:p>
            <a:pPr>
              <a:spcAft>
                <a:spcPts val="1000"/>
              </a:spcAft>
              <a:defRPr sz="2500" b="0">
                <a:solidFill>
                  <a:srgbClr val="18384C"/>
                </a:solidFill>
                <a:latin typeface="Arial"/>
              </a:defRPr>
            </a:pPr>
            <a:r>
              <a:t>Local voice models. Persistent SQLite memory.</a:t>
            </a:r>
          </a:p>
          <a:p>
            <a:pPr>
              <a:spcAft>
                <a:spcPts val="1000"/>
              </a:spcAft>
              <a:defRPr sz="2500" b="0">
                <a:solidFill>
                  <a:srgbClr val="18384C"/>
                </a:solidFill>
                <a:latin typeface="Arial"/>
              </a:defRPr>
            </a:pPr>
            <a:r>
              <a:t>Explicit tools and visible microphone controls.</a:t>
            </a:r>
          </a:p>
        </p:txBody>
      </p:sp>
      <p:sp>
        <p:nvSpPr>
          <p:cNvPr id="7" name="TextBox 6"/>
          <p:cNvSpPr txBox="1"/>
          <p:nvPr/>
        </p:nvSpPr>
        <p:spPr>
          <a:xfrm>
            <a:off x="548640" y="5687568"/>
            <a:ext cx="10789920" cy="365760"/>
          </a:xfrm>
          <a:prstGeom prst="rect">
            <a:avLst/>
          </a:prstGeom>
          <a:noFill/>
        </p:spPr>
        <p:txBody>
          <a:bodyPr wrap="square" lIns="0" rIns="0" tIns="0" bIns="0">
            <a:spAutoFit/>
          </a:bodyPr>
          <a:lstStyle/>
          <a:p>
            <a:pPr>
              <a:spcAft>
                <a:spcPts val="1000"/>
              </a:spcAft>
              <a:defRPr sz="1700" b="0">
                <a:solidFill>
                  <a:srgbClr val="526879"/>
                </a:solidFill>
                <a:latin typeface="Arial"/>
              </a:defRPr>
            </a:pPr>
            <a:r>
              <a:t>Hackathon prototype evaluation  /  10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Problem statement</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02</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Everyday need</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A voice interface that stays useful</a:t>
            </a:r>
          </a:p>
          <a:p>
            <a:pPr>
              <a:spcAft>
                <a:spcPts val="1000"/>
              </a:spcAft>
              <a:defRPr sz="2300" b="0">
                <a:solidFill>
                  <a:srgbClr val="18384C"/>
                </a:solidFill>
                <a:latin typeface="Arial"/>
              </a:defRPr>
            </a:pPr>
            <a:r>
              <a:t>without an Internet connection</a:t>
            </a:r>
          </a:p>
          <a:p>
            <a:pPr>
              <a:spcAft>
                <a:spcPts val="1000"/>
              </a:spcAft>
              <a:defRPr sz="2300" b="0">
                <a:solidFill>
                  <a:srgbClr val="18384C"/>
                </a:solidFill>
                <a:latin typeface="Arial"/>
              </a:defRPr>
            </a:pPr>
          </a:p>
          <a:p>
            <a:pPr>
              <a:spcAft>
                <a:spcPts val="1000"/>
              </a:spcAft>
              <a:defRPr sz="2300" b="0">
                <a:solidFill>
                  <a:srgbClr val="18384C"/>
                </a:solidFill>
                <a:latin typeface="Arial"/>
              </a:defRPr>
            </a:pPr>
            <a:r>
              <a:t>Saved preferences, notes and tasks</a:t>
            </a:r>
          </a:p>
          <a:p>
            <a:pPr>
              <a:spcAft>
                <a:spcPts val="1000"/>
              </a:spcAft>
              <a:defRPr sz="2300" b="0">
                <a:solidFill>
                  <a:srgbClr val="18384C"/>
                </a:solidFill>
                <a:latin typeface="Arial"/>
              </a:defRPr>
            </a:pPr>
            <a:r>
              <a:t>that survive a restart</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Design requirement</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Personal context stays local</a:t>
            </a:r>
          </a:p>
          <a:p>
            <a:pPr>
              <a:spcAft>
                <a:spcPts val="1000"/>
              </a:spcAft>
              <a:defRPr sz="2300" b="0">
                <a:solidFill>
                  <a:srgbClr val="18384C"/>
                </a:solidFill>
                <a:latin typeface="Arial"/>
              </a:defRPr>
            </a:pPr>
            <a:r>
              <a:t>by default</a:t>
            </a:r>
          </a:p>
          <a:p>
            <a:pPr>
              <a:spcAft>
                <a:spcPts val="1000"/>
              </a:spcAft>
              <a:defRPr sz="2300" b="0">
                <a:solidFill>
                  <a:srgbClr val="18384C"/>
                </a:solidFill>
                <a:latin typeface="Arial"/>
              </a:defRPr>
            </a:pPr>
          </a:p>
          <a:p>
            <a:pPr>
              <a:spcAft>
                <a:spcPts val="1000"/>
              </a:spcAft>
              <a:defRPr sz="2300" b="0">
                <a:solidFill>
                  <a:srgbClr val="18384C"/>
                </a:solidFill>
                <a:latin typeface="Arial"/>
              </a:defRPr>
            </a:pPr>
            <a:r>
              <a:t>Microphone permission is visible</a:t>
            </a:r>
          </a:p>
          <a:p>
            <a:pPr>
              <a:spcAft>
                <a:spcPts val="1000"/>
              </a:spcAft>
              <a:defRPr sz="2300" b="0">
                <a:solidFill>
                  <a:srgbClr val="18384C"/>
                </a:solidFill>
                <a:latin typeface="Arial"/>
              </a:defRPr>
            </a:pPr>
            <a:r>
              <a:t>and can be revoked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Proposed solution and uniqueness</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03</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What Nova does</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Wake-prefixed voice commands</a:t>
            </a:r>
          </a:p>
          <a:p>
            <a:pPr>
              <a:spcAft>
                <a:spcPts val="1000"/>
              </a:spcAft>
              <a:defRPr sz="2300" b="0">
                <a:solidFill>
                  <a:srgbClr val="18384C"/>
                </a:solidFill>
                <a:latin typeface="Arial"/>
              </a:defRPr>
            </a:pPr>
            <a:r>
              <a:t>Local conversation and recall</a:t>
            </a:r>
          </a:p>
          <a:p>
            <a:pPr>
              <a:spcAft>
                <a:spcPts val="1000"/>
              </a:spcAft>
              <a:defRPr sz="2300" b="0">
                <a:solidFill>
                  <a:srgbClr val="18384C"/>
                </a:solidFill>
                <a:latin typeface="Arial"/>
              </a:defRPr>
            </a:pPr>
            <a:r>
              <a:t>Persistent notes, tasks and reminders</a:t>
            </a:r>
          </a:p>
          <a:p>
            <a:pPr>
              <a:spcAft>
                <a:spcPts val="1000"/>
              </a:spcAft>
              <a:defRPr sz="2300" b="0">
                <a:solidFill>
                  <a:srgbClr val="18384C"/>
                </a:solidFill>
                <a:latin typeface="Arial"/>
              </a:defRPr>
            </a:pPr>
            <a:r>
              <a:t>Optional passive observations</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What makes it distinctive</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Confirmed facts outrank observations</a:t>
            </a:r>
          </a:p>
          <a:p>
            <a:pPr>
              <a:spcAft>
                <a:spcPts val="1000"/>
              </a:spcAft>
              <a:defRPr sz="2300" b="0">
                <a:solidFill>
                  <a:srgbClr val="18384C"/>
                </a:solidFill>
                <a:latin typeface="Arial"/>
              </a:defRPr>
            </a:pPr>
            <a:r>
              <a:t>Evidence grounds personal recall</a:t>
            </a:r>
          </a:p>
          <a:p>
            <a:pPr>
              <a:spcAft>
                <a:spcPts val="1000"/>
              </a:spcAft>
              <a:defRPr sz="2300" b="0">
                <a:solidFill>
                  <a:srgbClr val="18384C"/>
                </a:solidFill>
                <a:latin typeface="Arial"/>
              </a:defRPr>
            </a:pPr>
            <a:r>
              <a:t>Deterministic tools control mutations</a:t>
            </a:r>
          </a:p>
          <a:p>
            <a:pPr>
              <a:spcAft>
                <a:spcPts val="1000"/>
              </a:spcAft>
              <a:defRPr sz="2300" b="0">
                <a:solidFill>
                  <a:srgbClr val="18384C"/>
                </a:solidFill>
                <a:latin typeface="Arial"/>
              </a:defRPr>
            </a:pPr>
            <a:r>
              <a:t>Mute gates reject stale input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System architecture</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04</a:t>
            </a:r>
          </a:p>
        </p:txBody>
      </p:sp>
      <p:pic>
        <p:nvPicPr>
          <p:cNvPr id="5" name="Picture 4" descr="nova-architecture.png"/>
          <p:cNvPicPr>
            <a:picLocks noChangeAspect="1"/>
          </p:cNvPicPr>
          <p:nvPr/>
        </p:nvPicPr>
        <p:blipFill>
          <a:blip r:embed="rId3"/>
          <a:stretch>
            <a:fillRect/>
          </a:stretch>
        </p:blipFill>
        <p:spPr>
          <a:xfrm>
            <a:off x="548640" y="1572768"/>
            <a:ext cx="11064240" cy="477316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Technology stack</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05</a:t>
            </a:r>
          </a:p>
        </p:txBody>
      </p:sp>
      <p:graphicFrame>
        <p:nvGraphicFramePr>
          <p:cNvPr id="5" name="Table 4"/>
          <p:cNvGraphicFramePr>
            <a:graphicFrameLocks noGrp="1"/>
          </p:cNvGraphicFramePr>
          <p:nvPr/>
        </p:nvGraphicFramePr>
        <p:xfrm>
          <a:off x="548640" y="1874519"/>
          <a:ext cx="11064240" cy="4032504"/>
        </p:xfrm>
        <a:graphic>
          <a:graphicData uri="http://schemas.openxmlformats.org/drawingml/2006/table">
            <a:tbl>
              <a:tblPr firstRow="1" bandRow="1">
                <a:tableStyleId>{5C22544A-7EE6-4342-B048-85BDC9FD1C3A}</a:tableStyleId>
              </a:tblPr>
              <a:tblGrid>
                <a:gridCol w="1645920"/>
                <a:gridCol w="4709160"/>
                <a:gridCol w="4709160"/>
              </a:tblGrid>
              <a:tr h="557784">
                <a:tc>
                  <a:txBody>
                    <a:bodyPr/>
                    <a:lstStyle/>
                    <a:p>
                      <a:pPr>
                        <a:defRPr sz="1700" b="1">
                          <a:solidFill>
                            <a:srgbClr val="FFFFFF"/>
                          </a:solidFill>
                          <a:latin typeface="Arial"/>
                        </a:defRPr>
                      </a:pPr>
                      <a:r>
                        <a:t>Layer</a:t>
                      </a:r>
                    </a:p>
                  </a:txBody>
                  <a:tcPr marL="109728" marT="91440">
                    <a:solidFill>
                      <a:srgbClr val="10263A"/>
                    </a:solidFill>
                  </a:tcPr>
                </a:tc>
                <a:tc>
                  <a:txBody>
                    <a:bodyPr/>
                    <a:lstStyle/>
                    <a:p>
                      <a:pPr>
                        <a:defRPr sz="1700" b="1">
                          <a:solidFill>
                            <a:srgbClr val="FFFFFF"/>
                          </a:solidFill>
                          <a:latin typeface="Arial"/>
                        </a:defRPr>
                      </a:pPr>
                      <a:r>
                        <a:t>Repository choice</a:t>
                      </a:r>
                    </a:p>
                  </a:txBody>
                  <a:tcPr marL="109728" marT="91440">
                    <a:solidFill>
                      <a:srgbClr val="10263A"/>
                    </a:solidFill>
                  </a:tcPr>
                </a:tc>
                <a:tc>
                  <a:txBody>
                    <a:bodyPr/>
                    <a:lstStyle/>
                    <a:p>
                      <a:pPr>
                        <a:defRPr sz="1700" b="1">
                          <a:solidFill>
                            <a:srgbClr val="FFFFFF"/>
                          </a:solidFill>
                          <a:latin typeface="Arial"/>
                        </a:defRPr>
                      </a:pPr>
                      <a:r>
                        <a:t>Purpose</a:t>
                      </a:r>
                    </a:p>
                  </a:txBody>
                  <a:tcPr marL="109728" marT="91440">
                    <a:solidFill>
                      <a:srgbClr val="10263A"/>
                    </a:solidFill>
                  </a:tcPr>
                </a:tc>
              </a:tr>
              <a:tr h="694944">
                <a:tc>
                  <a:txBody>
                    <a:bodyPr/>
                    <a:lstStyle/>
                    <a:p>
                      <a:pPr>
                        <a:defRPr sz="1700" b="0">
                          <a:solidFill>
                            <a:srgbClr val="18384C"/>
                          </a:solidFill>
                          <a:latin typeface="Arial"/>
                        </a:defRPr>
                      </a:pPr>
                      <a:r>
                        <a:t>Audio</a:t>
                      </a:r>
                    </a:p>
                  </a:txBody>
                  <a:tcPr marL="109728" marT="91440">
                    <a:solidFill>
                      <a:srgbClr val="F0F6F7"/>
                    </a:solidFill>
                  </a:tcPr>
                </a:tc>
                <a:tc>
                  <a:txBody>
                    <a:bodyPr/>
                    <a:lstStyle/>
                    <a:p>
                      <a:pPr>
                        <a:defRPr sz="1700" b="0">
                          <a:solidFill>
                            <a:srgbClr val="18384C"/>
                          </a:solidFill>
                          <a:latin typeface="Arial"/>
                        </a:defRPr>
                      </a:pPr>
                      <a:r>
                        <a:t>sounddevice / soundfile / NumPy</a:t>
                      </a:r>
                    </a:p>
                  </a:txBody>
                  <a:tcPr marL="109728" marT="91440">
                    <a:solidFill>
                      <a:srgbClr val="F0F6F7"/>
                    </a:solidFill>
                  </a:tcPr>
                </a:tc>
                <a:tc>
                  <a:txBody>
                    <a:bodyPr/>
                    <a:lstStyle/>
                    <a:p>
                      <a:pPr>
                        <a:defRPr sz="1700" b="0">
                          <a:solidFill>
                            <a:srgbClr val="18384C"/>
                          </a:solidFill>
                          <a:latin typeface="Arial"/>
                        </a:defRPr>
                      </a:pPr>
                      <a:r>
                        <a:t>Capture, RMS VAD and playback</a:t>
                      </a:r>
                    </a:p>
                  </a:txBody>
                  <a:tcPr marL="109728" marT="91440">
                    <a:solidFill>
                      <a:srgbClr val="F0F6F7"/>
                    </a:solidFill>
                  </a:tcPr>
                </a:tc>
              </a:tr>
              <a:tr h="694944">
                <a:tc>
                  <a:txBody>
                    <a:bodyPr/>
                    <a:lstStyle/>
                    <a:p>
                      <a:pPr>
                        <a:defRPr sz="1700" b="0">
                          <a:solidFill>
                            <a:srgbClr val="18384C"/>
                          </a:solidFill>
                          <a:latin typeface="Arial"/>
                        </a:defRPr>
                      </a:pPr>
                      <a:r>
                        <a:t>Speech</a:t>
                      </a:r>
                    </a:p>
                  </a:txBody>
                  <a:tcPr marL="109728" marT="91440">
                    <a:solidFill>
                      <a:srgbClr val="FFFFFF"/>
                    </a:solidFill>
                  </a:tcPr>
                </a:tc>
                <a:tc>
                  <a:txBody>
                    <a:bodyPr/>
                    <a:lstStyle/>
                    <a:p>
                      <a:pPr>
                        <a:defRPr sz="1700" b="0">
                          <a:solidFill>
                            <a:srgbClr val="18384C"/>
                          </a:solidFill>
                          <a:latin typeface="Arial"/>
                        </a:defRPr>
                      </a:pPr>
                      <a:r>
                        <a:t>whisper.cpp tiny.en / Piper lessac</a:t>
                      </a:r>
                    </a:p>
                  </a:txBody>
                  <a:tcPr marL="109728" marT="91440">
                    <a:solidFill>
                      <a:srgbClr val="FFFFFF"/>
                    </a:solidFill>
                  </a:tcPr>
                </a:tc>
                <a:tc>
                  <a:txBody>
                    <a:bodyPr/>
                    <a:lstStyle/>
                    <a:p>
                      <a:pPr>
                        <a:defRPr sz="1700" b="0">
                          <a:solidFill>
                            <a:srgbClr val="18384C"/>
                          </a:solidFill>
                          <a:latin typeface="Arial"/>
                        </a:defRPr>
                      </a:pPr>
                      <a:r>
                        <a:t>Local speech recognition and synthesis</a:t>
                      </a:r>
                    </a:p>
                  </a:txBody>
                  <a:tcPr marL="109728" marT="91440">
                    <a:solidFill>
                      <a:srgbClr val="FFFFFF"/>
                    </a:solidFill>
                  </a:tcPr>
                </a:tc>
              </a:tr>
              <a:tr h="694944">
                <a:tc>
                  <a:txBody>
                    <a:bodyPr/>
                    <a:lstStyle/>
                    <a:p>
                      <a:pPr>
                        <a:defRPr sz="1700" b="0">
                          <a:solidFill>
                            <a:srgbClr val="18384C"/>
                          </a:solidFill>
                          <a:latin typeface="Arial"/>
                        </a:defRPr>
                      </a:pPr>
                      <a:r>
                        <a:t>Reasoning</a:t>
                      </a:r>
                    </a:p>
                  </a:txBody>
                  <a:tcPr marL="109728" marT="91440">
                    <a:solidFill>
                      <a:srgbClr val="F0F6F7"/>
                    </a:solidFill>
                  </a:tcPr>
                </a:tc>
                <a:tc>
                  <a:txBody>
                    <a:bodyPr/>
                    <a:lstStyle/>
                    <a:p>
                      <a:pPr>
                        <a:defRPr sz="1700" b="0">
                          <a:solidFill>
                            <a:srgbClr val="18384C"/>
                          </a:solidFill>
                          <a:latin typeface="Arial"/>
                        </a:defRPr>
                      </a:pPr>
                      <a:r>
                        <a:t>Ollama / llama3.2:1b</a:t>
                      </a:r>
                    </a:p>
                  </a:txBody>
                  <a:tcPr marL="109728" marT="91440">
                    <a:solidFill>
                      <a:srgbClr val="F0F6F7"/>
                    </a:solidFill>
                  </a:tcPr>
                </a:tc>
                <a:tc>
                  <a:txBody>
                    <a:bodyPr/>
                    <a:lstStyle/>
                    <a:p>
                      <a:pPr>
                        <a:defRPr sz="1700" b="0">
                          <a:solidFill>
                            <a:srgbClr val="18384C"/>
                          </a:solidFill>
                          <a:latin typeface="Arial"/>
                        </a:defRPr>
                      </a:pPr>
                      <a:r>
                        <a:t>Loopback, non-streaming generation</a:t>
                      </a:r>
                    </a:p>
                  </a:txBody>
                  <a:tcPr marL="109728" marT="91440">
                    <a:solidFill>
                      <a:srgbClr val="F0F6F7"/>
                    </a:solidFill>
                  </a:tcPr>
                </a:tc>
              </a:tr>
              <a:tr h="694944">
                <a:tc>
                  <a:txBody>
                    <a:bodyPr/>
                    <a:lstStyle/>
                    <a:p>
                      <a:pPr>
                        <a:defRPr sz="1700" b="0">
                          <a:solidFill>
                            <a:srgbClr val="18384C"/>
                          </a:solidFill>
                          <a:latin typeface="Arial"/>
                        </a:defRPr>
                      </a:pPr>
                      <a:r>
                        <a:t>Memory</a:t>
                      </a:r>
                    </a:p>
                  </a:txBody>
                  <a:tcPr marL="109728" marT="91440">
                    <a:solidFill>
                      <a:srgbClr val="FFFFFF"/>
                    </a:solidFill>
                  </a:tcPr>
                </a:tc>
                <a:tc>
                  <a:txBody>
                    <a:bodyPr/>
                    <a:lstStyle/>
                    <a:p>
                      <a:pPr>
                        <a:defRPr sz="1700" b="0">
                          <a:solidFill>
                            <a:srgbClr val="18384C"/>
                          </a:solidFill>
                          <a:latin typeface="Arial"/>
                        </a:defRPr>
                      </a:pPr>
                      <a:r>
                        <a:t>SQLite / concept ranking</a:t>
                      </a:r>
                    </a:p>
                  </a:txBody>
                  <a:tcPr marL="109728" marT="91440">
                    <a:solidFill>
                      <a:srgbClr val="FFFFFF"/>
                    </a:solidFill>
                  </a:tcPr>
                </a:tc>
                <a:tc>
                  <a:txBody>
                    <a:bodyPr/>
                    <a:lstStyle/>
                    <a:p>
                      <a:pPr>
                        <a:defRPr sz="1700" b="0">
                          <a:solidFill>
                            <a:srgbClr val="18384C"/>
                          </a:solidFill>
                          <a:latin typeface="Arial"/>
                        </a:defRPr>
                      </a:pPr>
                      <a:r>
                        <a:t>Persistent records and grounded recall</a:t>
                      </a:r>
                    </a:p>
                  </a:txBody>
                  <a:tcPr marL="109728" marT="91440">
                    <a:solidFill>
                      <a:srgbClr val="FFFFFF"/>
                    </a:solidFill>
                  </a:tcPr>
                </a:tc>
              </a:tr>
              <a:tr h="694944">
                <a:tc>
                  <a:txBody>
                    <a:bodyPr/>
                    <a:lstStyle/>
                    <a:p>
                      <a:pPr>
                        <a:defRPr sz="1700" b="0">
                          <a:solidFill>
                            <a:srgbClr val="18384C"/>
                          </a:solidFill>
                          <a:latin typeface="Arial"/>
                        </a:defRPr>
                      </a:pPr>
                      <a:r>
                        <a:t>Runtime</a:t>
                      </a:r>
                    </a:p>
                  </a:txBody>
                  <a:tcPr marL="109728" marT="91440">
                    <a:solidFill>
                      <a:srgbClr val="F0F6F7"/>
                    </a:solidFill>
                  </a:tcPr>
                </a:tc>
                <a:tc>
                  <a:txBody>
                    <a:bodyPr/>
                    <a:lstStyle/>
                    <a:p>
                      <a:pPr>
                        <a:defRPr sz="1700" b="0">
                          <a:solidFill>
                            <a:srgbClr val="18384C"/>
                          </a:solidFill>
                          <a:latin typeface="Arial"/>
                        </a:defRPr>
                      </a:pPr>
                      <a:r>
                        <a:t>Python3.13 / Linux ARM64 / GPIO</a:t>
                      </a:r>
                    </a:p>
                  </a:txBody>
                  <a:tcPr marL="109728" marT="91440">
                    <a:solidFill>
                      <a:srgbClr val="F0F6F7"/>
                    </a:solidFill>
                  </a:tcPr>
                </a:tc>
                <a:tc>
                  <a:txBody>
                    <a:bodyPr/>
                    <a:lstStyle/>
                    <a:p>
                      <a:pPr>
                        <a:defRPr sz="1700" b="0">
                          <a:solidFill>
                            <a:srgbClr val="18384C"/>
                          </a:solidFill>
                          <a:latin typeface="Arial"/>
                        </a:defRPr>
                      </a:pPr>
                      <a:r>
                        <a:t>Orchestration and Pi deployment target</a:t>
                      </a:r>
                    </a:p>
                  </a:txBody>
                  <a:tcPr marL="109728" marT="91440">
                    <a:solidFill>
                      <a:srgbClr val="F0F6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Working flow</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06</a:t>
            </a:r>
          </a:p>
        </p:txBody>
      </p:sp>
      <p:sp>
        <p:nvSpPr>
          <p:cNvPr id="5" name="TextBox 4"/>
          <p:cNvSpPr txBox="1"/>
          <p:nvPr/>
        </p:nvSpPr>
        <p:spPr>
          <a:xfrm>
            <a:off x="548640" y="1874519"/>
            <a:ext cx="10881360" cy="3566160"/>
          </a:xfrm>
          <a:prstGeom prst="rect">
            <a:avLst/>
          </a:prstGeom>
          <a:noFill/>
        </p:spPr>
        <p:txBody>
          <a:bodyPr wrap="square" lIns="0" rIns="0" tIns="0" bIns="0">
            <a:spAutoFit/>
          </a:bodyPr>
          <a:lstStyle/>
          <a:p>
            <a:pPr>
              <a:spcAft>
                <a:spcPts val="1000"/>
              </a:spcAft>
              <a:defRPr sz="2500" b="0">
                <a:solidFill>
                  <a:srgbClr val="18384C"/>
                </a:solidFill>
                <a:latin typeface="Arial"/>
              </a:defRPr>
            </a:pPr>
            <a:r>
              <a:t>01  Capture a bounded utterance and run local STT</a:t>
            </a:r>
          </a:p>
          <a:p>
            <a:pPr>
              <a:spcAft>
                <a:spcPts val="1000"/>
              </a:spcAft>
              <a:defRPr sz="2500" b="0">
                <a:solidFill>
                  <a:srgbClr val="18384C"/>
                </a:solidFill>
                <a:latin typeface="Arial"/>
              </a:defRPr>
            </a:pPr>
            <a:r>
              <a:t>02  Match Nova at the transcript prefix</a:t>
            </a:r>
          </a:p>
          <a:p>
            <a:pPr>
              <a:spcAft>
                <a:spcPts val="1000"/>
              </a:spcAft>
              <a:defRPr sz="2500" b="0">
                <a:solidFill>
                  <a:srgbClr val="18384C"/>
                </a:solidFill>
                <a:latin typeface="Arial"/>
              </a:defRPr>
            </a:pPr>
            <a:r>
              <a:t>03  Resolve grounded recall, a tool or local chat</a:t>
            </a:r>
          </a:p>
          <a:p>
            <a:pPr>
              <a:spcAft>
                <a:spcPts val="1000"/>
              </a:spcAft>
              <a:defRPr sz="2500" b="0">
                <a:solidFill>
                  <a:srgbClr val="18384C"/>
                </a:solidFill>
                <a:latin typeface="Arial"/>
              </a:defRPr>
            </a:pPr>
            <a:r>
              <a:t>04  Generate local speech and play the answer</a:t>
            </a:r>
          </a:p>
          <a:p>
            <a:pPr>
              <a:spcAft>
                <a:spcPts val="1000"/>
              </a:spcAft>
              <a:defRPr sz="2500" b="0">
                <a:solidFill>
                  <a:srgbClr val="18384C"/>
                </a:solidFill>
                <a:latin typeface="Arial"/>
              </a:defRPr>
            </a:pPr>
            <a:r>
              <a:t>05  Clean owned audio and resume listening</a:t>
            </a:r>
          </a:p>
        </p:txBody>
      </p:sp>
      <p:sp>
        <p:nvSpPr>
          <p:cNvPr id="6" name="TextBox 5"/>
          <p:cNvSpPr txBox="1"/>
          <p:nvPr/>
        </p:nvSpPr>
        <p:spPr>
          <a:xfrm>
            <a:off x="548640" y="5669280"/>
            <a:ext cx="10972800" cy="411480"/>
          </a:xfrm>
          <a:prstGeom prst="rect">
            <a:avLst/>
          </a:prstGeom>
          <a:noFill/>
        </p:spPr>
        <p:txBody>
          <a:bodyPr wrap="square" lIns="0" rIns="0" tIns="0" bIns="0">
            <a:spAutoFit/>
          </a:bodyPr>
          <a:lstStyle/>
          <a:p>
            <a:pPr>
              <a:spcAft>
                <a:spcPts val="1000"/>
              </a:spcAft>
              <a:defRPr sz="1800" b="1">
                <a:solidFill>
                  <a:srgbClr val="007F86"/>
                </a:solidFill>
                <a:latin typeface="Arial"/>
              </a:defRPr>
            </a:pPr>
            <a:r>
              <a:t>Wake-only follow-up: 8 seconds. Normal operation is sequential and half-duplex.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Implementation and memory integrity</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07</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Implemented safeguards</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Separate confirmed and passive memory</a:t>
            </a:r>
          </a:p>
          <a:p>
            <a:pPr>
              <a:spcAft>
                <a:spcPts val="1000"/>
              </a:spcAft>
              <a:defRPr sz="2300" b="0">
                <a:solidFill>
                  <a:srgbClr val="18384C"/>
                </a:solidFill>
                <a:latin typeface="Arial"/>
              </a:defRPr>
            </a:pPr>
            <a:r>
              <a:t>Evidence, timestamps and deduplication</a:t>
            </a:r>
          </a:p>
          <a:p>
            <a:pPr>
              <a:spcAft>
                <a:spcPts val="1000"/>
              </a:spcAft>
              <a:defRPr sz="2300" b="0">
                <a:solidFill>
                  <a:srgbClr val="18384C"/>
                </a:solidFill>
                <a:latin typeface="Arial"/>
              </a:defRPr>
            </a:pPr>
            <a:r>
              <a:t>Scoped corrections and deletions</a:t>
            </a:r>
          </a:p>
          <a:p>
            <a:pPr>
              <a:spcAft>
                <a:spcPts val="1000"/>
              </a:spcAft>
              <a:defRPr sz="2300" b="0">
                <a:solidFill>
                  <a:srgbClr val="18384C"/>
                </a:solidFill>
                <a:latin typeface="Arial"/>
              </a:defRPr>
            </a:pPr>
            <a:r>
              <a:t>Reminder leases and acknowledgments</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Verification boundary</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Historical checkpoint: 1,278 tests passed</a:t>
            </a:r>
          </a:p>
          <a:p>
            <a:pPr>
              <a:spcAft>
                <a:spcPts val="1000"/>
              </a:spcAft>
              <a:defRPr sz="2300" b="0">
                <a:solidFill>
                  <a:srgbClr val="18384C"/>
                </a:solidFill>
                <a:latin typeface="Arial"/>
              </a:defRPr>
            </a:pPr>
            <a:r>
              <a:t>Voice/GPIO boundaries often use mocks</a:t>
            </a:r>
          </a:p>
          <a:p>
            <a:pPr>
              <a:spcAft>
                <a:spcPts val="1000"/>
              </a:spcAft>
              <a:defRPr sz="2300" b="0">
                <a:solidFill>
                  <a:srgbClr val="18384C"/>
                </a:solidFill>
                <a:latin typeface="Arial"/>
              </a:defRPr>
            </a:pPr>
            <a:r>
              <a:t>Pi hardware and sustained run pending</a:t>
            </a:r>
          </a:p>
          <a:p>
            <a:pPr>
              <a:spcAft>
                <a:spcPts val="1000"/>
              </a:spcAft>
              <a:defRPr sz="2300" b="0">
                <a:solidFill>
                  <a:srgbClr val="18384C"/>
                </a:solidFill>
                <a:latin typeface="Arial"/>
              </a:defRPr>
            </a:pPr>
            <a:r>
              <a:t>Fresh audit result in verification.md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Hardware integration and Pi deployment</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08</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GPIO implementation</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RGB: BCM17 / 27 / 22</a:t>
            </a:r>
          </a:p>
          <a:p>
            <a:pPr>
              <a:spcAft>
                <a:spcPts val="1000"/>
              </a:spcAft>
              <a:defRPr sz="2300" b="0">
                <a:solidFill>
                  <a:srgbClr val="18384C"/>
                </a:solidFill>
                <a:latin typeface="Arial"/>
              </a:defRPr>
            </a:pPr>
            <a:r>
              <a:t>Mute input: BCM23</a:t>
            </a:r>
          </a:p>
          <a:p>
            <a:pPr>
              <a:spcAft>
                <a:spcPts val="1000"/>
              </a:spcAft>
              <a:defRPr sz="2300" b="0">
                <a:solidFill>
                  <a:srgbClr val="18384C"/>
                </a:solidFill>
                <a:latin typeface="Arial"/>
              </a:defRPr>
            </a:pPr>
            <a:r>
              <a:t>20 ms polling, 100 ms release debounce</a:t>
            </a:r>
          </a:p>
          <a:p>
            <a:pPr>
              <a:spcAft>
                <a:spcPts val="1000"/>
              </a:spcAft>
              <a:defRPr sz="2300" b="0">
                <a:solidFill>
                  <a:srgbClr val="18384C"/>
                </a:solidFill>
                <a:latin typeface="Arial"/>
              </a:defRPr>
            </a:pPr>
            <a:r>
              <a:t>Faults latch mute until restart</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Deployment target</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Raspberry Pi5, Linux64-bit ARM</a:t>
            </a:r>
          </a:p>
          <a:p>
            <a:pPr>
              <a:spcAft>
                <a:spcPts val="1000"/>
              </a:spcAft>
              <a:defRPr sz="2300" b="0">
                <a:solidFill>
                  <a:srgbClr val="18384C"/>
                </a:solidFill>
                <a:latin typeface="Arial"/>
              </a:defRPr>
            </a:pPr>
            <a:r>
              <a:t>Python3.13 and local models</a:t>
            </a:r>
          </a:p>
          <a:p>
            <a:pPr>
              <a:spcAft>
                <a:spcPts val="1000"/>
              </a:spcAft>
              <a:defRPr sz="2300" b="0">
                <a:solidFill>
                  <a:srgbClr val="18384C"/>
                </a:solidFill>
                <a:latin typeface="Arial"/>
              </a:defRPr>
            </a:pPr>
            <a:r>
              <a:t>Guarded launch and non-root systemd</a:t>
            </a:r>
          </a:p>
          <a:p>
            <a:pPr>
              <a:spcAft>
                <a:spcPts val="1000"/>
              </a:spcAft>
              <a:defRPr sz="2300" b="0">
                <a:solidFill>
                  <a:srgbClr val="18384C"/>
                </a:solidFill>
                <a:latin typeface="Arial"/>
              </a:defRPr>
            </a:pPr>
            <a:r>
              <a:t>Physical validation remains pending</a:t>
            </a:r>
          </a:p>
        </p:txBody>
      </p:sp>
      <p:sp>
        <p:nvSpPr>
          <p:cNvPr id="9" name="TextBox 8"/>
          <p:cNvSpPr txBox="1"/>
          <p:nvPr/>
        </p:nvSpPr>
        <p:spPr>
          <a:xfrm>
            <a:off x="548640" y="5760720"/>
            <a:ext cx="10972800" cy="411480"/>
          </a:xfrm>
          <a:prstGeom prst="rect">
            <a:avLst/>
          </a:prstGeom>
          <a:noFill/>
        </p:spPr>
        <p:txBody>
          <a:bodyPr wrap="square" lIns="0" rIns="0" tIns="0" bIns="0">
            <a:spAutoFit/>
          </a:bodyPr>
          <a:lstStyle/>
          <a:p>
            <a:pPr>
              <a:spcAft>
                <a:spcPts val="1000"/>
              </a:spcAft>
              <a:defRPr sz="1700" b="1">
                <a:solidFill>
                  <a:srgbClr val="A35B0B"/>
                </a:solidFill>
                <a:latin typeface="Arial"/>
              </a:defRPr>
            </a:pPr>
            <a:r>
              <a:t>The switch controls software permission. It does not electrically disconnect the microphone.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Live demonstration</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09</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Core jury sequence</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Local question with network disconnected</a:t>
            </a:r>
          </a:p>
          <a:p>
            <a:pPr>
              <a:spcAft>
                <a:spcPts val="1000"/>
              </a:spcAft>
              <a:defRPr sz="2300" b="0">
                <a:solidFill>
                  <a:srgbClr val="18384C"/>
                </a:solidFill>
                <a:latin typeface="Arial"/>
              </a:defRPr>
            </a:pPr>
            <a:r>
              <a:t>Save a synthetic preference</a:t>
            </a:r>
          </a:p>
          <a:p>
            <a:pPr>
              <a:spcAft>
                <a:spcPts val="1000"/>
              </a:spcAft>
              <a:defRPr sz="2300" b="0">
                <a:solidFill>
                  <a:srgbClr val="18384C"/>
                </a:solidFill>
                <a:latin typeface="Arial"/>
              </a:defRPr>
            </a:pPr>
            <a:r>
              <a:t>Restart and recall the same fact</a:t>
            </a:r>
          </a:p>
          <a:p>
            <a:pPr>
              <a:spcAft>
                <a:spcPts val="1000"/>
              </a:spcAft>
              <a:defRPr sz="2300" b="0">
                <a:solidFill>
                  <a:srgbClr val="18384C"/>
                </a:solidFill>
                <a:latin typeface="Arial"/>
              </a:defRPr>
            </a:pPr>
            <a:r>
              <a:t>Create a task and deliver a reminder</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Visible privacy control</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Mute input and show the state</a:t>
            </a:r>
          </a:p>
          <a:p>
            <a:pPr>
              <a:spcAft>
                <a:spcPts val="1000"/>
              </a:spcAft>
              <a:defRPr sz="2300" b="0">
                <a:solidFill>
                  <a:srgbClr val="18384C"/>
                </a:solidFill>
                <a:latin typeface="Arial"/>
              </a:defRPr>
            </a:pPr>
            <a:r>
              <a:t>Verify muted speech creates no task</a:t>
            </a:r>
          </a:p>
          <a:p>
            <a:pPr>
              <a:spcAft>
                <a:spcPts val="1000"/>
              </a:spcAft>
              <a:defRPr sz="2300" b="0">
                <a:solidFill>
                  <a:srgbClr val="18384C"/>
                </a:solidFill>
                <a:latin typeface="Arial"/>
              </a:defRPr>
            </a:pPr>
            <a:r>
              <a:t>Optional passive path only with consent</a:t>
            </a:r>
          </a:p>
          <a:p>
            <a:pPr>
              <a:spcAft>
                <a:spcPts val="1000"/>
              </a:spcAft>
              <a:defRPr sz="2300" b="0">
                <a:solidFill>
                  <a:srgbClr val="18384C"/>
                </a:solidFill>
                <a:latin typeface="Arial"/>
              </a:defRPr>
            </a:pPr>
            <a:r>
              <a:t>Label text-mode and mock fallbacks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Challenges and current limitations</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10</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Technical constraints</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Noise-sensitive energy VAD</a:t>
            </a:r>
          </a:p>
          <a:p>
            <a:pPr>
              <a:spcAft>
                <a:spcPts val="1000"/>
              </a:spcAft>
              <a:defRPr sz="2300" b="0">
                <a:solidFill>
                  <a:srgbClr val="18384C"/>
                </a:solidFill>
                <a:latin typeface="Arial"/>
              </a:defRPr>
            </a:pPr>
            <a:r>
              <a:t>STT runs before wake activation</a:t>
            </a:r>
          </a:p>
          <a:p>
            <a:pPr>
              <a:spcAft>
                <a:spcPts val="1000"/>
              </a:spcAft>
              <a:defRPr sz="2300" b="0">
                <a:solidFill>
                  <a:srgbClr val="18384C"/>
                </a:solidFill>
                <a:latin typeface="Arial"/>
              </a:defRPr>
            </a:pPr>
            <a:r>
              <a:t>Sequential capture and model latency</a:t>
            </a:r>
          </a:p>
          <a:p>
            <a:pPr>
              <a:spcAft>
                <a:spcPts val="1000"/>
              </a:spcAft>
              <a:defRPr sz="2300" b="0">
                <a:solidFill>
                  <a:srgbClr val="18384C"/>
                </a:solidFill>
                <a:latin typeface="Arial"/>
              </a:defRPr>
            </a:pPr>
            <a:r>
              <a:t>Small context and shared CPU budget</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Evaluation limits</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Physical Pi and multi-hour run pending</a:t>
            </a:r>
          </a:p>
          <a:p>
            <a:pPr>
              <a:spcAft>
                <a:spcPts val="1000"/>
              </a:spcAft>
              <a:defRPr sz="2300" b="0">
                <a:solidFill>
                  <a:srgbClr val="18384C"/>
                </a:solidFill>
                <a:latin typeface="Arial"/>
              </a:defRPr>
            </a:pPr>
            <a:r>
              <a:t>Plaintext memory and no speaker identity</a:t>
            </a:r>
          </a:p>
          <a:p>
            <a:pPr>
              <a:spcAft>
                <a:spcPts val="1000"/>
              </a:spcAft>
              <a:defRPr sz="2300" b="0">
                <a:solidFill>
                  <a:srgbClr val="18384C"/>
                </a:solidFill>
                <a:latin typeface="Arial"/>
              </a:defRPr>
            </a:pPr>
            <a:r>
              <a:t>No AEC or electrical microphone cutoff</a:t>
            </a:r>
          </a:p>
          <a:p>
            <a:pPr>
              <a:spcAft>
                <a:spcPts val="1000"/>
              </a:spcAft>
              <a:defRPr sz="2300" b="0">
                <a:solidFill>
                  <a:srgbClr val="18384C"/>
                </a:solidFill>
                <a:latin typeface="Arial"/>
              </a:defRPr>
            </a:pPr>
            <a:r>
              <a:t>Packaging and public docs incomplete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Future scope</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11</a:t>
            </a:r>
          </a:p>
        </p:txBody>
      </p:sp>
      <p:sp>
        <p:nvSpPr>
          <p:cNvPr id="5" name="TextBox 4"/>
          <p:cNvSpPr txBox="1"/>
          <p:nvPr/>
        </p:nvSpPr>
        <p:spPr>
          <a:xfrm>
            <a:off x="54864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Next validation milestone</a:t>
            </a:r>
          </a:p>
        </p:txBody>
      </p:sp>
      <p:sp>
        <p:nvSpPr>
          <p:cNvPr id="6" name="TextBox 5"/>
          <p:cNvSpPr txBox="1"/>
          <p:nvPr/>
        </p:nvSpPr>
        <p:spPr>
          <a:xfrm>
            <a:off x="54864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Real Pi installation and boot recovery</a:t>
            </a:r>
          </a:p>
          <a:p>
            <a:pPr>
              <a:spcAft>
                <a:spcPts val="1000"/>
              </a:spcAft>
              <a:defRPr sz="2300" b="0">
                <a:solidFill>
                  <a:srgbClr val="18384C"/>
                </a:solidFill>
                <a:latin typeface="Arial"/>
              </a:defRPr>
            </a:pPr>
            <a:r>
              <a:t>Headless audio and GPIO fault checks</a:t>
            </a:r>
          </a:p>
          <a:p>
            <a:pPr>
              <a:spcAft>
                <a:spcPts val="1000"/>
              </a:spcAft>
              <a:defRPr sz="2300" b="0">
                <a:solidFill>
                  <a:srgbClr val="18384C"/>
                </a:solidFill>
                <a:latin typeface="Arial"/>
              </a:defRPr>
            </a:pPr>
            <a:r>
              <a:t>Multi-hour thermal/resource measurements</a:t>
            </a:r>
          </a:p>
          <a:p>
            <a:pPr>
              <a:spcAft>
                <a:spcPts val="1000"/>
              </a:spcAft>
              <a:defRPr sz="2300" b="0">
                <a:solidFill>
                  <a:srgbClr val="18384C"/>
                </a:solidFill>
                <a:latin typeface="Arial"/>
              </a:defRPr>
            </a:pPr>
            <a:r>
              <a:t>Portable setup and voice entry point</a:t>
            </a:r>
          </a:p>
        </p:txBody>
      </p:sp>
      <p:sp>
        <p:nvSpPr>
          <p:cNvPr id="7" name="TextBox 6"/>
          <p:cNvSpPr txBox="1"/>
          <p:nvPr/>
        </p:nvSpPr>
        <p:spPr>
          <a:xfrm>
            <a:off x="6400800" y="1874519"/>
            <a:ext cx="5166360" cy="502920"/>
          </a:xfrm>
          <a:prstGeom prst="rect">
            <a:avLst/>
          </a:prstGeom>
          <a:noFill/>
        </p:spPr>
        <p:txBody>
          <a:bodyPr wrap="square" lIns="0" rIns="0" tIns="0" bIns="0">
            <a:spAutoFit/>
          </a:bodyPr>
          <a:lstStyle/>
          <a:p>
            <a:pPr>
              <a:spcAft>
                <a:spcPts val="1000"/>
              </a:spcAft>
              <a:defRPr sz="2300" b="1">
                <a:solidFill>
                  <a:srgbClr val="007F86"/>
                </a:solidFill>
                <a:latin typeface="Arial"/>
              </a:defRPr>
            </a:pPr>
            <a:r>
              <a:t>Next product capabilities</a:t>
            </a:r>
          </a:p>
        </p:txBody>
      </p:sp>
      <p:sp>
        <p:nvSpPr>
          <p:cNvPr id="8" name="TextBox 7"/>
          <p:cNvSpPr txBox="1"/>
          <p:nvPr/>
        </p:nvSpPr>
        <p:spPr>
          <a:xfrm>
            <a:off x="6400800" y="2578608"/>
            <a:ext cx="5166360" cy="3474720"/>
          </a:xfrm>
          <a:prstGeom prst="rect">
            <a:avLst/>
          </a:prstGeom>
          <a:noFill/>
        </p:spPr>
        <p:txBody>
          <a:bodyPr wrap="square" lIns="0" rIns="0" tIns="0" bIns="0">
            <a:spAutoFit/>
          </a:bodyPr>
          <a:lstStyle/>
          <a:p>
            <a:pPr>
              <a:spcAft>
                <a:spcPts val="1000"/>
              </a:spcAft>
              <a:defRPr sz="2300" b="0">
                <a:solidFill>
                  <a:srgbClr val="18384C"/>
                </a:solidFill>
                <a:latin typeface="Arial"/>
              </a:defRPr>
            </a:pPr>
            <a:r>
              <a:t>Dedicated acoustic wake detection</a:t>
            </a:r>
          </a:p>
          <a:p>
            <a:pPr>
              <a:spcAft>
                <a:spcPts val="1000"/>
              </a:spcAft>
              <a:defRPr sz="2300" b="0">
                <a:solidFill>
                  <a:srgbClr val="18384C"/>
                </a:solidFill>
                <a:latin typeface="Arial"/>
              </a:defRPr>
            </a:pPr>
            <a:r>
              <a:t>Better noise handling and echo control</a:t>
            </a:r>
          </a:p>
          <a:p>
            <a:pPr>
              <a:spcAft>
                <a:spcPts val="1000"/>
              </a:spcAft>
              <a:defRPr sz="2300" b="0">
                <a:solidFill>
                  <a:srgbClr val="18384C"/>
                </a:solidFill>
                <a:latin typeface="Arial"/>
              </a:defRPr>
            </a:pPr>
            <a:r>
              <a:t>Authenticated actions and encrypted memory</a:t>
            </a:r>
          </a:p>
          <a:p>
            <a:pPr>
              <a:spcAft>
                <a:spcPts val="1000"/>
              </a:spcAft>
              <a:defRPr sz="2300" b="0">
                <a:solidFill>
                  <a:srgbClr val="18384C"/>
                </a:solidFill>
                <a:latin typeface="Arial"/>
              </a:defRPr>
            </a:pPr>
            <a:r>
              <a:t>Token-bounded context and archive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10972800" cy="274320"/>
          </a:xfrm>
          <a:prstGeom prst="rect">
            <a:avLst/>
          </a:prstGeom>
          <a:noFill/>
        </p:spPr>
        <p:txBody>
          <a:bodyPr wrap="square" lIns="0" rIns="0" tIns="0" bIns="0">
            <a:spAutoFit/>
          </a:bodyPr>
          <a:lstStyle/>
          <a:p>
            <a:pPr>
              <a:spcAft>
                <a:spcPts val="1000"/>
              </a:spcAft>
              <a:defRPr sz="1200" b="1">
                <a:solidFill>
                  <a:srgbClr val="007F86"/>
                </a:solidFill>
                <a:latin typeface="Arial"/>
              </a:defRPr>
            </a:pPr>
            <a:r>
              <a:t>NOVA</a:t>
            </a:r>
          </a:p>
        </p:txBody>
      </p:sp>
      <p:sp>
        <p:nvSpPr>
          <p:cNvPr id="3" name="TextBox 2"/>
          <p:cNvSpPr txBox="1"/>
          <p:nvPr/>
        </p:nvSpPr>
        <p:spPr>
          <a:xfrm>
            <a:off x="548640" y="777240"/>
            <a:ext cx="11064240" cy="731520"/>
          </a:xfrm>
          <a:prstGeom prst="rect">
            <a:avLst/>
          </a:prstGeom>
          <a:noFill/>
        </p:spPr>
        <p:txBody>
          <a:bodyPr wrap="square" lIns="0" rIns="0" tIns="0" bIns="0">
            <a:spAutoFit/>
          </a:bodyPr>
          <a:lstStyle/>
          <a:p>
            <a:pPr>
              <a:spcAft>
                <a:spcPts val="1000"/>
              </a:spcAft>
              <a:defRPr sz="3400" b="1">
                <a:solidFill>
                  <a:srgbClr val="10263A"/>
                </a:solidFill>
                <a:latin typeface="Arial"/>
              </a:defRPr>
            </a:pPr>
            <a:r>
              <a:t>Conclusion</a:t>
            </a:r>
          </a:p>
        </p:txBody>
      </p:sp>
      <p:sp>
        <p:nvSpPr>
          <p:cNvPr id="4" name="TextBox 3"/>
          <p:cNvSpPr txBox="1"/>
          <p:nvPr/>
        </p:nvSpPr>
        <p:spPr>
          <a:xfrm>
            <a:off x="11109960" y="6428232"/>
            <a:ext cx="457200" cy="228600"/>
          </a:xfrm>
          <a:prstGeom prst="rect">
            <a:avLst/>
          </a:prstGeom>
          <a:noFill/>
        </p:spPr>
        <p:txBody>
          <a:bodyPr wrap="square" lIns="0" rIns="0" tIns="0" bIns="0">
            <a:spAutoFit/>
          </a:bodyPr>
          <a:lstStyle/>
          <a:p>
            <a:pPr>
              <a:spcAft>
                <a:spcPts val="1000"/>
              </a:spcAft>
              <a:defRPr sz="1100" b="0">
                <a:solidFill>
                  <a:srgbClr val="526879"/>
                </a:solidFill>
                <a:latin typeface="Arial"/>
              </a:defRPr>
            </a:pPr>
            <a:r>
              <a:t>12</a:t>
            </a:r>
          </a:p>
        </p:txBody>
      </p:sp>
      <p:sp>
        <p:nvSpPr>
          <p:cNvPr id="5" name="TextBox 4"/>
          <p:cNvSpPr txBox="1"/>
          <p:nvPr/>
        </p:nvSpPr>
        <p:spPr>
          <a:xfrm>
            <a:off x="548640" y="1920240"/>
            <a:ext cx="10881360" cy="1371600"/>
          </a:xfrm>
          <a:prstGeom prst="rect">
            <a:avLst/>
          </a:prstGeom>
          <a:noFill/>
        </p:spPr>
        <p:txBody>
          <a:bodyPr wrap="square" lIns="0" rIns="0" tIns="0" bIns="0">
            <a:spAutoFit/>
          </a:bodyPr>
          <a:lstStyle/>
          <a:p>
            <a:pPr>
              <a:spcAft>
                <a:spcPts val="1000"/>
              </a:spcAft>
              <a:defRPr sz="3500" b="1">
                <a:solidFill>
                  <a:srgbClr val="007F86"/>
                </a:solidFill>
                <a:latin typeface="Arial"/>
              </a:defRPr>
            </a:pPr>
            <a:r>
              <a:t>Local voice assistance with</a:t>
            </a:r>
          </a:p>
          <a:p>
            <a:pPr>
              <a:spcAft>
                <a:spcPts val="1000"/>
              </a:spcAft>
              <a:defRPr sz="3500" b="1">
                <a:solidFill>
                  <a:srgbClr val="007F86"/>
                </a:solidFill>
                <a:latin typeface="Arial"/>
              </a:defRPr>
            </a:pPr>
            <a:r>
              <a:t>persistent, evidence-aware memory</a:t>
            </a:r>
          </a:p>
        </p:txBody>
      </p:sp>
      <p:sp>
        <p:nvSpPr>
          <p:cNvPr id="6" name="TextBox 5"/>
          <p:cNvSpPr txBox="1"/>
          <p:nvPr/>
        </p:nvSpPr>
        <p:spPr>
          <a:xfrm>
            <a:off x="548640" y="3730752"/>
            <a:ext cx="10881360" cy="1097280"/>
          </a:xfrm>
          <a:prstGeom prst="rect">
            <a:avLst/>
          </a:prstGeom>
          <a:noFill/>
        </p:spPr>
        <p:txBody>
          <a:bodyPr wrap="square" lIns="0" rIns="0" tIns="0" bIns="0">
            <a:spAutoFit/>
          </a:bodyPr>
          <a:lstStyle/>
          <a:p>
            <a:pPr>
              <a:spcAft>
                <a:spcPts val="1000"/>
              </a:spcAft>
              <a:defRPr sz="2500" b="0">
                <a:solidFill>
                  <a:srgbClr val="18384C"/>
                </a:solidFill>
                <a:latin typeface="Arial"/>
              </a:defRPr>
            </a:pPr>
            <a:r>
              <a:t>Implemented orchestration, tools and privacy controls</a:t>
            </a:r>
          </a:p>
          <a:p>
            <a:pPr>
              <a:spcAft>
                <a:spcPts val="1000"/>
              </a:spcAft>
              <a:defRPr sz="2500" b="0">
                <a:solidFill>
                  <a:srgbClr val="18384C"/>
                </a:solidFill>
                <a:latin typeface="Arial"/>
              </a:defRPr>
            </a:pPr>
            <a:r>
              <a:t>A clear path to physical Pi validation</a:t>
            </a:r>
          </a:p>
        </p:txBody>
      </p:sp>
      <p:sp>
        <p:nvSpPr>
          <p:cNvPr id="7" name="TextBox 6"/>
          <p:cNvSpPr txBox="1"/>
          <p:nvPr/>
        </p:nvSpPr>
        <p:spPr>
          <a:xfrm>
            <a:off x="548640" y="5687568"/>
            <a:ext cx="10789920" cy="365760"/>
          </a:xfrm>
          <a:prstGeom prst="rect">
            <a:avLst/>
          </a:prstGeom>
          <a:noFill/>
        </p:spPr>
        <p:txBody>
          <a:bodyPr wrap="square" lIns="0" rIns="0" tIns="0" bIns="0">
            <a:spAutoFit/>
          </a:bodyPr>
          <a:lstStyle/>
          <a:p>
            <a:pPr>
              <a:spcAft>
                <a:spcPts val="1000"/>
              </a:spcAft>
              <a:defRPr sz="1800" b="0">
                <a:solidFill>
                  <a:srgbClr val="526879"/>
                </a:solidFill>
                <a:latin typeface="Arial"/>
              </a:defRPr>
            </a:pPr>
            <a:r>
              <a:t>Repository evidence defines the claims. Live hardware defines the next milestone.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Personal Offline Always-On AI Companion</dc:title>
  <dc:subject>Repository-grounded hackathon evaluation</dc:subject>
  <dc:creator>Nova project</dc:creator>
  <cp:keywords>Nova, offline, architecture, hackathon,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