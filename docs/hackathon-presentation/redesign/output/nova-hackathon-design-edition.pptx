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f2b0fc707046fa" /><Relationship Type="http://schemas.openxmlformats.org/officeDocument/2006/relationships/extended-properties" Target="/docProps/app.xml" Id="Rae1ff90377d544a5" /><Relationship Type="http://schemas.openxmlformats.org/officeDocument/2006/relationships/officeDocument" Target="/ppt/presentation.xml" Id="R0516821ba4af4202" /></Relationships>
</file>

<file path=ppt/presentation.xml><?xml version="1.0" encoding="utf-8"?>
<p:presentation xmlns:p="http://schemas.openxmlformats.org/presentationml/2006/main">
  <p:sldMasterIdLst>
    <p:sldMasterId xmlns:r="http://schemas.openxmlformats.org/officeDocument/2006/relationships" id="2147483648" r:id="R7aed99f3b1db4148"/>
  </p:sldMasterIdLst>
  <p:notesMasterIdLst>
    <p:notesMasterId xmlns:r="http://schemas.openxmlformats.org/officeDocument/2006/relationships" r:id="R9a690015457248e6"/>
  </p:notesMasterIdLst>
  <p:sldIdLst>
    <p:sldId xmlns:r="http://schemas.openxmlformats.org/officeDocument/2006/relationships" id="256" r:id="R92f175fd58bd4d34"/>
    <p:sldId xmlns:r="http://schemas.openxmlformats.org/officeDocument/2006/relationships" id="257" r:id="Rb1f3881c70a34e39"/>
    <p:sldId xmlns:r="http://schemas.openxmlformats.org/officeDocument/2006/relationships" id="258" r:id="R99b415b38e814dd0"/>
    <p:sldId xmlns:r="http://schemas.openxmlformats.org/officeDocument/2006/relationships" id="259" r:id="Rd7cf497fbf874e79"/>
    <p:sldId xmlns:r="http://schemas.openxmlformats.org/officeDocument/2006/relationships" id="260" r:id="R83513c06b0224af6"/>
    <p:sldId xmlns:r="http://schemas.openxmlformats.org/officeDocument/2006/relationships" id="261" r:id="Rea09d255739b4cbd"/>
    <p:sldId xmlns:r="http://schemas.openxmlformats.org/officeDocument/2006/relationships" id="262" r:id="Re770bee58541408d"/>
    <p:sldId xmlns:r="http://schemas.openxmlformats.org/officeDocument/2006/relationships" id="263" r:id="Rec1f16beb3b343ab"/>
    <p:sldId xmlns:r="http://schemas.openxmlformats.org/officeDocument/2006/relationships" id="264" r:id="R66ce80097c274772"/>
    <p:sldId xmlns:r="http://schemas.openxmlformats.org/officeDocument/2006/relationships" id="265" r:id="Ra38a69a5902a402c"/>
    <p:sldId xmlns:r="http://schemas.openxmlformats.org/officeDocument/2006/relationships" id="266" r:id="Rb3c8d3223b194a1c"/>
    <p:sldId xmlns:r="http://schemas.openxmlformats.org/officeDocument/2006/relationships" id="267" r:id="R78993eac1b5b4a4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6b26368afa4805" /><Relationship Type="http://schemas.openxmlformats.org/officeDocument/2006/relationships/slideMaster" Target="/ppt/slideMasters/slideMaster1.xml" Id="R7aed99f3b1db4148" /><Relationship Type="http://schemas.openxmlformats.org/officeDocument/2006/relationships/notesMaster" Target="/ppt/notesMasters/notesMaster1.xml" Id="R9a690015457248e6" /><Relationship Type="http://schemas.openxmlformats.org/officeDocument/2006/relationships/presProps" Target="/ppt/presProps.xml" Id="Rc616b6a14a14490a" /><Relationship Type="http://schemas.openxmlformats.org/officeDocument/2006/relationships/tableStyles" Target="/ppt/tableStyles.xml" Id="Rd69c08e4d4ff49c8" /><Relationship Type="http://schemas.openxmlformats.org/officeDocument/2006/relationships/slide" Target="/ppt/slides/slide1.xml" Id="R92f175fd58bd4d34" /><Relationship Type="http://schemas.openxmlformats.org/officeDocument/2006/relationships/slide" Target="/ppt/slides/slide2.xml" Id="Rb1f3881c70a34e39" /><Relationship Type="http://schemas.openxmlformats.org/officeDocument/2006/relationships/slide" Target="/ppt/slides/slide3.xml" Id="R99b415b38e814dd0" /><Relationship Type="http://schemas.openxmlformats.org/officeDocument/2006/relationships/slide" Target="/ppt/slides/slide4.xml" Id="Rd7cf497fbf874e79" /><Relationship Type="http://schemas.openxmlformats.org/officeDocument/2006/relationships/slide" Target="/ppt/slides/slide5.xml" Id="R83513c06b0224af6" /><Relationship Type="http://schemas.openxmlformats.org/officeDocument/2006/relationships/slide" Target="/ppt/slides/slide6.xml" Id="Rea09d255739b4cbd" /><Relationship Type="http://schemas.openxmlformats.org/officeDocument/2006/relationships/slide" Target="/ppt/slides/slide7.xml" Id="Re770bee58541408d" /><Relationship Type="http://schemas.openxmlformats.org/officeDocument/2006/relationships/slide" Target="/ppt/slides/slide8.xml" Id="Rec1f16beb3b343ab" /><Relationship Type="http://schemas.openxmlformats.org/officeDocument/2006/relationships/slide" Target="/ppt/slides/slide9.xml" Id="R66ce80097c274772" /><Relationship Type="http://schemas.openxmlformats.org/officeDocument/2006/relationships/slide" Target="/ppt/slides/slide10.xml" Id="Ra38a69a5902a402c" /><Relationship Type="http://schemas.openxmlformats.org/officeDocument/2006/relationships/slide" Target="/ppt/slides/slide11.xml" Id="Rb3c8d3223b194a1c" /><Relationship Type="http://schemas.openxmlformats.org/officeDocument/2006/relationships/slide" Target="/ppt/slides/slide12.xml" Id="R78993eac1b5b4a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022881d3b74b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242d7ce8aa409d" /><Relationship Type="http://schemas.openxmlformats.org/officeDocument/2006/relationships/notesMaster" Target="/ppt/notesMasters/notesMaster1.xml" Id="R86b8b3d60bb941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7f46793d2c4b25" /><Relationship Type="http://schemas.openxmlformats.org/officeDocument/2006/relationships/notesMaster" Target="/ppt/notesMasters/notesMaster1.xml" Id="Rf9284705dd984f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cbb1f6e0f649bb" /><Relationship Type="http://schemas.openxmlformats.org/officeDocument/2006/relationships/notesMaster" Target="/ppt/notesMasters/notesMaster1.xml" Id="R2921ac1d93a14f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a472cb8e7a418c" /><Relationship Type="http://schemas.openxmlformats.org/officeDocument/2006/relationships/notesMaster" Target="/ppt/notesMasters/notesMaster1.xml" Id="R4f56d50432184d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e945ba87584f6c" /><Relationship Type="http://schemas.openxmlformats.org/officeDocument/2006/relationships/notesMaster" Target="/ppt/notesMasters/notesMaster1.xml" Id="R283469359a1d44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23a1f8c17149a2" /><Relationship Type="http://schemas.openxmlformats.org/officeDocument/2006/relationships/notesMaster" Target="/ppt/notesMasters/notesMaster1.xml" Id="Rd121cb20efcc47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012877fd9c4991" /><Relationship Type="http://schemas.openxmlformats.org/officeDocument/2006/relationships/notesMaster" Target="/ppt/notesMasters/notesMaster1.xml" Id="Rb536b109306243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f7f4cecd46447c" /><Relationship Type="http://schemas.openxmlformats.org/officeDocument/2006/relationships/notesMaster" Target="/ppt/notesMasters/notesMaster1.xml" Id="R8661df82731d4a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c611fbec2d4399" /><Relationship Type="http://schemas.openxmlformats.org/officeDocument/2006/relationships/notesMaster" Target="/ppt/notesMasters/notesMaster1.xml" Id="R0f66459e652640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6b2dcd5990456f" /><Relationship Type="http://schemas.openxmlformats.org/officeDocument/2006/relationships/notesMaster" Target="/ppt/notesMasters/notesMaster1.xml" Id="R27bf34b1be0a49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515fae70954e29" /><Relationship Type="http://schemas.openxmlformats.org/officeDocument/2006/relationships/notesMaster" Target="/ppt/notesMasters/notesMaster1.xml" Id="R089e8691c26148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58155555754b04" /><Relationship Type="http://schemas.openxmlformats.org/officeDocument/2006/relationships/notesMaster" Target="/ppt/notesMasters/notesMaster1.xml" Id="Rd554f6817bfd4a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25 seconds: Introduce Nova as a local voice companion with persistent personal memory. Explain that the implementation combines established models rather than training a new one. The Windows prototype and automated policies have evidence. Pi 5 is a deployment target with implemented preparation and GPIO code, but its physical operation remains unverified. Do not use always-on to imply uninterrupted full-duplex recording.</a:t>
            </a:r>
          </a:p>
          <a:p xmlns:a="http://schemas.openxmlformats.org/drawingml/2006/main">
            <a:r>
              <a:t/>
            </a:r>
          </a:p>
          <a:p xmlns:a="http://schemas.openxmlformats.org/drawingml/2006/main">
            <a:r>
              <a:t>Repository evidence: scripts/always_on_assistant.py; config.py; docs/DEVELOPMENT_STATUS.md</a:t>
            </a:r>
          </a:p>
          <a:p xmlns:a="http://schemas.openxmlformats.org/drawingml/2006/main">
            <a:r>
              <a:t>Cover artwork is an AI-generated abstract illustration, not a photo of prototype hardware.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Frame these as design motivations, not validated market statistics. Personal assistants should remain useful when the external network is unavailable. Repeatedly restating personal information is inconvenient. Continuous sensing needs understandable controls. Nova attempts to address these needs locally. The repository does not provide user research or quantified market validation.</a:t>
            </a:r>
          </a:p>
          <a:p xmlns:a="http://schemas.openxmlformats.org/drawingml/2006/main">
            <a:r>
              <a:t/>
            </a:r>
          </a:p>
          <a:p xmlns:a="http://schemas.openxmlformats.org/drawingml/2006/main">
            <a:r>
              <a:t>Repository evidence: project description in pyproject.toml; core/privacy.py; memory/database.py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the complete local integration. Emphasize confirmed facts versus unidentified passive observations, deterministic tools, transactional memory changes and shared privacy gates. Optional passive extraction defaults off. This is integration innovation rather than a new foundation model. Online weather/news are a clearly separate opt-in branch.</a:t>
            </a:r>
          </a:p>
          <a:p xmlns:a="http://schemas.openxmlformats.org/drawingml/2006/main">
            <a:r>
              <a:t/>
            </a:r>
          </a:p>
          <a:p xmlns:a="http://schemas.openxmlformats.org/drawingml/2006/main">
            <a:r>
              <a:t>Repository evidence: core/assistant.py; memory/passive_processor.py; memory/management.py; tools/lifecycle.py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Walk the top row from mic through RMS VAD to whisper.cpp and transcript activation. Follow active commands to Assistant, local memory or loopback Ollama, then Piper and speaker. Background speech enters only the optional passive worker. Explain reminders route through the main output loop. The amber boundary is explicit weather/news, not cloud inference. Navy dashed arrows are control. GPIO supplies software permission and reflects state. Plaintext storage and unverified Pi hardware are visible limitations.</a:t>
            </a:r>
          </a:p>
          <a:p xmlns:a="http://schemas.openxmlformats.org/drawingml/2006/main">
            <a:r>
              <a:t/>
            </a:r>
          </a:p>
          <a:p xmlns:a="http://schemas.openxmlformats.org/drawingml/2006/main">
            <a:r>
              <a:t>Repository evidence: scripts/always_on_assistant.py:70; src/offline_ai_companion/audio/continuous_recorder.py:23; src/offline_ai_companion/audio/vad.py:5; src/offline_ai_companion/stt/whisper.py:15; src/offline_ai_companion/core/wake_detector.py:20; src/offline_ai_companion/core/assistant.py:31; src/offline_ai_companion/core/hardware.py:164; src/offline_ai_companion/core/pi_deployment.py:50; src/offline_ai_companion/core/systemd_units.py:1; src/offline_ai_companion/tools/online_tools.py:1; src/offline_ai_companion/memory/hybrid_retriever.py:1; src/offline_ai_companion/core/privacy_policy.py:1; src/offline_ai_companion/main.py:7</a:t>
            </a:r>
          </a:p>
          <a:p xmlns:a="http://schemas.openxmlformats.org/drawingml/2006/main">
            <a:r>
              <a:t>The compact diagram groups routing, memory tools and scheduler output inside the main loop. Local model traffic is loopback. The optional passive worker can use local Ollama for extraction and writes grounded observations to SQLite. GPIO state is software permission, not electrical cutoff. Physical Pi operation is not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All stack choices come from adapters and configuration. Clarify that the declared application runtime is Python 3.13, while bundled Python 3.12 is used only for artifact authoring and qualified audit checks. tiny.en and lessac are platform defaults. GPIO uses local gpiozero/LGPIOFactory rather than remote pins. No embeddings are in this implementation.</a:t>
            </a:r>
          </a:p>
          <a:p xmlns:a="http://schemas.openxmlformats.org/drawingml/2006/main">
            <a:r>
              <a:t/>
            </a:r>
          </a:p>
          <a:p xmlns:a="http://schemas.openxmlformats.org/drawingml/2006/main">
            <a:r>
              <a:t>Repository evidence: pyproject.toml; config.py; core/platform_config.py; core/hardware.py; deployment/raspberry-pi/nova.env.example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A typical utterance ends after one second of silence. STT precedes wake handling. Wake+command activates directly, and wake-only permits a single eight-second follow-up. Most tool/recall paths avoid general model generation. Capture resumes after output and0.3-second settling. Background speech does not receive an answer. The flow is half-duplex, so users should wait for listening before speaking again.</a:t>
            </a:r>
          </a:p>
          <a:p xmlns:a="http://schemas.openxmlformats.org/drawingml/2006/main">
            <a:r>
              <a:t/>
            </a:r>
          </a:p>
          <a:p xmlns:a="http://schemas.openxmlformats.org/drawingml/2006/main">
            <a:r>
              <a:t>Repository evidence: audio/continuous_recorder.py; stt/whisper.py; core/activation_controller.py; scripts/always_on_assistant.py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SQLite holds separate facts, notes, tasks, reminders and evidence-bearing passive records. Conversation history stays in RAM with ten-turn and4,000-character bounds. Hybrid recall uses a bounded concept lexicon, not embeddings. Management confirmations expire and recheck rows within a transaction. Do not say every creation requires confirmation: legacy name, explicit note/task and reminder creation are direct-write exceptions. Historical1,278-pass checkpoint is not the new audit result. The saved qualified test run contains 1,272 passes and six subprocess environment failures.</a:t>
            </a:r>
          </a:p>
          <a:p xmlns:a="http://schemas.openxmlformats.org/drawingml/2006/main">
            <a:r>
              <a:t/>
            </a:r>
          </a:p>
          <a:p xmlns:a="http://schemas.openxmlformats.org/drawingml/2006/main">
            <a:r>
              <a:t>Repository evidence: memory/database.py; memory/hybrid_retriever.py; core/conversation.py; memory/management.py; tools/lifecycle.py; docs/DEVELOPMENT_STATUS.md</a:t>
            </a:r>
          </a:p>
          <a:p xmlns:a="http://schemas.openxmlformats.org/drawingml/2006/main">
            <a:r>
              <a:t>Examples on this slide are synthetic explanatory examples, not stored personal data. Passive storage is opt-in and does not identify the owner or automatically create tasks. Most fact changes require confirmation, but direct note/task/reminder creation and the legacy name path are exceptions. Do not promise confirmation for every write.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Explain intended wiring and fail-closed permission behavior, not a proven hardware demo. Default BCM17 / 27 / 22 drive RGB and BCM23 reads the switch. Listening green, processing/speaking blue and mute red. Restart starts muted and needs deliberate stable switch cycling. GPIO faults latch mute. Headless production requires LinuxARM64 with local lgpio. Provisioning/setup and systemd templates exist, but actual GPIO, ALSA, boot and model performance are unverified. The switch does not disconnect mic power.</a:t>
            </a:r>
          </a:p>
          <a:p xmlns:a="http://schemas.openxmlformats.org/drawingml/2006/main">
            <a:r>
              <a:t/>
            </a:r>
          </a:p>
          <a:p xmlns:a="http://schemas.openxmlformats.org/drawingml/2006/main">
            <a:r>
              <a:t>Repository evidence: core/hardware.py; core/service_runtime.py; core/pi_deployment.py; deployment/raspberry-pi/README.md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Demonstration, about two minutes within the pitch if time permits: Use a synthetic isolated SQLite path and preloaded models. Say Nova explain a solar eclipse in one sentence. Save Alex via name command and pizza via proposed favorite+yes. Add a one-minute water reminder. Restart with same DB and recall name/favorite. Show a task and its displayedID. Mute withM and verify muted speech creates no task. Explain exact wording can vary. Use the actual always_on_assistant script, not the startup-only packagedCLI. If the interpreter/device fails, label the text-mode fallback honestly.</a:t>
            </a:r>
          </a:p>
          <a:p xmlns:a="http://schemas.openxmlformats.org/drawingml/2006/main">
            <a:r>
              <a:t/>
            </a:r>
          </a:p>
          <a:p xmlns:a="http://schemas.openxmlformats.org/drawingml/2006/main">
            <a:r>
              <a:t>Repository evidence: scripts/always_on_assistant.py; scripts/assistant_test.py; demo-script.md; tools/memory_tools.py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Disclose limits concretely. RMSVAD is susceptible to venue noise and transcript-based activation incursSTT cost before wake. Sequential processing has capture gaps. Small model context can constrain memory prompts. SQLite is plaintext, speaker identity is absent and electrical cutoff is absent. NoAEC/full-duplex exists. Pi, provider and multi-hour physical evidence need validation. The audit found StorePython/venv inaccessible in this environment, empty root docs and a nonportable Windows freeze. These must be addressed before claiming easy deployment.</a:t>
            </a:r>
          </a:p>
          <a:p xmlns:a="http://schemas.openxmlformats.org/drawingml/2006/main">
            <a:r>
              <a:t/>
            </a:r>
          </a:p>
          <a:p xmlns:a="http://schemas.openxmlformats.org/drawingml/2006/main">
            <a:r>
              <a:t>Repository evidence: audio/vad.py; core/wake_detector.py; core/hardware.py; core/assistant.py; docs/DEVELOPMENT_STATUS.md; requirements.txt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These are recommendations, not completed features. Prioritize physical Pi validation and repeatable packaging before expanding scope. Measure thermal/resource/latency and long-running reliability. Then consider acoustic wake/VAD, authenticated voice commands, consent/retention controls, encrypted storage and true electrical mic disconnect. Full-duplex and broader integrations require their own implementation. No invented milestones, user metrics or promised model performance.</a:t>
            </a:r>
          </a:p>
          <a:p xmlns:a="http://schemas.openxmlformats.org/drawingml/2006/main">
            <a:r>
              <a:t/>
            </a:r>
          </a:p>
          <a:p xmlns:a="http://schemas.openxmlformats.org/drawingml/2006/main">
            <a:r>
              <a:t>Repository evidence: repository-evaluation.md recommendations; docs/LONG_RUNNING_VALIDATION.md; deployment/raspberry-pi/README.md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Closing,25 seconds: Nova demonstrates a coherent local voice architecture with persistent memory, deterministic tools and software privacy gates. The repository contains substantial automated test coverage and bounded recovery policies. State clearly that target hardware and sustained physical reliability are next validation gates. Invite questions and keep jury-cross-questions.md nearby. Avoid promising encrypted, authenticated or uninterrupted listening behavior.</a:t>
            </a:r>
          </a:p>
          <a:p xmlns:a="http://schemas.openxmlformats.org/drawingml/2006/main">
            <a:r>
              <a:t/>
            </a:r>
          </a:p>
          <a:p xmlns:a="http://schemas.openxmlformats.org/drawingml/2006/main">
            <a:r>
              <a:t>Repository evidence: scripts/always_on_assistant.py; docs/DEVELOPMENT_STATUS.md; repository-evaluation.md</a:t>
            </a:r>
          </a:p>
          <a:p xmlns:a="http://schemas.openxmlformats.org/drawingml/2006/main">
            <a:r>
              <a:t>Closing artwork is an AI-generated abstract illustration. Invite questions on the local voice path, privacy boundaries and deployment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ed629a60c74b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a108e082f94e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526115e0044a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bffbe0bc7b4f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3fa06d3fa84c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f3d396bbfc43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B5F2F-F14B-4A69-87CB-780E09E598B2}"/>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D3266B-4A16-4B2D-92E9-3BED8241E396}"/>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2E349C-55BC-4784-B52C-CECB65CF5EAD}"/>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639B2E-13F7-42EF-A854-A883C739673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BF7202-1F39-41D8-AE52-C6DB3DA9487E}"/>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25ED31-1E43-452A-AC87-06C0CA839A9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115871-9288-40BC-97A7-B20768339E0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29A1B6A-6116-4386-87F7-0454C773E90C}"/>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C80B3D-75C1-421A-B339-409222ADC46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2EE377-27AA-4BB7-9071-9C0B89EE2EA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88252e499846bf" /><Relationship Type="http://schemas.openxmlformats.org/officeDocument/2006/relationships/slideLayout" Target="/ppt/slideLayouts/slideLayout1.xml" Id="R5bf278f23f3b4bfa" /><Relationship Type="http://schemas.openxmlformats.org/officeDocument/2006/relationships/slideLayout" Target="/ppt/slideLayouts/slideLayout2.xml" Id="R7cde566170764f0e" /><Relationship Type="http://schemas.openxmlformats.org/officeDocument/2006/relationships/slideLayout" Target="/ppt/slideLayouts/slideLayout3.xml" Id="Rf3cce193899a4458" /><Relationship Type="http://schemas.openxmlformats.org/officeDocument/2006/relationships/slideLayout" Target="/ppt/slideLayouts/slideLayout4.xml" Id="R7bec9acb12a242f5" /><Relationship Type="http://schemas.openxmlformats.org/officeDocument/2006/relationships/slideLayout" Target="/ppt/slideLayouts/slideLayout5.xml" Id="Rd658a5080a9d4766" /><Relationship Type="http://schemas.openxmlformats.org/officeDocument/2006/relationships/slideLayout" Target="/ppt/slideLayouts/slideLayout6.xml" Id="R2e586f042d1144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f278f23f3b4bfa"/>
    <p:sldLayoutId xmlns:r="http://schemas.openxmlformats.org/officeDocument/2006/relationships" id="2147483650" r:id="R7cde566170764f0e"/>
    <p:sldLayoutId xmlns:r="http://schemas.openxmlformats.org/officeDocument/2006/relationships" id="2147483651" r:id="Rf3cce193899a4458"/>
    <p:sldLayoutId xmlns:r="http://schemas.openxmlformats.org/officeDocument/2006/relationships" id="2147483652" r:id="R7bec9acb12a242f5"/>
    <p:sldLayoutId xmlns:r="http://schemas.openxmlformats.org/officeDocument/2006/relationships" id="2147483653" r:id="Rd658a5080a9d4766"/>
    <p:sldLayoutId xmlns:r="http://schemas.openxmlformats.org/officeDocument/2006/relationships" id="2147483654" r:id="R2e586f042d1144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ba682b491f4e85" /><Relationship Type="http://schemas.openxmlformats.org/officeDocument/2006/relationships/image" Target="/ppt/media/image.png" Id="Rb9f653d042b64eff" /><Relationship Type="http://schemas.openxmlformats.org/officeDocument/2006/relationships/notesSlide" Target="/ppt/notesSlides/notesSlide1.xml" Id="Re9aee4eee6c346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14824f93ba4fc8" /><Relationship Type="http://schemas.openxmlformats.org/officeDocument/2006/relationships/notesSlide" Target="/ppt/notesSlides/notesSlide2.xml" Id="R8bdf6ff021d24b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7509c8b01084558" /><Relationship Type="http://schemas.openxmlformats.org/officeDocument/2006/relationships/notesSlide" Target="/ppt/notesSlides/notesSlide3.xml" Id="R47aebbdee8a84a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306df83a7448bb" /><Relationship Type="http://schemas.openxmlformats.org/officeDocument/2006/relationships/notesSlide" Target="/ppt/notesSlides/notesSlide4.xml" Id="R504c9e43116a40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211aad27bb4467" /><Relationship Type="http://schemas.openxmlformats.org/officeDocument/2006/relationships/notesSlide" Target="/ppt/notesSlides/notesSlide5.xml" Id="R1c3e4450e98645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ec3adead494685" /><Relationship Type="http://schemas.openxmlformats.org/officeDocument/2006/relationships/notesSlide" Target="/ppt/notesSlides/notesSlide6.xml" Id="R4bc60fdfcc7047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91ae4519744b23" /><Relationship Type="http://schemas.openxmlformats.org/officeDocument/2006/relationships/notesSlide" Target="/ppt/notesSlides/notesSlide7.xml" Id="R1ef5fa2fda27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b73b0508a149fa" /><Relationship Type="http://schemas.openxmlformats.org/officeDocument/2006/relationships/notesSlide" Target="/ppt/notesSlides/notesSlide8.xml" Id="R4c591e4877eb48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2b1905cda69468a" /><Relationship Type="http://schemas.openxmlformats.org/officeDocument/2006/relationships/notesSlide" Target="/ppt/notesSlides/notesSlide9.xml" Id="R5e934399969140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251edb99204ee9" /><Relationship Type="http://schemas.openxmlformats.org/officeDocument/2006/relationships/notesSlide" Target="/ppt/notesSlides/notesSlide10.xml" Id="R7aee5921b2b145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04154bc0ee14ed8" /><Relationship Type="http://schemas.openxmlformats.org/officeDocument/2006/relationships/notesSlide" Target="/ppt/notesSlides/notesSlide11.xml" Id="R343a8d79073f4e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8b2303510074b57" /><Relationship Type="http://schemas.openxmlformats.org/officeDocument/2006/relationships/image" Target="/ppt/media/image2.png" Id="R98f4403c23594ad0" /><Relationship Type="http://schemas.openxmlformats.org/officeDocument/2006/relationships/notesSlide" Target="/ppt/notesSlides/notesSlide12.xml" Id="Ra6ed57cadac84902" /></Relationships>
</file>

<file path=ppt/slides/slide1.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8" name="NOVA">
            <a:extLst xmlns:a="http://schemas.openxmlformats.org/drawingml/2006/main">
              <a:ext uri="{FF2B5EF4-FFF2-40B4-BE49-F238E27FC236}">
                <a16:creationId xmlns:a16="http://schemas.microsoft.com/office/drawing/2014/main" id="{4F1AB76E-F39A-4BB9-A037-D7048692E4EA}"/>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9BF2C7"/>
                </a:solidFill>
                <a:latin typeface="Arial"/>
                <a:ea typeface="Arial"/>
                <a:cs typeface="Arial"/>
              </a:defRPr>
            </a:defPPr>
          </a:lstStyle>
          <a:p xmlns:a="http://schemas.openxmlformats.org/drawingml/2006/main">
            <a:pPr algn="l">
              <a:defRPr sz="1425" b="1">
                <a:solidFill>
                  <a:srgbClr val="9BF2C7"/>
                </a:solidFill>
                <a:latin typeface="Arial"/>
                <a:ea typeface="Arial"/>
                <a:cs typeface="Arial"/>
              </a:defRPr>
            </a:pPr>
            <a:r>
              <a:rPr sz="1425" b="1">
                <a:solidFill>
                  <a:srgbClr val="9BF2C7"/>
                </a:solidFill>
                <a:latin typeface="Arial"/>
                <a:ea typeface="Arial"/>
                <a:cs typeface="Arial"/>
              </a:rPr>
              <a:t>NOVA</a:t>
            </a:r>
          </a:p>
        </p:txBody>
      </p:sp>
      <p:sp>
        <p:nvSpPr>
          <p:cNvPr id="2" name="01">
            <a:extLst xmlns:a="http://schemas.openxmlformats.org/drawingml/2006/main">
              <a:ext uri="{FF2B5EF4-FFF2-40B4-BE49-F238E27FC236}">
                <a16:creationId xmlns:a16="http://schemas.microsoft.com/office/drawing/2014/main" id="{7FC9DBCD-CCCD-460B-B4AF-71AEE197B8CA}"/>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B"/>
                </a:solidFill>
                <a:latin typeface="Arial"/>
                <a:ea typeface="Arial"/>
                <a:cs typeface="Arial"/>
              </a:defRPr>
            </a:defPPr>
          </a:lstStyle>
          <a:p xmlns:a="http://schemas.openxmlformats.org/drawingml/2006/main">
            <a:pPr algn="r">
              <a:defRPr sz="1350" b="0">
                <a:solidFill>
                  <a:srgbClr val="AEC0CB"/>
                </a:solidFill>
                <a:latin typeface="Arial"/>
                <a:ea typeface="Arial"/>
                <a:cs typeface="Arial"/>
              </a:defRPr>
            </a:pPr>
            <a:r>
              <a:rPr sz="1350" b="0">
                <a:solidFill>
                  <a:srgbClr val="AEC0CB"/>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2BED7CCF-60B3-4F1E-8E6B-CB4F2CF16732}"/>
              </a:ext>
            </a:extLst>
          </p:cNvPr>
          <p:cNvPicPr>
            <a:picLocks xmlns:a="http://schemas.openxmlformats.org/drawingml/2006/main" noChangeAspect="1"/>
          </p:cNvPicPr>
          <p:nvPr/>
        </p:nvPicPr>
        <p:blipFill>
          <a:blip xmlns:r="http://schemas.openxmlformats.org/officeDocument/2006/relationships" xmlns:a="http://schemas.openxmlformats.org/drawingml/2006/main" r:embed="Rb9f653d042b64eff"/>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4" name="NOVA">
            <a:extLst xmlns:a="http://schemas.openxmlformats.org/drawingml/2006/main">
              <a:ext uri="{FF2B5EF4-FFF2-40B4-BE49-F238E27FC236}">
                <a16:creationId xmlns:a16="http://schemas.microsoft.com/office/drawing/2014/main" id="{0DBE444A-7DE7-46E8-8337-CFDBE31AFA75}"/>
              </a:ext>
            </a:extLst>
          </p:cNvPr>
          <p:cNvSpPr>
            <a:spLocks xmlns:a="http://schemas.openxmlformats.org/drawingml/2006/main" noGrp="1"/>
          </p:cNvSpPr>
          <p:nvPr/>
        </p:nvSpPr>
        <p:spPr>
          <a:xfrm xmlns:a="http://schemas.openxmlformats.org/drawingml/2006/main">
            <a:off x="762000" y="1714500"/>
            <a:ext cx="8096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700" b="1">
                <a:solidFill>
                  <a:srgbClr val="F5F4EE"/>
                </a:solidFill>
                <a:latin typeface="Arial"/>
                <a:ea typeface="Arial"/>
                <a:cs typeface="Arial"/>
              </a:defRPr>
            </a:defPPr>
          </a:lstStyle>
          <a:p xmlns:a="http://schemas.openxmlformats.org/drawingml/2006/main">
            <a:pPr algn="l">
              <a:defRPr sz="11700" b="1">
                <a:solidFill>
                  <a:srgbClr val="F5F4EE"/>
                </a:solidFill>
                <a:latin typeface="Arial"/>
                <a:ea typeface="Arial"/>
                <a:cs typeface="Arial"/>
              </a:defRPr>
            </a:pPr>
            <a:r>
              <a:rPr sz="11700" b="1">
                <a:solidFill>
                  <a:srgbClr val="F5F4EE"/>
                </a:solidFill>
                <a:latin typeface="Arial"/>
                <a:ea typeface="Arial"/>
                <a:cs typeface="Arial"/>
              </a:rPr>
              <a:t>NOVA</a:t>
            </a:r>
          </a:p>
        </p:txBody>
      </p:sp>
      <p:sp>
        <p:nvSpPr>
          <p:cNvPr id="5" name="Personal AI,&#10;on your own device">
            <a:extLst xmlns:a="http://schemas.openxmlformats.org/drawingml/2006/main">
              <a:ext uri="{FF2B5EF4-FFF2-40B4-BE49-F238E27FC236}">
                <a16:creationId xmlns:a16="http://schemas.microsoft.com/office/drawing/2014/main" id="{7D473B65-2E97-492C-ACD7-270ED12D009A}"/>
              </a:ext>
            </a:extLst>
          </p:cNvPr>
          <p:cNvSpPr>
            <a:spLocks xmlns:a="http://schemas.openxmlformats.org/drawingml/2006/main" noGrp="1"/>
          </p:cNvSpPr>
          <p:nvPr/>
        </p:nvSpPr>
        <p:spPr>
          <a:xfrm xmlns:a="http://schemas.openxmlformats.org/drawingml/2006/main">
            <a:off x="838200" y="3762375"/>
            <a:ext cx="7524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9BF2C7"/>
                </a:solidFill>
                <a:latin typeface="Arial"/>
                <a:ea typeface="Arial"/>
                <a:cs typeface="Arial"/>
              </a:defRPr>
            </a:defPPr>
          </a:lstStyle>
          <a:p xmlns:a="http://schemas.openxmlformats.org/drawingml/2006/main">
            <a:pPr algn="l">
              <a:defRPr sz="4800" b="1">
                <a:solidFill>
                  <a:srgbClr val="9BF2C7"/>
                </a:solidFill>
                <a:latin typeface="Arial"/>
                <a:ea typeface="Arial"/>
                <a:cs typeface="Arial"/>
              </a:defRPr>
            </a:pPr>
            <a:r>
              <a:rPr sz="4800" b="1">
                <a:solidFill>
                  <a:srgbClr val="9BF2C7"/>
                </a:solidFill>
                <a:latin typeface="Arial"/>
                <a:ea typeface="Arial"/>
                <a:cs typeface="Arial"/>
              </a:rPr>
              <a:t>Personal AI,</a:t>
            </a:r>
          </a:p>
          <a:p xmlns:a="http://schemas.openxmlformats.org/drawingml/2006/main">
            <a:pPr algn="l">
              <a:defRPr sz="4800" b="1">
                <a:solidFill>
                  <a:srgbClr val="9BF2C7"/>
                </a:solidFill>
                <a:latin typeface="Arial"/>
                <a:ea typeface="Arial"/>
                <a:cs typeface="Arial"/>
              </a:defRPr>
            </a:pPr>
            <a:r>
              <a:rPr sz="4800" b="1">
                <a:solidFill>
                  <a:srgbClr val="9BF2C7"/>
                </a:solidFill>
                <a:latin typeface="Arial"/>
                <a:ea typeface="Arial"/>
                <a:cs typeface="Arial"/>
              </a:rPr>
              <a:t>on your own device</a:t>
            </a:r>
          </a:p>
        </p:txBody>
      </p:sp>
      <p:sp>
        <p:nvSpPr>
          <p:cNvPr id="6" name="Offline voice assistance with persistent memo">
            <a:extLst xmlns:a="http://schemas.openxmlformats.org/drawingml/2006/main">
              <a:ext uri="{FF2B5EF4-FFF2-40B4-BE49-F238E27FC236}">
                <a16:creationId xmlns:a16="http://schemas.microsoft.com/office/drawing/2014/main" id="{83D06F31-0569-46A1-AD73-C1A7492A7287}"/>
              </a:ext>
            </a:extLst>
          </p:cNvPr>
          <p:cNvSpPr>
            <a:spLocks xmlns:a="http://schemas.openxmlformats.org/drawingml/2006/main" noGrp="1"/>
          </p:cNvSpPr>
          <p:nvPr/>
        </p:nvSpPr>
        <p:spPr>
          <a:xfrm xmlns:a="http://schemas.openxmlformats.org/drawingml/2006/main">
            <a:off x="857250" y="61912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4EE"/>
                </a:solidFill>
                <a:latin typeface="Arial"/>
                <a:ea typeface="Arial"/>
                <a:cs typeface="Arial"/>
              </a:defRPr>
            </a:defPPr>
          </a:lstStyle>
          <a:p xmlns:a="http://schemas.openxmlformats.org/drawingml/2006/main">
            <a:pPr algn="l">
              <a:defRPr sz="2175" b="0">
                <a:solidFill>
                  <a:srgbClr val="F5F4EE"/>
                </a:solidFill>
                <a:latin typeface="Arial"/>
                <a:ea typeface="Arial"/>
                <a:cs typeface="Arial"/>
              </a:defRPr>
            </a:pPr>
            <a:r>
              <a:rPr sz="2175" b="0">
                <a:solidFill>
                  <a:srgbClr val="F5F4EE"/>
                </a:solidFill>
                <a:latin typeface="Arial"/>
                <a:ea typeface="Arial"/>
                <a:cs typeface="Arial"/>
              </a:rPr>
              <a:t>Offline voice assistance with persistent memory</a:t>
            </a:r>
          </a:p>
        </p:txBody>
      </p:sp>
      <p:sp>
        <p:nvSpPr>
          <p:cNvPr id="7" name="Hackathon presentation / October 2026">
            <a:extLst xmlns:a="http://schemas.openxmlformats.org/drawingml/2006/main">
              <a:ext uri="{FF2B5EF4-FFF2-40B4-BE49-F238E27FC236}">
                <a16:creationId xmlns:a16="http://schemas.microsoft.com/office/drawing/2014/main" id="{733D0D71-4A55-46E4-8002-CE78EBE42FD8}"/>
              </a:ext>
            </a:extLst>
          </p:cNvPr>
          <p:cNvSpPr>
            <a:spLocks xmlns:a="http://schemas.openxmlformats.org/drawingml/2006/main" noGrp="1"/>
          </p:cNvSpPr>
          <p:nvPr/>
        </p:nvSpPr>
        <p:spPr>
          <a:xfrm xmlns:a="http://schemas.openxmlformats.org/drawingml/2006/main">
            <a:off x="857250" y="76771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C0CB"/>
                </a:solidFill>
                <a:latin typeface="Arial"/>
                <a:ea typeface="Arial"/>
                <a:cs typeface="Arial"/>
              </a:defRPr>
            </a:defPPr>
          </a:lstStyle>
          <a:p xmlns:a="http://schemas.openxmlformats.org/drawingml/2006/main">
            <a:pPr algn="l">
              <a:defRPr sz="1500" b="0">
                <a:solidFill>
                  <a:srgbClr val="AEC0CB"/>
                </a:solidFill>
                <a:latin typeface="Arial"/>
                <a:ea typeface="Arial"/>
                <a:cs typeface="Arial"/>
              </a:defRPr>
            </a:pPr>
            <a:r>
              <a:rPr sz="1500" b="0">
                <a:solidFill>
                  <a:srgbClr val="AEC0CB"/>
                </a:solidFill>
                <a:latin typeface="Arial"/>
                <a:ea typeface="Arial"/>
                <a:cs typeface="Arial"/>
              </a:rPr>
              <a:t>Hackathon presentation / October 2026</a:t>
            </a:r>
          </a:p>
        </p:txBody>
      </p:sp>
    </p:spTree>
    <p:extLst>
      <p:ext uri="{BB962C8B-B14F-4D97-AF65-F5344CB8AC3E}">
        <p14:creationId xmlns:p14="http://schemas.microsoft.com/office/powerpoint/2010/main" val="1092162725"/>
      </p:ext>
    </p:extLst>
  </p:cSld>
</p:sld>
</file>

<file path=ppt/slides/slide2.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8" name="NOVA">
            <a:extLst xmlns:a="http://schemas.openxmlformats.org/drawingml/2006/main">
              <a:ext uri="{FF2B5EF4-FFF2-40B4-BE49-F238E27FC236}">
                <a16:creationId xmlns:a16="http://schemas.microsoft.com/office/drawing/2014/main" id="{F8BCB9DD-9E33-45A7-8895-7399AE83BF3D}"/>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7C65"/>
                </a:solidFill>
                <a:latin typeface="Arial"/>
                <a:ea typeface="Arial"/>
                <a:cs typeface="Arial"/>
              </a:defRPr>
            </a:defPPr>
          </a:lstStyle>
          <a:p xmlns:a="http://schemas.openxmlformats.org/drawingml/2006/main">
            <a:pPr algn="l">
              <a:defRPr sz="1425" b="1">
                <a:solidFill>
                  <a:srgbClr val="007C65"/>
                </a:solidFill>
                <a:latin typeface="Arial"/>
                <a:ea typeface="Arial"/>
                <a:cs typeface="Arial"/>
              </a:defRPr>
            </a:pPr>
            <a:r>
              <a:rPr sz="1425" b="1">
                <a:solidFill>
                  <a:srgbClr val="007C65"/>
                </a:solidFill>
                <a:latin typeface="Arial"/>
                <a:ea typeface="Arial"/>
                <a:cs typeface="Arial"/>
              </a:rPr>
              <a:t>NOVA</a:t>
            </a:r>
          </a:p>
        </p:txBody>
      </p:sp>
      <p:sp>
        <p:nvSpPr>
          <p:cNvPr id="2" name="02">
            <a:extLst xmlns:a="http://schemas.openxmlformats.org/drawingml/2006/main">
              <a:ext uri="{FF2B5EF4-FFF2-40B4-BE49-F238E27FC236}">
                <a16:creationId xmlns:a16="http://schemas.microsoft.com/office/drawing/2014/main" id="{C0DC5B3C-B57F-4A26-A193-73D3D5491749}"/>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976"/>
                </a:solidFill>
                <a:latin typeface="Arial"/>
                <a:ea typeface="Arial"/>
                <a:cs typeface="Arial"/>
              </a:defRPr>
            </a:defPPr>
          </a:lstStyle>
          <a:p xmlns:a="http://schemas.openxmlformats.org/drawingml/2006/main">
            <a:pPr algn="r">
              <a:defRPr sz="1350" b="0">
                <a:solidFill>
                  <a:srgbClr val="526976"/>
                </a:solidFill>
                <a:latin typeface="Arial"/>
                <a:ea typeface="Arial"/>
                <a:cs typeface="Arial"/>
              </a:defRPr>
            </a:pPr>
            <a:r>
              <a:rPr sz="1350" b="0">
                <a:solidFill>
                  <a:srgbClr val="526976"/>
                </a:solidFill>
                <a:latin typeface="Arial"/>
                <a:ea typeface="Arial"/>
                <a:cs typeface="Arial"/>
              </a:rPr>
              <a:t>02</a:t>
            </a:r>
          </a:p>
        </p:txBody>
      </p:sp>
      <p:sp>
        <p:nvSpPr>
          <p:cNvPr id="3" name="The problem">
            <a:extLst xmlns:a="http://schemas.openxmlformats.org/drawingml/2006/main">
              <a:ext uri="{FF2B5EF4-FFF2-40B4-BE49-F238E27FC236}">
                <a16:creationId xmlns:a16="http://schemas.microsoft.com/office/drawing/2014/main" id="{EBFF24A4-61A2-44FE-9756-12F50758327B}"/>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02C38"/>
                </a:solidFill>
                <a:latin typeface="Arial"/>
                <a:ea typeface="Arial"/>
                <a:cs typeface="Arial"/>
              </a:defRPr>
            </a:defPPr>
          </a:lstStyle>
          <a:p xmlns:a="http://schemas.openxmlformats.org/drawingml/2006/main">
            <a:pPr algn="l">
              <a:defRPr sz="4350" b="1">
                <a:solidFill>
                  <a:srgbClr val="102C38"/>
                </a:solidFill>
                <a:latin typeface="Arial"/>
                <a:ea typeface="Arial"/>
                <a:cs typeface="Arial"/>
              </a:defRPr>
            </a:pPr>
            <a:r>
              <a:rPr sz="4350" b="1">
                <a:solidFill>
                  <a:srgbClr val="102C38"/>
                </a:solidFill>
                <a:latin typeface="Arial"/>
                <a:ea typeface="Arial"/>
                <a:cs typeface="Arial"/>
              </a:rPr>
              <a:t>The problem</a:t>
            </a:r>
          </a:p>
        </p:txBody>
      </p:sp>
      <p:sp>
        <p:nvSpPr>
          <p:cNvPr id="4" name="A useful assistant&#10;should remain useful&#10;witho">
            <a:extLst xmlns:a="http://schemas.openxmlformats.org/drawingml/2006/main">
              <a:ext uri="{FF2B5EF4-FFF2-40B4-BE49-F238E27FC236}">
                <a16:creationId xmlns:a16="http://schemas.microsoft.com/office/drawing/2014/main" id="{CEA3F7EB-DB83-4C20-9D5A-970400F377CA}"/>
              </a:ext>
            </a:extLst>
          </p:cNvPr>
          <p:cNvSpPr>
            <a:spLocks xmlns:a="http://schemas.openxmlformats.org/drawingml/2006/main" noGrp="1"/>
          </p:cNvSpPr>
          <p:nvPr/>
        </p:nvSpPr>
        <p:spPr>
          <a:xfrm xmlns:a="http://schemas.openxmlformats.org/drawingml/2006/main">
            <a:off x="762000" y="2619375"/>
            <a:ext cx="7143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1">
                <a:solidFill>
                  <a:srgbClr val="102C38"/>
                </a:solidFill>
                <a:latin typeface="Arial"/>
                <a:ea typeface="Arial"/>
                <a:cs typeface="Arial"/>
              </a:defRPr>
            </a:defPPr>
          </a:lstStyle>
          <a:p xmlns:a="http://schemas.openxmlformats.org/drawingml/2006/main">
            <a:pPr algn="l">
              <a:defRPr sz="5025" b="1">
                <a:solidFill>
                  <a:srgbClr val="102C38"/>
                </a:solidFill>
                <a:latin typeface="Arial"/>
                <a:ea typeface="Arial"/>
                <a:cs typeface="Arial"/>
              </a:defRPr>
            </a:pPr>
            <a:r>
              <a:rPr sz="5025" b="1">
                <a:solidFill>
                  <a:srgbClr val="102C38"/>
                </a:solidFill>
                <a:latin typeface="Arial"/>
                <a:ea typeface="Arial"/>
                <a:cs typeface="Arial"/>
              </a:rPr>
              <a:t>A useful assistant</a:t>
            </a:r>
          </a:p>
          <a:p xmlns:a="http://schemas.openxmlformats.org/drawingml/2006/main">
            <a:pPr algn="l">
              <a:defRPr sz="5025" b="1">
                <a:solidFill>
                  <a:srgbClr val="102C38"/>
                </a:solidFill>
                <a:latin typeface="Arial"/>
                <a:ea typeface="Arial"/>
                <a:cs typeface="Arial"/>
              </a:defRPr>
            </a:pPr>
            <a:r>
              <a:rPr sz="5025" b="1">
                <a:solidFill>
                  <a:srgbClr val="102C38"/>
                </a:solidFill>
                <a:latin typeface="Arial"/>
                <a:ea typeface="Arial"/>
                <a:cs typeface="Arial"/>
              </a:rPr>
              <a:t>should remain useful</a:t>
            </a:r>
          </a:p>
          <a:p xmlns:a="http://schemas.openxmlformats.org/drawingml/2006/main">
            <a:pPr algn="l">
              <a:defRPr sz="5025" b="1">
                <a:solidFill>
                  <a:srgbClr val="102C38"/>
                </a:solidFill>
                <a:latin typeface="Arial"/>
                <a:ea typeface="Arial"/>
                <a:cs typeface="Arial"/>
              </a:defRPr>
            </a:pPr>
            <a:r>
              <a:rPr sz="5025" b="1">
                <a:solidFill>
                  <a:srgbClr val="102C38"/>
                </a:solidFill>
                <a:latin typeface="Arial"/>
                <a:ea typeface="Arial"/>
                <a:cs typeface="Arial"/>
              </a:rPr>
              <a:t>without the Internet</a:t>
            </a:r>
          </a:p>
        </p:txBody>
      </p:sp>
      <p:sp>
        <p:nvSpPr>
          <p:cNvPr id="5" name="The everyday friction">
            <a:extLst xmlns:a="http://schemas.openxmlformats.org/drawingml/2006/main">
              <a:ext uri="{FF2B5EF4-FFF2-40B4-BE49-F238E27FC236}">
                <a16:creationId xmlns:a16="http://schemas.microsoft.com/office/drawing/2014/main" id="{7808735F-A7A6-425B-8108-203385F48C22}"/>
              </a:ext>
            </a:extLst>
          </p:cNvPr>
          <p:cNvSpPr>
            <a:spLocks xmlns:a="http://schemas.openxmlformats.org/drawingml/2006/main" noGrp="1"/>
          </p:cNvSpPr>
          <p:nvPr/>
        </p:nvSpPr>
        <p:spPr>
          <a:xfrm xmlns:a="http://schemas.openxmlformats.org/drawingml/2006/main">
            <a:off x="9144000" y="26860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C65"/>
                </a:solidFill>
                <a:latin typeface="Arial"/>
                <a:ea typeface="Arial"/>
                <a:cs typeface="Arial"/>
              </a:defRPr>
            </a:defPPr>
          </a:lstStyle>
          <a:p xmlns:a="http://schemas.openxmlformats.org/drawingml/2006/main">
            <a:pPr algn="l">
              <a:defRPr sz="2025" b="1">
                <a:solidFill>
                  <a:srgbClr val="007C65"/>
                </a:solidFill>
                <a:latin typeface="Arial"/>
                <a:ea typeface="Arial"/>
                <a:cs typeface="Arial"/>
              </a:defRPr>
            </a:pPr>
            <a:r>
              <a:rPr sz="2025" b="1">
                <a:solidFill>
                  <a:srgbClr val="007C65"/>
                </a:solidFill>
                <a:latin typeface="Arial"/>
                <a:ea typeface="Arial"/>
                <a:cs typeface="Arial"/>
              </a:rPr>
              <a:t>The everyday friction</a:t>
            </a:r>
          </a:p>
        </p:txBody>
      </p:sp>
      <p:sp>
        <p:nvSpPr>
          <p:cNvPr id="6" name="Lost connectivity&#10;&#10;Repeated personal context&#10;">
            <a:extLst xmlns:a="http://schemas.openxmlformats.org/drawingml/2006/main">
              <a:ext uri="{FF2B5EF4-FFF2-40B4-BE49-F238E27FC236}">
                <a16:creationId xmlns:a16="http://schemas.microsoft.com/office/drawing/2014/main" id="{2A756399-D779-42BE-AE5F-7051499341EE}"/>
              </a:ext>
            </a:extLst>
          </p:cNvPr>
          <p:cNvSpPr>
            <a:spLocks xmlns:a="http://schemas.openxmlformats.org/drawingml/2006/main" noGrp="1"/>
          </p:cNvSpPr>
          <p:nvPr/>
        </p:nvSpPr>
        <p:spPr>
          <a:xfrm xmlns:a="http://schemas.openxmlformats.org/drawingml/2006/main">
            <a:off x="9144000" y="3457575"/>
            <a:ext cx="5334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02C38"/>
                </a:solidFill>
                <a:latin typeface="Arial"/>
                <a:ea typeface="Arial"/>
                <a:cs typeface="Arial"/>
              </a:defRPr>
            </a:defPPr>
          </a:lstStyle>
          <a:p xmlns:a="http://schemas.openxmlformats.org/drawingml/2006/main">
            <a:pPr algn="l">
              <a:defRPr sz="2400" b="0">
                <a:solidFill>
                  <a:srgbClr val="102C38"/>
                </a:solidFill>
                <a:latin typeface="Arial"/>
                <a:ea typeface="Arial"/>
                <a:cs typeface="Arial"/>
              </a:defRPr>
            </a:pPr>
            <a:r>
              <a:rPr sz="2400" b="0">
                <a:solidFill>
                  <a:srgbClr val="102C38"/>
                </a:solidFill>
                <a:latin typeface="Arial"/>
                <a:ea typeface="Arial"/>
                <a:cs typeface="Arial"/>
              </a:rPr>
              <a:t>Lost connectivity</a:t>
            </a:r>
          </a:p>
          <a:p xmlns:a="http://schemas.openxmlformats.org/drawingml/2006/main">
            <a:r>
              <a:t/>
            </a:r>
          </a:p>
          <a:p xmlns:a="http://schemas.openxmlformats.org/drawingml/2006/main">
            <a:pPr algn="l">
              <a:defRPr sz="2400" b="0">
                <a:solidFill>
                  <a:srgbClr val="102C38"/>
                </a:solidFill>
                <a:latin typeface="Arial"/>
                <a:ea typeface="Arial"/>
                <a:cs typeface="Arial"/>
              </a:defRPr>
            </a:pPr>
            <a:r>
              <a:rPr sz="2400" b="0">
                <a:solidFill>
                  <a:srgbClr val="102C38"/>
                </a:solidFill>
                <a:latin typeface="Arial"/>
                <a:ea typeface="Arial"/>
                <a:cs typeface="Arial"/>
              </a:rPr>
              <a:t>Repeated personal context</a:t>
            </a:r>
          </a:p>
          <a:p xmlns:a="http://schemas.openxmlformats.org/drawingml/2006/main">
            <a:r>
              <a:t/>
            </a:r>
          </a:p>
          <a:p xmlns:a="http://schemas.openxmlformats.org/drawingml/2006/main">
            <a:pPr algn="l">
              <a:defRPr sz="2400" b="0">
                <a:solidFill>
                  <a:srgbClr val="102C38"/>
                </a:solidFill>
                <a:latin typeface="Arial"/>
                <a:ea typeface="Arial"/>
                <a:cs typeface="Arial"/>
              </a:defRPr>
            </a:pPr>
            <a:r>
              <a:rPr sz="2400" b="0">
                <a:solidFill>
                  <a:srgbClr val="102C38"/>
                </a:solidFill>
                <a:latin typeface="Arial"/>
                <a:ea typeface="Arial"/>
                <a:cs typeface="Arial"/>
              </a:rPr>
              <a:t>Unclear microphone controls</a:t>
            </a:r>
          </a:p>
        </p:txBody>
      </p:sp>
      <p:sp>
        <p:nvSpPr>
          <p:cNvPr id="7" name="Design goal: local assistance, persistent con">
            <a:extLst xmlns:a="http://schemas.openxmlformats.org/drawingml/2006/main">
              <a:ext uri="{FF2B5EF4-FFF2-40B4-BE49-F238E27FC236}">
                <a16:creationId xmlns:a16="http://schemas.microsoft.com/office/drawing/2014/main" id="{41AC0BD0-4A51-4A9E-8097-E1B22B3B6D61}"/>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6"/>
                </a:solidFill>
                <a:latin typeface="Arial"/>
                <a:ea typeface="Arial"/>
                <a:cs typeface="Arial"/>
              </a:defRPr>
            </a:defPPr>
          </a:lstStyle>
          <a:p xmlns:a="http://schemas.openxmlformats.org/drawingml/2006/main">
            <a:pPr algn="l">
              <a:defRPr sz="1575" b="0">
                <a:solidFill>
                  <a:srgbClr val="526976"/>
                </a:solidFill>
                <a:latin typeface="Arial"/>
                <a:ea typeface="Arial"/>
                <a:cs typeface="Arial"/>
              </a:defRPr>
            </a:pPr>
            <a:r>
              <a:rPr sz="1575" b="0">
                <a:solidFill>
                  <a:srgbClr val="526976"/>
                </a:solidFill>
                <a:latin typeface="Arial"/>
                <a:ea typeface="Arial"/>
                <a:cs typeface="Arial"/>
              </a:rPr>
              <a:t>Design goal: local assistance, persistent context and visible control</a:t>
            </a:r>
          </a:p>
        </p:txBody>
      </p:sp>
    </p:spTree>
    <p:extLst>
      <p:ext uri="{BB962C8B-B14F-4D97-AF65-F5344CB8AC3E}">
        <p14:creationId xmlns:p14="http://schemas.microsoft.com/office/powerpoint/2010/main" val="1046642788"/>
      </p:ext>
    </p:extLst>
  </p:cSld>
</p:sld>
</file>

<file path=ppt/slides/slide3.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8" name="NOVA">
            <a:extLst xmlns:a="http://schemas.openxmlformats.org/drawingml/2006/main">
              <a:ext uri="{FF2B5EF4-FFF2-40B4-BE49-F238E27FC236}">
                <a16:creationId xmlns:a16="http://schemas.microsoft.com/office/drawing/2014/main" id="{4F3DD65E-BEED-4755-BB91-A9A006EBC3A5}"/>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9BF2C7"/>
                </a:solidFill>
                <a:latin typeface="Arial"/>
                <a:ea typeface="Arial"/>
                <a:cs typeface="Arial"/>
              </a:defRPr>
            </a:defPPr>
          </a:lstStyle>
          <a:p xmlns:a="http://schemas.openxmlformats.org/drawingml/2006/main">
            <a:pPr algn="l">
              <a:defRPr sz="1425" b="1">
                <a:solidFill>
                  <a:srgbClr val="9BF2C7"/>
                </a:solidFill>
                <a:latin typeface="Arial"/>
                <a:ea typeface="Arial"/>
                <a:cs typeface="Arial"/>
              </a:defRPr>
            </a:pPr>
            <a:r>
              <a:rPr sz="1425" b="1">
                <a:solidFill>
                  <a:srgbClr val="9BF2C7"/>
                </a:solidFill>
                <a:latin typeface="Arial"/>
                <a:ea typeface="Arial"/>
                <a:cs typeface="Arial"/>
              </a:rPr>
              <a:t>NOVA</a:t>
            </a:r>
          </a:p>
        </p:txBody>
      </p:sp>
      <p:sp>
        <p:nvSpPr>
          <p:cNvPr id="2" name="03">
            <a:extLst xmlns:a="http://schemas.openxmlformats.org/drawingml/2006/main">
              <a:ext uri="{FF2B5EF4-FFF2-40B4-BE49-F238E27FC236}">
                <a16:creationId xmlns:a16="http://schemas.microsoft.com/office/drawing/2014/main" id="{1B49A481-E820-40EE-925E-EC2579115184}"/>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B"/>
                </a:solidFill>
                <a:latin typeface="Arial"/>
                <a:ea typeface="Arial"/>
                <a:cs typeface="Arial"/>
              </a:defRPr>
            </a:defPPr>
          </a:lstStyle>
          <a:p xmlns:a="http://schemas.openxmlformats.org/drawingml/2006/main">
            <a:pPr algn="r">
              <a:defRPr sz="1350" b="0">
                <a:solidFill>
                  <a:srgbClr val="AEC0CB"/>
                </a:solidFill>
                <a:latin typeface="Arial"/>
                <a:ea typeface="Arial"/>
                <a:cs typeface="Arial"/>
              </a:defRPr>
            </a:pPr>
            <a:r>
              <a:rPr sz="1350" b="0">
                <a:solidFill>
                  <a:srgbClr val="AEC0CB"/>
                </a:solidFill>
                <a:latin typeface="Arial"/>
                <a:ea typeface="Arial"/>
                <a:cs typeface="Arial"/>
              </a:rPr>
              <a:t>03</a:t>
            </a:r>
          </a:p>
        </p:txBody>
      </p:sp>
      <p:sp>
        <p:nvSpPr>
          <p:cNvPr id="3" name="The Nova solution">
            <a:extLst xmlns:a="http://schemas.openxmlformats.org/drawingml/2006/main">
              <a:ext uri="{FF2B5EF4-FFF2-40B4-BE49-F238E27FC236}">
                <a16:creationId xmlns:a16="http://schemas.microsoft.com/office/drawing/2014/main" id="{EFA9BA40-F166-445A-99C6-AD37D06E3468}"/>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5F4EE"/>
                </a:solidFill>
                <a:latin typeface="Arial"/>
                <a:ea typeface="Arial"/>
                <a:cs typeface="Arial"/>
              </a:defRPr>
            </a:defPPr>
          </a:lstStyle>
          <a:p xmlns:a="http://schemas.openxmlformats.org/drawingml/2006/main">
            <a:pPr algn="l">
              <a:defRPr sz="4350" b="1">
                <a:solidFill>
                  <a:srgbClr val="F5F4EE"/>
                </a:solidFill>
                <a:latin typeface="Arial"/>
                <a:ea typeface="Arial"/>
                <a:cs typeface="Arial"/>
              </a:defRPr>
            </a:pPr>
            <a:r>
              <a:rPr sz="4350" b="1">
                <a:solidFill>
                  <a:srgbClr val="F5F4EE"/>
                </a:solidFill>
                <a:latin typeface="Arial"/>
                <a:ea typeface="Arial"/>
                <a:cs typeface="Arial"/>
              </a:rPr>
              <a:t>The Nova solution</a:t>
            </a:r>
          </a:p>
        </p:txBody>
      </p:sp>
      <p:sp>
        <p:nvSpPr>
          <p:cNvPr id="4" name="Local voice.&#10;Memory that persists.">
            <a:extLst xmlns:a="http://schemas.openxmlformats.org/drawingml/2006/main">
              <a:ext uri="{FF2B5EF4-FFF2-40B4-BE49-F238E27FC236}">
                <a16:creationId xmlns:a16="http://schemas.microsoft.com/office/drawing/2014/main" id="{612FF2B2-0C27-4B62-9E1A-808BD12DE93D}"/>
              </a:ext>
            </a:extLst>
          </p:cNvPr>
          <p:cNvSpPr>
            <a:spLocks xmlns:a="http://schemas.openxmlformats.org/drawingml/2006/main" noGrp="1"/>
          </p:cNvSpPr>
          <p:nvPr/>
        </p:nvSpPr>
        <p:spPr>
          <a:xfrm xmlns:a="http://schemas.openxmlformats.org/drawingml/2006/main">
            <a:off x="762000" y="2381250"/>
            <a:ext cx="1333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F5F4EE"/>
                </a:solidFill>
                <a:latin typeface="Arial"/>
                <a:ea typeface="Arial"/>
                <a:cs typeface="Arial"/>
              </a:defRPr>
            </a:defPPr>
          </a:lstStyle>
          <a:p xmlns:a="http://schemas.openxmlformats.org/drawingml/2006/main">
            <a:pPr algn="l">
              <a:defRPr sz="5250" b="1">
                <a:solidFill>
                  <a:srgbClr val="F5F4EE"/>
                </a:solidFill>
                <a:latin typeface="Arial"/>
                <a:ea typeface="Arial"/>
                <a:cs typeface="Arial"/>
              </a:defRPr>
            </a:pPr>
            <a:r>
              <a:rPr sz="5250" b="1">
                <a:solidFill>
                  <a:srgbClr val="F5F4EE"/>
                </a:solidFill>
                <a:latin typeface="Arial"/>
                <a:ea typeface="Arial"/>
                <a:cs typeface="Arial"/>
              </a:rPr>
              <a:t>Local voice.</a:t>
            </a:r>
          </a:p>
          <a:p xmlns:a="http://schemas.openxmlformats.org/drawingml/2006/main">
            <a:pPr algn="l">
              <a:defRPr sz="5250" b="1">
                <a:solidFill>
                  <a:srgbClr val="F5F4EE"/>
                </a:solidFill>
                <a:latin typeface="Arial"/>
                <a:ea typeface="Arial"/>
                <a:cs typeface="Arial"/>
              </a:defRPr>
            </a:pPr>
            <a:r>
              <a:rPr sz="5250" b="1">
                <a:solidFill>
                  <a:srgbClr val="F5F4EE"/>
                </a:solidFill>
                <a:latin typeface="Arial"/>
                <a:ea typeface="Arial"/>
                <a:cs typeface="Arial"/>
              </a:rPr>
              <a:t>Memory that persists.</a:t>
            </a:r>
          </a:p>
        </p:txBody>
      </p:sp>
      <p:sp>
        <p:nvSpPr>
          <p:cNvPr id="5" name="">
            <a:extLst xmlns:a="http://schemas.openxmlformats.org/drawingml/2006/main">
              <a:ext uri="{FF2B5EF4-FFF2-40B4-BE49-F238E27FC236}">
                <a16:creationId xmlns:a16="http://schemas.microsoft.com/office/drawing/2014/main" id="{31EFB49F-AD83-4BA8-BC7B-156152D4BB6B}"/>
              </a:ext>
            </a:extLst>
          </p:cNvPr>
          <p:cNvSpPr>
            <a:spLocks xmlns:a="http://schemas.openxmlformats.org/drawingml/2006/main" noGrp="1"/>
          </p:cNvSpPr>
          <p:nvPr/>
        </p:nvSpPr>
        <p:spPr>
          <a:xfrm xmlns:a="http://schemas.openxmlformats.org/drawingml/2006/main">
            <a:off x="762000" y="4191000"/>
            <a:ext cx="13716000" cy="0"/>
          </a:xfrm>
          <a:prstGeom xmlns:a="http://schemas.openxmlformats.org/drawingml/2006/main" prst="line">
            <a:avLst/>
          </a:prstGeom>
          <a:ln xmlns:a="http://schemas.openxmlformats.org/drawingml/2006/main" w="13335">
            <a:solidFill>
              <a:srgbClr val="35515F"/>
            </a:solidFill>
          </a:ln>
        </p:spPr>
      </p:sp>
      <p:sp>
        <p:nvSpPr>
          <p:cNvPr id="6" name="01">
            <a:extLst xmlns:a="http://schemas.openxmlformats.org/drawingml/2006/main">
              <a:ext uri="{FF2B5EF4-FFF2-40B4-BE49-F238E27FC236}">
                <a16:creationId xmlns:a16="http://schemas.microsoft.com/office/drawing/2014/main" id="{CC0B20D1-E219-4F27-AD6E-3C27059237C7}"/>
              </a:ext>
            </a:extLst>
          </p:cNvPr>
          <p:cNvSpPr>
            <a:spLocks xmlns:a="http://schemas.openxmlformats.org/drawingml/2006/main" noGrp="1"/>
          </p:cNvSpPr>
          <p:nvPr/>
        </p:nvSpPr>
        <p:spPr>
          <a:xfrm xmlns:a="http://schemas.openxmlformats.org/drawingml/2006/main">
            <a:off x="762000" y="441007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9BF2C7"/>
                </a:solidFill>
                <a:latin typeface="Arial"/>
                <a:ea typeface="Arial"/>
                <a:cs typeface="Arial"/>
              </a:defRPr>
            </a:defPPr>
          </a:lstStyle>
          <a:p xmlns:a="http://schemas.openxmlformats.org/drawingml/2006/main">
            <a:pPr algn="l">
              <a:defRPr sz="3225" b="0">
                <a:solidFill>
                  <a:srgbClr val="9BF2C7"/>
                </a:solidFill>
                <a:latin typeface="Arial"/>
                <a:ea typeface="Arial"/>
                <a:cs typeface="Arial"/>
              </a:defRPr>
            </a:pPr>
            <a:r>
              <a:rPr sz="3225" b="0">
                <a:solidFill>
                  <a:srgbClr val="9BF2C7"/>
                </a:solidFill>
                <a:latin typeface="Arial"/>
                <a:ea typeface="Arial"/>
                <a:cs typeface="Arial"/>
              </a:rPr>
              <a:t>01</a:t>
            </a:r>
          </a:p>
        </p:txBody>
      </p:sp>
      <p:sp>
        <p:nvSpPr>
          <p:cNvPr id="7" name="Local conversation">
            <a:extLst xmlns:a="http://schemas.openxmlformats.org/drawingml/2006/main">
              <a:ext uri="{FF2B5EF4-FFF2-40B4-BE49-F238E27FC236}">
                <a16:creationId xmlns:a16="http://schemas.microsoft.com/office/drawing/2014/main" id="{6307B6B4-5DDF-4715-9C60-65ACD48C4E80}"/>
              </a:ext>
            </a:extLst>
          </p:cNvPr>
          <p:cNvSpPr>
            <a:spLocks xmlns:a="http://schemas.openxmlformats.org/drawingml/2006/main" noGrp="1"/>
          </p:cNvSpPr>
          <p:nvPr/>
        </p:nvSpPr>
        <p:spPr>
          <a:xfrm xmlns:a="http://schemas.openxmlformats.org/drawingml/2006/main">
            <a:off x="1905000" y="43910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5F4EE"/>
                </a:solidFill>
                <a:latin typeface="Arial"/>
                <a:ea typeface="Arial"/>
                <a:cs typeface="Arial"/>
              </a:defRPr>
            </a:defPPr>
          </a:lstStyle>
          <a:p xmlns:a="http://schemas.openxmlformats.org/drawingml/2006/main">
            <a:pPr algn="l">
              <a:defRPr sz="2625" b="1">
                <a:solidFill>
                  <a:srgbClr val="F5F4EE"/>
                </a:solidFill>
                <a:latin typeface="Arial"/>
                <a:ea typeface="Arial"/>
                <a:cs typeface="Arial"/>
              </a:defRPr>
            </a:pPr>
            <a:r>
              <a:rPr sz="2625" b="1">
                <a:solidFill>
                  <a:srgbClr val="F5F4EE"/>
                </a:solidFill>
                <a:latin typeface="Arial"/>
                <a:ea typeface="Arial"/>
                <a:cs typeface="Arial"/>
              </a:rPr>
              <a:t>Local conversation</a:t>
            </a:r>
          </a:p>
        </p:txBody>
      </p:sp>
      <p:sp>
        <p:nvSpPr>
          <p:cNvPr id="8" name="Whisper, Llama and Piper run on the device">
            <a:extLst xmlns:a="http://schemas.openxmlformats.org/drawingml/2006/main">
              <a:ext uri="{FF2B5EF4-FFF2-40B4-BE49-F238E27FC236}">
                <a16:creationId xmlns:a16="http://schemas.microsoft.com/office/drawing/2014/main" id="{7D5E90B8-28EF-4E2F-A655-18B984590DDB}"/>
              </a:ext>
            </a:extLst>
          </p:cNvPr>
          <p:cNvSpPr>
            <a:spLocks xmlns:a="http://schemas.openxmlformats.org/drawingml/2006/main" noGrp="1"/>
          </p:cNvSpPr>
          <p:nvPr/>
        </p:nvSpPr>
        <p:spPr>
          <a:xfrm xmlns:a="http://schemas.openxmlformats.org/drawingml/2006/main">
            <a:off x="7715250" y="442912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C0CB"/>
                </a:solidFill>
                <a:latin typeface="Arial"/>
                <a:ea typeface="Arial"/>
                <a:cs typeface="Arial"/>
              </a:defRPr>
            </a:defPPr>
          </a:lstStyle>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Whisper, Llama and Piper run on the device</a:t>
            </a:r>
          </a:p>
        </p:txBody>
      </p:sp>
      <p:sp>
        <p:nvSpPr>
          <p:cNvPr id="9" name="">
            <a:extLst xmlns:a="http://schemas.openxmlformats.org/drawingml/2006/main">
              <a:ext uri="{FF2B5EF4-FFF2-40B4-BE49-F238E27FC236}">
                <a16:creationId xmlns:a16="http://schemas.microsoft.com/office/drawing/2014/main" id="{86D0E841-3F67-40CD-B53B-F5DBFC4B83B3}"/>
              </a:ext>
            </a:extLst>
          </p:cNvPr>
          <p:cNvSpPr>
            <a:spLocks xmlns:a="http://schemas.openxmlformats.org/drawingml/2006/main" noGrp="1"/>
          </p:cNvSpPr>
          <p:nvPr/>
        </p:nvSpPr>
        <p:spPr>
          <a:xfrm xmlns:a="http://schemas.openxmlformats.org/drawingml/2006/main">
            <a:off x="762000" y="5334000"/>
            <a:ext cx="13716000" cy="0"/>
          </a:xfrm>
          <a:prstGeom xmlns:a="http://schemas.openxmlformats.org/drawingml/2006/main" prst="line">
            <a:avLst/>
          </a:prstGeom>
          <a:ln xmlns:a="http://schemas.openxmlformats.org/drawingml/2006/main" w="13335">
            <a:solidFill>
              <a:srgbClr val="35515F"/>
            </a:solidFill>
          </a:ln>
        </p:spPr>
      </p:sp>
      <p:sp>
        <p:nvSpPr>
          <p:cNvPr id="10" name="02">
            <a:extLst xmlns:a="http://schemas.openxmlformats.org/drawingml/2006/main">
              <a:ext uri="{FF2B5EF4-FFF2-40B4-BE49-F238E27FC236}">
                <a16:creationId xmlns:a16="http://schemas.microsoft.com/office/drawing/2014/main" id="{0ADCF8C0-B569-49D9-B0F3-5443B62A94CD}"/>
              </a:ext>
            </a:extLst>
          </p:cNvPr>
          <p:cNvSpPr>
            <a:spLocks xmlns:a="http://schemas.openxmlformats.org/drawingml/2006/main" noGrp="1"/>
          </p:cNvSpPr>
          <p:nvPr/>
        </p:nvSpPr>
        <p:spPr>
          <a:xfrm xmlns:a="http://schemas.openxmlformats.org/drawingml/2006/main">
            <a:off x="762000" y="555307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9BF2C7"/>
                </a:solidFill>
                <a:latin typeface="Arial"/>
                <a:ea typeface="Arial"/>
                <a:cs typeface="Arial"/>
              </a:defRPr>
            </a:defPPr>
          </a:lstStyle>
          <a:p xmlns:a="http://schemas.openxmlformats.org/drawingml/2006/main">
            <a:pPr algn="l">
              <a:defRPr sz="3225" b="0">
                <a:solidFill>
                  <a:srgbClr val="9BF2C7"/>
                </a:solidFill>
                <a:latin typeface="Arial"/>
                <a:ea typeface="Arial"/>
                <a:cs typeface="Arial"/>
              </a:defRPr>
            </a:pPr>
            <a:r>
              <a:rPr sz="3225" b="0">
                <a:solidFill>
                  <a:srgbClr val="9BF2C7"/>
                </a:solidFill>
                <a:latin typeface="Arial"/>
                <a:ea typeface="Arial"/>
                <a:cs typeface="Arial"/>
              </a:rPr>
              <a:t>02</a:t>
            </a:r>
          </a:p>
        </p:txBody>
      </p:sp>
      <p:sp>
        <p:nvSpPr>
          <p:cNvPr id="11" name="Grounded personal memory">
            <a:extLst xmlns:a="http://schemas.openxmlformats.org/drawingml/2006/main">
              <a:ext uri="{FF2B5EF4-FFF2-40B4-BE49-F238E27FC236}">
                <a16:creationId xmlns:a16="http://schemas.microsoft.com/office/drawing/2014/main" id="{74772FDE-F8CC-4C8D-9A59-C878150E3194}"/>
              </a:ext>
            </a:extLst>
          </p:cNvPr>
          <p:cNvSpPr>
            <a:spLocks xmlns:a="http://schemas.openxmlformats.org/drawingml/2006/main" noGrp="1"/>
          </p:cNvSpPr>
          <p:nvPr/>
        </p:nvSpPr>
        <p:spPr>
          <a:xfrm xmlns:a="http://schemas.openxmlformats.org/drawingml/2006/main">
            <a:off x="1905000" y="55340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5F4EE"/>
                </a:solidFill>
                <a:latin typeface="Arial"/>
                <a:ea typeface="Arial"/>
                <a:cs typeface="Arial"/>
              </a:defRPr>
            </a:defPPr>
          </a:lstStyle>
          <a:p xmlns:a="http://schemas.openxmlformats.org/drawingml/2006/main">
            <a:pPr algn="l">
              <a:defRPr sz="2625" b="1">
                <a:solidFill>
                  <a:srgbClr val="F5F4EE"/>
                </a:solidFill>
                <a:latin typeface="Arial"/>
                <a:ea typeface="Arial"/>
                <a:cs typeface="Arial"/>
              </a:defRPr>
            </a:pPr>
            <a:r>
              <a:rPr sz="2625" b="1">
                <a:solidFill>
                  <a:srgbClr val="F5F4EE"/>
                </a:solidFill>
                <a:latin typeface="Arial"/>
                <a:ea typeface="Arial"/>
                <a:cs typeface="Arial"/>
              </a:rPr>
              <a:t>Grounded personal memory</a:t>
            </a:r>
          </a:p>
        </p:txBody>
      </p:sp>
      <p:sp>
        <p:nvSpPr>
          <p:cNvPr id="12" name="Confirmed facts take priority over optional o">
            <a:extLst xmlns:a="http://schemas.openxmlformats.org/drawingml/2006/main">
              <a:ext uri="{FF2B5EF4-FFF2-40B4-BE49-F238E27FC236}">
                <a16:creationId xmlns:a16="http://schemas.microsoft.com/office/drawing/2014/main" id="{9BBFACE5-F814-4910-89A0-94C93F239559}"/>
              </a:ext>
            </a:extLst>
          </p:cNvPr>
          <p:cNvSpPr>
            <a:spLocks xmlns:a="http://schemas.openxmlformats.org/drawingml/2006/main" noGrp="1"/>
          </p:cNvSpPr>
          <p:nvPr/>
        </p:nvSpPr>
        <p:spPr>
          <a:xfrm xmlns:a="http://schemas.openxmlformats.org/drawingml/2006/main">
            <a:off x="7715250" y="557212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C0CB"/>
                </a:solidFill>
                <a:latin typeface="Arial"/>
                <a:ea typeface="Arial"/>
                <a:cs typeface="Arial"/>
              </a:defRPr>
            </a:defPPr>
          </a:lstStyle>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Confirmed facts take priority over optional observations</a:t>
            </a:r>
          </a:p>
        </p:txBody>
      </p:sp>
      <p:sp>
        <p:nvSpPr>
          <p:cNvPr id="13" name="">
            <a:extLst xmlns:a="http://schemas.openxmlformats.org/drawingml/2006/main">
              <a:ext uri="{FF2B5EF4-FFF2-40B4-BE49-F238E27FC236}">
                <a16:creationId xmlns:a16="http://schemas.microsoft.com/office/drawing/2014/main" id="{E9682AFA-2686-4DD2-845D-B1C33709DA5B}"/>
              </a:ext>
            </a:extLst>
          </p:cNvPr>
          <p:cNvSpPr>
            <a:spLocks xmlns:a="http://schemas.openxmlformats.org/drawingml/2006/main" noGrp="1"/>
          </p:cNvSpPr>
          <p:nvPr/>
        </p:nvSpPr>
        <p:spPr>
          <a:xfrm xmlns:a="http://schemas.openxmlformats.org/drawingml/2006/main">
            <a:off x="762000" y="6477000"/>
            <a:ext cx="13716000" cy="0"/>
          </a:xfrm>
          <a:prstGeom xmlns:a="http://schemas.openxmlformats.org/drawingml/2006/main" prst="line">
            <a:avLst/>
          </a:prstGeom>
          <a:ln xmlns:a="http://schemas.openxmlformats.org/drawingml/2006/main" w="13335">
            <a:solidFill>
              <a:srgbClr val="35515F"/>
            </a:solidFill>
          </a:ln>
        </p:spPr>
      </p:sp>
      <p:sp>
        <p:nvSpPr>
          <p:cNvPr id="14" name="03">
            <a:extLst xmlns:a="http://schemas.openxmlformats.org/drawingml/2006/main">
              <a:ext uri="{FF2B5EF4-FFF2-40B4-BE49-F238E27FC236}">
                <a16:creationId xmlns:a16="http://schemas.microsoft.com/office/drawing/2014/main" id="{7230DA88-9ACD-4D6A-B7C4-3F0361CCAC58}"/>
              </a:ext>
            </a:extLst>
          </p:cNvPr>
          <p:cNvSpPr>
            <a:spLocks xmlns:a="http://schemas.openxmlformats.org/drawingml/2006/main" noGrp="1"/>
          </p:cNvSpPr>
          <p:nvPr/>
        </p:nvSpPr>
        <p:spPr>
          <a:xfrm xmlns:a="http://schemas.openxmlformats.org/drawingml/2006/main">
            <a:off x="762000" y="669607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9BF2C7"/>
                </a:solidFill>
                <a:latin typeface="Arial"/>
                <a:ea typeface="Arial"/>
                <a:cs typeface="Arial"/>
              </a:defRPr>
            </a:defPPr>
          </a:lstStyle>
          <a:p xmlns:a="http://schemas.openxmlformats.org/drawingml/2006/main">
            <a:pPr algn="l">
              <a:defRPr sz="3225" b="0">
                <a:solidFill>
                  <a:srgbClr val="9BF2C7"/>
                </a:solidFill>
                <a:latin typeface="Arial"/>
                <a:ea typeface="Arial"/>
                <a:cs typeface="Arial"/>
              </a:defRPr>
            </a:pPr>
            <a:r>
              <a:rPr sz="3225" b="0">
                <a:solidFill>
                  <a:srgbClr val="9BF2C7"/>
                </a:solidFill>
                <a:latin typeface="Arial"/>
                <a:ea typeface="Arial"/>
                <a:cs typeface="Arial"/>
              </a:rPr>
              <a:t>03</a:t>
            </a:r>
          </a:p>
        </p:txBody>
      </p:sp>
      <p:sp>
        <p:nvSpPr>
          <p:cNvPr id="15" name="Controlled actions">
            <a:extLst xmlns:a="http://schemas.openxmlformats.org/drawingml/2006/main">
              <a:ext uri="{FF2B5EF4-FFF2-40B4-BE49-F238E27FC236}">
                <a16:creationId xmlns:a16="http://schemas.microsoft.com/office/drawing/2014/main" id="{1CC7D4A9-CB2C-4EB1-B4F1-71BFC40C1566}"/>
              </a:ext>
            </a:extLst>
          </p:cNvPr>
          <p:cNvSpPr>
            <a:spLocks xmlns:a="http://schemas.openxmlformats.org/drawingml/2006/main" noGrp="1"/>
          </p:cNvSpPr>
          <p:nvPr/>
        </p:nvSpPr>
        <p:spPr>
          <a:xfrm xmlns:a="http://schemas.openxmlformats.org/drawingml/2006/main">
            <a:off x="1905000" y="66770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5F4EE"/>
                </a:solidFill>
                <a:latin typeface="Arial"/>
                <a:ea typeface="Arial"/>
                <a:cs typeface="Arial"/>
              </a:defRPr>
            </a:defPPr>
          </a:lstStyle>
          <a:p xmlns:a="http://schemas.openxmlformats.org/drawingml/2006/main">
            <a:pPr algn="l">
              <a:defRPr sz="2625" b="1">
                <a:solidFill>
                  <a:srgbClr val="F5F4EE"/>
                </a:solidFill>
                <a:latin typeface="Arial"/>
                <a:ea typeface="Arial"/>
                <a:cs typeface="Arial"/>
              </a:defRPr>
            </a:pPr>
            <a:r>
              <a:rPr sz="2625" b="1">
                <a:solidFill>
                  <a:srgbClr val="F5F4EE"/>
                </a:solidFill>
                <a:latin typeface="Arial"/>
                <a:ea typeface="Arial"/>
                <a:cs typeface="Arial"/>
              </a:rPr>
              <a:t>Controlled actions</a:t>
            </a:r>
          </a:p>
        </p:txBody>
      </p:sp>
      <p:sp>
        <p:nvSpPr>
          <p:cNvPr id="16" name="Deterministic tools and shared microphone per">
            <a:extLst xmlns:a="http://schemas.openxmlformats.org/drawingml/2006/main">
              <a:ext uri="{FF2B5EF4-FFF2-40B4-BE49-F238E27FC236}">
                <a16:creationId xmlns:a16="http://schemas.microsoft.com/office/drawing/2014/main" id="{EAE4337D-1F69-4DC7-8524-6B3565316936}"/>
              </a:ext>
            </a:extLst>
          </p:cNvPr>
          <p:cNvSpPr>
            <a:spLocks xmlns:a="http://schemas.openxmlformats.org/drawingml/2006/main" noGrp="1"/>
          </p:cNvSpPr>
          <p:nvPr/>
        </p:nvSpPr>
        <p:spPr>
          <a:xfrm xmlns:a="http://schemas.openxmlformats.org/drawingml/2006/main">
            <a:off x="7715250" y="671512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C0CB"/>
                </a:solidFill>
                <a:latin typeface="Arial"/>
                <a:ea typeface="Arial"/>
                <a:cs typeface="Arial"/>
              </a:defRPr>
            </a:defPPr>
          </a:lstStyle>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Deterministic tools and shared microphone permission</a:t>
            </a:r>
          </a:p>
        </p:txBody>
      </p:sp>
      <p:sp>
        <p:nvSpPr>
          <p:cNvPr id="17" name="Innovation comes from the integration of exis">
            <a:extLst xmlns:a="http://schemas.openxmlformats.org/drawingml/2006/main">
              <a:ext uri="{FF2B5EF4-FFF2-40B4-BE49-F238E27FC236}">
                <a16:creationId xmlns:a16="http://schemas.microsoft.com/office/drawing/2014/main" id="{79D5CD59-C6E0-4CA7-8F7F-3157632DA9AA}"/>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EC0CB"/>
                </a:solidFill>
                <a:latin typeface="Arial"/>
                <a:ea typeface="Arial"/>
                <a:cs typeface="Arial"/>
              </a:defRPr>
            </a:defPPr>
          </a:lstStyle>
          <a:p xmlns:a="http://schemas.openxmlformats.org/drawingml/2006/main">
            <a:pPr algn="l">
              <a:defRPr sz="1575" b="0">
                <a:solidFill>
                  <a:srgbClr val="AEC0CB"/>
                </a:solidFill>
                <a:latin typeface="Arial"/>
                <a:ea typeface="Arial"/>
                <a:cs typeface="Arial"/>
              </a:defRPr>
            </a:pPr>
            <a:r>
              <a:rPr sz="1575" b="0">
                <a:solidFill>
                  <a:srgbClr val="AEC0CB"/>
                </a:solidFill>
                <a:latin typeface="Arial"/>
                <a:ea typeface="Arial"/>
                <a:cs typeface="Arial"/>
              </a:rPr>
              <a:t>Innovation comes from the integration of existing models, memory and controls</a:t>
            </a:r>
          </a:p>
        </p:txBody>
      </p:sp>
    </p:spTree>
    <p:extLst>
      <p:ext uri="{BB962C8B-B14F-4D97-AF65-F5344CB8AC3E}">
        <p14:creationId xmlns:p14="http://schemas.microsoft.com/office/powerpoint/2010/main" val="922637970"/>
      </p:ext>
    </p:extLst>
  </p:cSld>
</p:sld>
</file>

<file path=ppt/slides/slide4.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cxnSp>
        <p:nvCxnSpPr>
          <p:cNvPr id="47" name="">
            <a:extLst xmlns:a="http://schemas.openxmlformats.org/drawingml/2006/main">
              <a:ext uri="{FF2B5EF4-FFF2-40B4-BE49-F238E27FC236}">
                <a16:creationId xmlns:a16="http://schemas.microsoft.com/office/drawing/2014/main" id="{4C60BCFB-F496-44BF-A1D3-95CDEADBDFCB}"/>
              </a:ext>
            </a:extLst>
          </p:cNvPr>
          <p:cNvCxnSpPr>
            <a:stCxn xmlns:a="http://schemas.openxmlformats.org/drawingml/2006/main" id="14" idx="3"/>
            <a:endCxn xmlns:a="http://schemas.openxmlformats.org/drawingml/2006/main" id="44" idx="1"/>
          </p:cNvCxnSpPr>
          <p:nvPr/>
        </p:nvCxnSpPr>
        <p:spPr>
          <a:xfrm xmlns:a="http://schemas.openxmlformats.org/drawingml/2006/main">
            <a:off x="10763250" y="3286125"/>
            <a:ext cx="762000" cy="1962150"/>
          </a:xfrm>
          <a:prstGeom xmlns:a="http://schemas.openxmlformats.org/drawingml/2006/main" prst="bentConnector3">
            <a:avLst>
              <a:gd name="adj1" fmla="val 50000"/>
            </a:avLst>
          </a:prstGeom>
          <a:ln xmlns:a="http://schemas.openxmlformats.org/drawingml/2006/main" w="20955">
            <a:solidFill>
              <a:srgbClr val="F0C68A"/>
            </a:solidFill>
            <a:prstDash val="dash"/>
            <a:headEnd type="triangle" w="sm" len="sm"/>
            <a:tailEnd type="triangle" w="sm" len="sm"/>
          </a:ln>
        </p:spPr>
      </p:cxnSp>
      <p:cxnSp>
        <p:nvCxnSpPr>
          <p:cNvPr id="41" name="">
            <a:extLst xmlns:a="http://schemas.openxmlformats.org/drawingml/2006/main">
              <a:ext uri="{FF2B5EF4-FFF2-40B4-BE49-F238E27FC236}">
                <a16:creationId xmlns:a16="http://schemas.microsoft.com/office/drawing/2014/main" id="{27DFC9FF-FBB5-434F-8F21-B83BFFB91BF8}"/>
              </a:ext>
            </a:extLst>
          </p:cNvPr>
          <p:cNvCxnSpPr>
            <a:stCxn xmlns:a="http://schemas.openxmlformats.org/drawingml/2006/main" id="33" idx="1"/>
            <a:endCxn xmlns:a="http://schemas.openxmlformats.org/drawingml/2006/main" id="30" idx="3"/>
          </p:cNvCxnSpPr>
          <p:nvPr/>
        </p:nvCxnSpPr>
        <p:spPr>
          <a:xfrm xmlns:a="http://schemas.openxmlformats.org/drawingml/2006/main" flipH="1">
            <a:off x="8001000" y="6915150"/>
            <a:ext cx="3524250" cy="0"/>
          </a:xfrm>
          <a:prstGeom xmlns:a="http://schemas.openxmlformats.org/drawingml/2006/main" prst="straightConnector1">
            <a:avLst/>
          </a:prstGeom>
          <a:ln xmlns:a="http://schemas.openxmlformats.org/drawingml/2006/main" w="20955">
            <a:solidFill>
              <a:srgbClr val="9BF2C7"/>
            </a:solidFill>
            <a:prstDash val="solid"/>
            <a:headEnd type="triangle" w="sm" len="sm"/>
            <a:tailEnd type="triangle" w="sm" len="sm"/>
          </a:ln>
        </p:spPr>
      </p:cxnSp>
      <p:cxnSp>
        <p:nvCxnSpPr>
          <p:cNvPr id="40" name="">
            <a:extLst xmlns:a="http://schemas.openxmlformats.org/drawingml/2006/main">
              <a:ext uri="{FF2B5EF4-FFF2-40B4-BE49-F238E27FC236}">
                <a16:creationId xmlns:a16="http://schemas.microsoft.com/office/drawing/2014/main" id="{5D52FB02-E910-47C3-A2B0-876DCC0780CA}"/>
              </a:ext>
            </a:extLst>
          </p:cNvPr>
          <p:cNvCxnSpPr>
            <a:stCxn xmlns:a="http://schemas.openxmlformats.org/drawingml/2006/main" id="14" idx="1"/>
            <a:endCxn xmlns:a="http://schemas.openxmlformats.org/drawingml/2006/main" id="30" idx="3"/>
          </p:cNvCxnSpPr>
          <p:nvPr/>
        </p:nvCxnSpPr>
        <p:spPr>
          <a:xfrm xmlns:a="http://schemas.openxmlformats.org/drawingml/2006/main" flipH="1">
            <a:off x="8001000" y="3286125"/>
            <a:ext cx="476250" cy="3629025"/>
          </a:xfrm>
          <a:prstGeom xmlns:a="http://schemas.openxmlformats.org/drawingml/2006/main" prst="bentConnector3">
            <a:avLst>
              <a:gd name="adj1" fmla="val 50000"/>
            </a:avLst>
          </a:prstGeom>
          <a:ln xmlns:a="http://schemas.openxmlformats.org/drawingml/2006/main" w="20955">
            <a:solidFill>
              <a:srgbClr val="9BF2C7"/>
            </a:solidFill>
            <a:prstDash val="solid"/>
            <a:headEnd type="triangle" w="sm" len="sm"/>
            <a:tailEnd type="triangle" w="sm" len="sm"/>
          </a:ln>
        </p:spPr>
      </p:cxnSp>
      <p:cxnSp>
        <p:nvCxnSpPr>
          <p:cNvPr id="39" name="">
            <a:extLst xmlns:a="http://schemas.openxmlformats.org/drawingml/2006/main">
              <a:ext uri="{FF2B5EF4-FFF2-40B4-BE49-F238E27FC236}">
                <a16:creationId xmlns:a16="http://schemas.microsoft.com/office/drawing/2014/main" id="{A807DF19-4FFD-4C55-BE67-311478DFA033}"/>
              </a:ext>
            </a:extLst>
          </p:cNvPr>
          <p:cNvCxnSpPr>
            <a:stCxn xmlns:a="http://schemas.openxmlformats.org/drawingml/2006/main" id="24" idx="3"/>
            <a:endCxn xmlns:a="http://schemas.openxmlformats.org/drawingml/2006/main" id="27" idx="1"/>
          </p:cNvCxnSpPr>
          <p:nvPr/>
        </p:nvCxnSpPr>
        <p:spPr>
          <a:xfrm xmlns:a="http://schemas.openxmlformats.org/drawingml/2006/main">
            <a:off x="8001000" y="5248275"/>
            <a:ext cx="476250" cy="0"/>
          </a:xfrm>
          <a:prstGeom xmlns:a="http://schemas.openxmlformats.org/drawingml/2006/main" prst="straightConnector1">
            <a:avLst/>
          </a:prstGeom>
          <a:ln xmlns:a="http://schemas.openxmlformats.org/drawingml/2006/main" w="20955">
            <a:solidFill>
              <a:srgbClr val="AEC0CB"/>
            </a:solidFill>
            <a:prstDash val="dash"/>
            <a:headEnd type="triangle" w="sm" len="sm"/>
            <a:tailEnd type="triangle" w="sm" len="sm"/>
          </a:ln>
        </p:spPr>
      </p:cxnSp>
      <p:cxnSp>
        <p:nvCxnSpPr>
          <p:cNvPr id="38" name="">
            <a:extLst xmlns:a="http://schemas.openxmlformats.org/drawingml/2006/main">
              <a:ext uri="{FF2B5EF4-FFF2-40B4-BE49-F238E27FC236}">
                <a16:creationId xmlns:a16="http://schemas.microsoft.com/office/drawing/2014/main" id="{7266479D-4FF6-49A7-A54E-D7064E0B32F2}"/>
              </a:ext>
            </a:extLst>
          </p:cNvPr>
          <p:cNvCxnSpPr>
            <a:stCxn xmlns:a="http://schemas.openxmlformats.org/drawingml/2006/main" id="24" idx="2"/>
            <a:endCxn xmlns:a="http://schemas.openxmlformats.org/drawingml/2006/main" id="30" idx="0"/>
          </p:cNvCxnSpPr>
          <p:nvPr/>
        </p:nvCxnSpPr>
        <p:spPr>
          <a:xfrm xmlns:a="http://schemas.openxmlformats.org/drawingml/2006/main">
            <a:off x="6953250" y="5781675"/>
            <a:ext cx="0" cy="600075"/>
          </a:xfrm>
          <a:prstGeom xmlns:a="http://schemas.openxmlformats.org/drawingml/2006/main" prst="straightConnector1">
            <a:avLst/>
          </a:prstGeom>
          <a:ln xmlns:a="http://schemas.openxmlformats.org/drawingml/2006/main" w="20955">
            <a:solidFill>
              <a:srgbClr val="AEC0CB"/>
            </a:solidFill>
            <a:prstDash val="dash"/>
            <a:tailEnd type="triangle" w="sm" len="sm"/>
          </a:ln>
        </p:spPr>
      </p:cxnSp>
      <p:cxnSp>
        <p:nvCxnSpPr>
          <p:cNvPr id="37" name="">
            <a:extLst xmlns:a="http://schemas.openxmlformats.org/drawingml/2006/main">
              <a:ext uri="{FF2B5EF4-FFF2-40B4-BE49-F238E27FC236}">
                <a16:creationId xmlns:a16="http://schemas.microsoft.com/office/drawing/2014/main" id="{E3454FB0-0386-46CD-A7D7-DDFDB64935AD}"/>
              </a:ext>
            </a:extLst>
          </p:cNvPr>
          <p:cNvCxnSpPr>
            <a:stCxn xmlns:a="http://schemas.openxmlformats.org/drawingml/2006/main" id="14" idx="2"/>
            <a:endCxn xmlns:a="http://schemas.openxmlformats.org/drawingml/2006/main" id="27" idx="0"/>
          </p:cNvCxnSpPr>
          <p:nvPr/>
        </p:nvCxnSpPr>
        <p:spPr>
          <a:xfrm xmlns:a="http://schemas.openxmlformats.org/drawingml/2006/main">
            <a:off x="9620250" y="3810000"/>
            <a:ext cx="0" cy="904875"/>
          </a:xfrm>
          <a:prstGeom xmlns:a="http://schemas.openxmlformats.org/drawingml/2006/main" prst="straightConnector1">
            <a:avLst/>
          </a:prstGeom>
          <a:ln xmlns:a="http://schemas.openxmlformats.org/drawingml/2006/main" w="20955">
            <a:solidFill>
              <a:srgbClr val="9BF2C7"/>
            </a:solidFill>
            <a:prstDash val="solid"/>
            <a:headEnd type="triangle" w="sm" len="sm"/>
            <a:tailEnd type="triangle" w="sm" len="sm"/>
          </a:ln>
        </p:spPr>
      </p:cxnSp>
      <p:cxnSp>
        <p:nvCxnSpPr>
          <p:cNvPr id="36" name="">
            <a:extLst xmlns:a="http://schemas.openxmlformats.org/drawingml/2006/main">
              <a:ext uri="{FF2B5EF4-FFF2-40B4-BE49-F238E27FC236}">
                <a16:creationId xmlns:a16="http://schemas.microsoft.com/office/drawing/2014/main" id="{E551E0D2-45AA-4B73-B5FC-DD11433AEC71}"/>
              </a:ext>
            </a:extLst>
          </p:cNvPr>
          <p:cNvCxnSpPr>
            <a:stCxn xmlns:a="http://schemas.openxmlformats.org/drawingml/2006/main" id="11" idx="2"/>
            <a:endCxn xmlns:a="http://schemas.openxmlformats.org/drawingml/2006/main" id="24" idx="0"/>
          </p:cNvCxnSpPr>
          <p:nvPr/>
        </p:nvCxnSpPr>
        <p:spPr>
          <a:xfrm xmlns:a="http://schemas.openxmlformats.org/drawingml/2006/main">
            <a:off x="6953250" y="3810000"/>
            <a:ext cx="0" cy="904875"/>
          </a:xfrm>
          <a:prstGeom xmlns:a="http://schemas.openxmlformats.org/drawingml/2006/main" prst="straightConnector1">
            <a:avLst/>
          </a:prstGeom>
          <a:ln xmlns:a="http://schemas.openxmlformats.org/drawingml/2006/main" w="20955">
            <a:solidFill>
              <a:srgbClr val="AEC0CB"/>
            </a:solidFill>
            <a:prstDash val="dash"/>
            <a:tailEnd type="triangle" w="sm" len="sm"/>
          </a:ln>
        </p:spPr>
      </p:cxnSp>
      <p:cxnSp>
        <p:nvCxnSpPr>
          <p:cNvPr id="23" name="">
            <a:extLst xmlns:a="http://schemas.openxmlformats.org/drawingml/2006/main">
              <a:ext uri="{FF2B5EF4-FFF2-40B4-BE49-F238E27FC236}">
                <a16:creationId xmlns:a16="http://schemas.microsoft.com/office/drawing/2014/main" id="{C5CFCEFE-81D4-420E-82BB-2D66503238A6}"/>
              </a:ext>
            </a:extLst>
          </p:cNvPr>
          <p:cNvCxnSpPr>
            <a:stCxn xmlns:a="http://schemas.openxmlformats.org/drawingml/2006/main" id="14" idx="3"/>
            <a:endCxn xmlns:a="http://schemas.openxmlformats.org/drawingml/2006/main" id="17" idx="1"/>
          </p:cNvCxnSpPr>
          <p:nvPr/>
        </p:nvCxnSpPr>
        <p:spPr>
          <a:xfrm xmlns:a="http://schemas.openxmlformats.org/drawingml/2006/main">
            <a:off x="10763250" y="3286125"/>
            <a:ext cx="762000" cy="0"/>
          </a:xfrm>
          <a:prstGeom xmlns:a="http://schemas.openxmlformats.org/drawingml/2006/main" prst="straightConnector1">
            <a:avLst/>
          </a:prstGeom>
          <a:ln xmlns:a="http://schemas.openxmlformats.org/drawingml/2006/main" w="20955">
            <a:solidFill>
              <a:srgbClr val="9BF2C7"/>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9980C37E-7D33-4743-8F7D-B4674CB2AFFC}"/>
              </a:ext>
            </a:extLst>
          </p:cNvPr>
          <p:cNvCxnSpPr>
            <a:stCxn xmlns:a="http://schemas.openxmlformats.org/drawingml/2006/main" id="11" idx="3"/>
            <a:endCxn xmlns:a="http://schemas.openxmlformats.org/drawingml/2006/main" id="14" idx="1"/>
          </p:cNvCxnSpPr>
          <p:nvPr/>
        </p:nvCxnSpPr>
        <p:spPr>
          <a:xfrm xmlns:a="http://schemas.openxmlformats.org/drawingml/2006/main">
            <a:off x="8001000" y="3286125"/>
            <a:ext cx="476250" cy="0"/>
          </a:xfrm>
          <a:prstGeom xmlns:a="http://schemas.openxmlformats.org/drawingml/2006/main" prst="straightConnector1">
            <a:avLst/>
          </a:prstGeom>
          <a:ln xmlns:a="http://schemas.openxmlformats.org/drawingml/2006/main" w="20955">
            <a:solidFill>
              <a:srgbClr val="9BF2C7"/>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15FFB6D3-061C-4963-B4C8-0800B3B6054A}"/>
              </a:ext>
            </a:extLst>
          </p:cNvPr>
          <p:cNvCxnSpPr>
            <a:stCxn xmlns:a="http://schemas.openxmlformats.org/drawingml/2006/main" id="8" idx="3"/>
            <a:endCxn xmlns:a="http://schemas.openxmlformats.org/drawingml/2006/main" id="11" idx="1"/>
          </p:cNvCxnSpPr>
          <p:nvPr/>
        </p:nvCxnSpPr>
        <p:spPr>
          <a:xfrm xmlns:a="http://schemas.openxmlformats.org/drawingml/2006/main">
            <a:off x="5429250" y="3286125"/>
            <a:ext cx="476250" cy="0"/>
          </a:xfrm>
          <a:prstGeom xmlns:a="http://schemas.openxmlformats.org/drawingml/2006/main" prst="straightConnector1">
            <a:avLst/>
          </a:prstGeom>
          <a:ln xmlns:a="http://schemas.openxmlformats.org/drawingml/2006/main" w="20955">
            <a:solidFill>
              <a:srgbClr val="9BF2C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05371C28-6E68-4B21-94C2-03F6BD5AF516}"/>
              </a:ext>
            </a:extLst>
          </p:cNvPr>
          <p:cNvCxnSpPr>
            <a:stCxn xmlns:a="http://schemas.openxmlformats.org/drawingml/2006/main" id="5" idx="3"/>
            <a:endCxn xmlns:a="http://schemas.openxmlformats.org/drawingml/2006/main" id="8" idx="1"/>
          </p:cNvCxnSpPr>
          <p:nvPr/>
        </p:nvCxnSpPr>
        <p:spPr>
          <a:xfrm xmlns:a="http://schemas.openxmlformats.org/drawingml/2006/main">
            <a:off x="2857500" y="3286125"/>
            <a:ext cx="476250" cy="0"/>
          </a:xfrm>
          <a:prstGeom xmlns:a="http://schemas.openxmlformats.org/drawingml/2006/main" prst="straightConnector1">
            <a:avLst/>
          </a:prstGeom>
          <a:ln xmlns:a="http://schemas.openxmlformats.org/drawingml/2006/main" w="20955">
            <a:solidFill>
              <a:srgbClr val="9BF2C7"/>
            </a:solidFill>
            <a:prstDash val="solid"/>
            <a:tailEnd type="triangle" w="sm" len="sm"/>
          </a:ln>
        </p:spPr>
      </p:cxnSp>
      <p:sp>
        <p:nvSpPr>
          <p:cNvPr id="51" name="NOVA">
            <a:extLst xmlns:a="http://schemas.openxmlformats.org/drawingml/2006/main">
              <a:ext uri="{FF2B5EF4-FFF2-40B4-BE49-F238E27FC236}">
                <a16:creationId xmlns:a16="http://schemas.microsoft.com/office/drawing/2014/main" id="{ABD0B2E9-DC00-4DA0-8EC0-F3F8472E1509}"/>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9BF2C7"/>
                </a:solidFill>
                <a:latin typeface="Arial"/>
                <a:ea typeface="Arial"/>
                <a:cs typeface="Arial"/>
              </a:defRPr>
            </a:defPPr>
          </a:lstStyle>
          <a:p xmlns:a="http://schemas.openxmlformats.org/drawingml/2006/main">
            <a:pPr algn="l">
              <a:defRPr sz="1425" b="1">
                <a:solidFill>
                  <a:srgbClr val="9BF2C7"/>
                </a:solidFill>
                <a:latin typeface="Arial"/>
                <a:ea typeface="Arial"/>
                <a:cs typeface="Arial"/>
              </a:defRPr>
            </a:pPr>
            <a:r>
              <a:rPr sz="1425" b="1">
                <a:solidFill>
                  <a:srgbClr val="9BF2C7"/>
                </a:solidFill>
                <a:latin typeface="Arial"/>
                <a:ea typeface="Arial"/>
                <a:cs typeface="Arial"/>
              </a:rPr>
              <a:t>NOVA</a:t>
            </a:r>
          </a:p>
        </p:txBody>
      </p:sp>
      <p:sp>
        <p:nvSpPr>
          <p:cNvPr id="2" name="04">
            <a:extLst xmlns:a="http://schemas.openxmlformats.org/drawingml/2006/main">
              <a:ext uri="{FF2B5EF4-FFF2-40B4-BE49-F238E27FC236}">
                <a16:creationId xmlns:a16="http://schemas.microsoft.com/office/drawing/2014/main" id="{2E53E5F4-ED9E-471D-A43F-5C3C4846F5CE}"/>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B"/>
                </a:solidFill>
                <a:latin typeface="Arial"/>
                <a:ea typeface="Arial"/>
                <a:cs typeface="Arial"/>
              </a:defRPr>
            </a:defPPr>
          </a:lstStyle>
          <a:p xmlns:a="http://schemas.openxmlformats.org/drawingml/2006/main">
            <a:pPr algn="r">
              <a:defRPr sz="1350" b="0">
                <a:solidFill>
                  <a:srgbClr val="AEC0CB"/>
                </a:solidFill>
                <a:latin typeface="Arial"/>
                <a:ea typeface="Arial"/>
                <a:cs typeface="Arial"/>
              </a:defRPr>
            </a:pPr>
            <a:r>
              <a:rPr sz="1350" b="0">
                <a:solidFill>
                  <a:srgbClr val="AEC0CB"/>
                </a:solidFill>
                <a:latin typeface="Arial"/>
                <a:ea typeface="Arial"/>
                <a:cs typeface="Arial"/>
              </a:rPr>
              <a:t>04</a:t>
            </a:r>
          </a:p>
        </p:txBody>
      </p:sp>
      <p:sp>
        <p:nvSpPr>
          <p:cNvPr id="3" name="System architecture">
            <a:extLst xmlns:a="http://schemas.openxmlformats.org/drawingml/2006/main">
              <a:ext uri="{FF2B5EF4-FFF2-40B4-BE49-F238E27FC236}">
                <a16:creationId xmlns:a16="http://schemas.microsoft.com/office/drawing/2014/main" id="{C3B6B3A5-6422-4FB7-8DFD-A6A47360FFA2}"/>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5F4EE"/>
                </a:solidFill>
                <a:latin typeface="Arial"/>
                <a:ea typeface="Arial"/>
                <a:cs typeface="Arial"/>
              </a:defRPr>
            </a:defPPr>
          </a:lstStyle>
          <a:p xmlns:a="http://schemas.openxmlformats.org/drawingml/2006/main">
            <a:pPr algn="l">
              <a:defRPr sz="4350" b="1">
                <a:solidFill>
                  <a:srgbClr val="F5F4EE"/>
                </a:solidFill>
                <a:latin typeface="Arial"/>
                <a:ea typeface="Arial"/>
                <a:cs typeface="Arial"/>
              </a:defRPr>
            </a:pPr>
            <a:r>
              <a:rPr sz="4350" b="1">
                <a:solidFill>
                  <a:srgbClr val="F5F4EE"/>
                </a:solidFill>
                <a:latin typeface="Arial"/>
                <a:ea typeface="Arial"/>
                <a:cs typeface="Arial"/>
              </a:rPr>
              <a:t>System architecture</a:t>
            </a:r>
          </a:p>
        </p:txBody>
      </p:sp>
      <p:sp>
        <p:nvSpPr>
          <p:cNvPr id="4" name="LOCAL DEVICE">
            <a:extLst xmlns:a="http://schemas.openxmlformats.org/drawingml/2006/main">
              <a:ext uri="{FF2B5EF4-FFF2-40B4-BE49-F238E27FC236}">
                <a16:creationId xmlns:a16="http://schemas.microsoft.com/office/drawing/2014/main" id="{CF0C602C-ED6A-44CE-82A1-42AC183C85C0}"/>
              </a:ext>
            </a:extLst>
          </p:cNvPr>
          <p:cNvSpPr>
            <a:spLocks xmlns:a="http://schemas.openxmlformats.org/drawingml/2006/main" noGrp="1"/>
          </p:cNvSpPr>
          <p:nvPr/>
        </p:nvSpPr>
        <p:spPr>
          <a:xfrm xmlns:a="http://schemas.openxmlformats.org/drawingml/2006/main">
            <a:off x="762000" y="20955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9BF2C7"/>
                </a:solidFill>
                <a:latin typeface="Arial"/>
                <a:ea typeface="Arial"/>
                <a:cs typeface="Arial"/>
              </a:defRPr>
            </a:defPPr>
          </a:lstStyle>
          <a:p xmlns:a="http://schemas.openxmlformats.org/drawingml/2006/main">
            <a:pPr algn="l">
              <a:defRPr sz="1500" b="1">
                <a:solidFill>
                  <a:srgbClr val="9BF2C7"/>
                </a:solidFill>
                <a:latin typeface="Arial"/>
                <a:ea typeface="Arial"/>
                <a:cs typeface="Arial"/>
              </a:defRPr>
            </a:pPr>
            <a:r>
              <a:rPr sz="1500" b="1">
                <a:solidFill>
                  <a:srgbClr val="9BF2C7"/>
                </a:solidFill>
                <a:latin typeface="Arial"/>
                <a:ea typeface="Arial"/>
                <a:cs typeface="Arial"/>
              </a:rPr>
              <a:t>LOCAL DEVICE</a:t>
            </a:r>
          </a:p>
        </p:txBody>
      </p:sp>
      <p:sp>
        <p:nvSpPr>
          <p:cNvPr id="5" name="Mic + VAD">
            <a:extLst xmlns:a="http://schemas.openxmlformats.org/drawingml/2006/main">
              <a:ext uri="{FF2B5EF4-FFF2-40B4-BE49-F238E27FC236}">
                <a16:creationId xmlns:a16="http://schemas.microsoft.com/office/drawing/2014/main" id="{5D508F5C-2710-482A-B745-74E7408F0F15}"/>
              </a:ext>
            </a:extLst>
          </p:cNvPr>
          <p:cNvSpPr>
            <a:spLocks xmlns:a="http://schemas.openxmlformats.org/drawingml/2006/main" noGrp="1"/>
          </p:cNvSpPr>
          <p:nvPr/>
        </p:nvSpPr>
        <p:spPr>
          <a:xfrm xmlns:a="http://schemas.openxmlformats.org/drawingml/2006/main">
            <a:off x="762000" y="2762250"/>
            <a:ext cx="2095500" cy="1047750"/>
          </a:xfrm>
          <a:prstGeom xmlns:a="http://schemas.openxmlformats.org/drawingml/2006/main" prst="rect">
            <a:avLst/>
          </a:prstGeom>
          <a:solidFill xmlns:a="http://schemas.openxmlformats.org/drawingml/2006/main">
            <a:srgbClr val="142B36"/>
          </a:solidFill>
          <a:ln xmlns:a="http://schemas.openxmlformats.org/drawingml/2006/main" w="9525">
            <a:solidFill>
              <a:srgbClr val="42606C"/>
            </a:solidFill>
          </a:ln>
        </p:spPr>
      </p:sp>
      <p:sp>
        <p:nvSpPr>
          <p:cNvPr id="6" name="Mic + VAD">
            <a:extLst xmlns:a="http://schemas.openxmlformats.org/drawingml/2006/main">
              <a:ext uri="{FF2B5EF4-FFF2-40B4-BE49-F238E27FC236}">
                <a16:creationId xmlns:a16="http://schemas.microsoft.com/office/drawing/2014/main" id="{15DC2D1C-2E49-4C7D-B1EF-6AD99B19A32E}"/>
              </a:ext>
            </a:extLst>
          </p:cNvPr>
          <p:cNvSpPr>
            <a:spLocks xmlns:a="http://schemas.openxmlformats.org/drawingml/2006/main" noGrp="1"/>
          </p:cNvSpPr>
          <p:nvPr/>
        </p:nvSpPr>
        <p:spPr>
          <a:xfrm xmlns:a="http://schemas.openxmlformats.org/drawingml/2006/main">
            <a:off x="914400" y="2924175"/>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4EE"/>
                </a:solidFill>
                <a:latin typeface="Arial"/>
                <a:ea typeface="Arial"/>
                <a:cs typeface="Arial"/>
              </a:defRPr>
            </a:defPPr>
          </a:lstStyle>
          <a:p xmlns:a="http://schemas.openxmlformats.org/drawingml/2006/main">
            <a:pPr algn="l">
              <a:defRPr sz="1800" b="1">
                <a:solidFill>
                  <a:srgbClr val="F5F4EE"/>
                </a:solidFill>
                <a:latin typeface="Arial"/>
                <a:ea typeface="Arial"/>
                <a:cs typeface="Arial"/>
              </a:defRPr>
            </a:pPr>
            <a:r>
              <a:rPr sz="1800" b="1">
                <a:solidFill>
                  <a:srgbClr val="F5F4EE"/>
                </a:solidFill>
                <a:latin typeface="Arial"/>
                <a:ea typeface="Arial"/>
                <a:cs typeface="Arial"/>
              </a:rPr>
              <a:t>Mic + VAD</a:t>
            </a:r>
          </a:p>
        </p:txBody>
      </p:sp>
      <p:sp>
        <p:nvSpPr>
          <p:cNvPr id="7" name="16 kHz / RMS">
            <a:extLst xmlns:a="http://schemas.openxmlformats.org/drawingml/2006/main">
              <a:ext uri="{FF2B5EF4-FFF2-40B4-BE49-F238E27FC236}">
                <a16:creationId xmlns:a16="http://schemas.microsoft.com/office/drawing/2014/main" id="{8482F143-1B48-4371-8584-394C4EF74F2E}"/>
              </a:ext>
            </a:extLst>
          </p:cNvPr>
          <p:cNvSpPr>
            <a:spLocks xmlns:a="http://schemas.openxmlformats.org/drawingml/2006/main" noGrp="1"/>
          </p:cNvSpPr>
          <p:nvPr/>
        </p:nvSpPr>
        <p:spPr>
          <a:xfrm xmlns:a="http://schemas.openxmlformats.org/drawingml/2006/main">
            <a:off x="914400" y="3343275"/>
            <a:ext cx="1790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5F4EE"/>
                </a:solidFill>
                <a:latin typeface="Arial"/>
                <a:ea typeface="Arial"/>
                <a:cs typeface="Arial"/>
              </a:defRPr>
            </a:defPPr>
          </a:lstStyle>
          <a:p xmlns:a="http://schemas.openxmlformats.org/drawingml/2006/main">
            <a:pPr algn="l">
              <a:defRPr sz="1575" b="0">
                <a:solidFill>
                  <a:srgbClr val="F5F4EE"/>
                </a:solidFill>
                <a:latin typeface="Arial"/>
                <a:ea typeface="Arial"/>
                <a:cs typeface="Arial"/>
              </a:defRPr>
            </a:pPr>
            <a:r>
              <a:rPr sz="1575" b="0">
                <a:solidFill>
                  <a:srgbClr val="F5F4EE"/>
                </a:solidFill>
                <a:latin typeface="Arial"/>
                <a:ea typeface="Arial"/>
                <a:cs typeface="Arial"/>
              </a:rPr>
              <a:t>16 kHz / RMS</a:t>
            </a:r>
          </a:p>
        </p:txBody>
      </p:sp>
      <p:sp>
        <p:nvSpPr>
          <p:cNvPr id="8" name="Whisper STT">
            <a:extLst xmlns:a="http://schemas.openxmlformats.org/drawingml/2006/main">
              <a:ext uri="{FF2B5EF4-FFF2-40B4-BE49-F238E27FC236}">
                <a16:creationId xmlns:a16="http://schemas.microsoft.com/office/drawing/2014/main" id="{36024663-9EDF-4FDB-9311-59335CCDAA13}"/>
              </a:ext>
            </a:extLst>
          </p:cNvPr>
          <p:cNvSpPr>
            <a:spLocks xmlns:a="http://schemas.openxmlformats.org/drawingml/2006/main" noGrp="1"/>
          </p:cNvSpPr>
          <p:nvPr/>
        </p:nvSpPr>
        <p:spPr>
          <a:xfrm xmlns:a="http://schemas.openxmlformats.org/drawingml/2006/main">
            <a:off x="3333750" y="2762250"/>
            <a:ext cx="2095500" cy="1047750"/>
          </a:xfrm>
          <a:prstGeom xmlns:a="http://schemas.openxmlformats.org/drawingml/2006/main" prst="rect">
            <a:avLst/>
          </a:prstGeom>
          <a:solidFill xmlns:a="http://schemas.openxmlformats.org/drawingml/2006/main">
            <a:srgbClr val="142B36"/>
          </a:solidFill>
          <a:ln xmlns:a="http://schemas.openxmlformats.org/drawingml/2006/main" w="9525">
            <a:solidFill>
              <a:srgbClr val="42606C"/>
            </a:solidFill>
          </a:ln>
        </p:spPr>
      </p:sp>
      <p:sp>
        <p:nvSpPr>
          <p:cNvPr id="9" name="Whisper STT">
            <a:extLst xmlns:a="http://schemas.openxmlformats.org/drawingml/2006/main">
              <a:ext uri="{FF2B5EF4-FFF2-40B4-BE49-F238E27FC236}">
                <a16:creationId xmlns:a16="http://schemas.microsoft.com/office/drawing/2014/main" id="{BA7BFE75-5557-47DA-B7FB-7BBFE266183E}"/>
              </a:ext>
            </a:extLst>
          </p:cNvPr>
          <p:cNvSpPr>
            <a:spLocks xmlns:a="http://schemas.openxmlformats.org/drawingml/2006/main" noGrp="1"/>
          </p:cNvSpPr>
          <p:nvPr/>
        </p:nvSpPr>
        <p:spPr>
          <a:xfrm xmlns:a="http://schemas.openxmlformats.org/drawingml/2006/main">
            <a:off x="3486150" y="2924175"/>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4EE"/>
                </a:solidFill>
                <a:latin typeface="Arial"/>
                <a:ea typeface="Arial"/>
                <a:cs typeface="Arial"/>
              </a:defRPr>
            </a:defPPr>
          </a:lstStyle>
          <a:p xmlns:a="http://schemas.openxmlformats.org/drawingml/2006/main">
            <a:pPr algn="l">
              <a:defRPr sz="1800" b="1">
                <a:solidFill>
                  <a:srgbClr val="F5F4EE"/>
                </a:solidFill>
                <a:latin typeface="Arial"/>
                <a:ea typeface="Arial"/>
                <a:cs typeface="Arial"/>
              </a:defRPr>
            </a:pPr>
            <a:r>
              <a:rPr sz="1800" b="1">
                <a:solidFill>
                  <a:srgbClr val="F5F4EE"/>
                </a:solidFill>
                <a:latin typeface="Arial"/>
                <a:ea typeface="Arial"/>
                <a:cs typeface="Arial"/>
              </a:rPr>
              <a:t>Whisper STT</a:t>
            </a:r>
          </a:p>
        </p:txBody>
      </p:sp>
      <p:sp>
        <p:nvSpPr>
          <p:cNvPr id="10" name="Local tiny.en">
            <a:extLst xmlns:a="http://schemas.openxmlformats.org/drawingml/2006/main">
              <a:ext uri="{FF2B5EF4-FFF2-40B4-BE49-F238E27FC236}">
                <a16:creationId xmlns:a16="http://schemas.microsoft.com/office/drawing/2014/main" id="{C0F59FDB-6422-49C7-BFA0-066A7DA76D2D}"/>
              </a:ext>
            </a:extLst>
          </p:cNvPr>
          <p:cNvSpPr>
            <a:spLocks xmlns:a="http://schemas.openxmlformats.org/drawingml/2006/main" noGrp="1"/>
          </p:cNvSpPr>
          <p:nvPr/>
        </p:nvSpPr>
        <p:spPr>
          <a:xfrm xmlns:a="http://schemas.openxmlformats.org/drawingml/2006/main">
            <a:off x="3486150" y="3343275"/>
            <a:ext cx="1790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5F4EE"/>
                </a:solidFill>
                <a:latin typeface="Arial"/>
                <a:ea typeface="Arial"/>
                <a:cs typeface="Arial"/>
              </a:defRPr>
            </a:defPPr>
          </a:lstStyle>
          <a:p xmlns:a="http://schemas.openxmlformats.org/drawingml/2006/main">
            <a:pPr algn="l">
              <a:defRPr sz="1575" b="0">
                <a:solidFill>
                  <a:srgbClr val="F5F4EE"/>
                </a:solidFill>
                <a:latin typeface="Arial"/>
                <a:ea typeface="Arial"/>
                <a:cs typeface="Arial"/>
              </a:defRPr>
            </a:pPr>
            <a:r>
              <a:rPr sz="1575" b="0">
                <a:solidFill>
                  <a:srgbClr val="F5F4EE"/>
                </a:solidFill>
                <a:latin typeface="Arial"/>
                <a:ea typeface="Arial"/>
                <a:cs typeface="Arial"/>
              </a:rPr>
              <a:t>Local tiny.en</a:t>
            </a:r>
          </a:p>
        </p:txBody>
      </p:sp>
      <p:sp>
        <p:nvSpPr>
          <p:cNvPr id="11" name="Activation">
            <a:extLst xmlns:a="http://schemas.openxmlformats.org/drawingml/2006/main">
              <a:ext uri="{FF2B5EF4-FFF2-40B4-BE49-F238E27FC236}">
                <a16:creationId xmlns:a16="http://schemas.microsoft.com/office/drawing/2014/main" id="{42D9495A-6EC9-43BE-A2FF-BB5543178CD7}"/>
              </a:ext>
            </a:extLst>
          </p:cNvPr>
          <p:cNvSpPr>
            <a:spLocks xmlns:a="http://schemas.openxmlformats.org/drawingml/2006/main" noGrp="1"/>
          </p:cNvSpPr>
          <p:nvPr/>
        </p:nvSpPr>
        <p:spPr>
          <a:xfrm xmlns:a="http://schemas.openxmlformats.org/drawingml/2006/main">
            <a:off x="5905500" y="2762250"/>
            <a:ext cx="2095500" cy="1047750"/>
          </a:xfrm>
          <a:prstGeom xmlns:a="http://schemas.openxmlformats.org/drawingml/2006/main" prst="rect">
            <a:avLst/>
          </a:prstGeom>
          <a:solidFill xmlns:a="http://schemas.openxmlformats.org/drawingml/2006/main">
            <a:srgbClr val="142B36"/>
          </a:solidFill>
          <a:ln xmlns:a="http://schemas.openxmlformats.org/drawingml/2006/main" w="9525">
            <a:solidFill>
              <a:srgbClr val="42606C"/>
            </a:solidFill>
          </a:ln>
        </p:spPr>
      </p:sp>
      <p:sp>
        <p:nvSpPr>
          <p:cNvPr id="12" name="Activation">
            <a:extLst xmlns:a="http://schemas.openxmlformats.org/drawingml/2006/main">
              <a:ext uri="{FF2B5EF4-FFF2-40B4-BE49-F238E27FC236}">
                <a16:creationId xmlns:a16="http://schemas.microsoft.com/office/drawing/2014/main" id="{59E0537C-85C0-404B-93D9-50CB3315DE23}"/>
              </a:ext>
            </a:extLst>
          </p:cNvPr>
          <p:cNvSpPr>
            <a:spLocks xmlns:a="http://schemas.openxmlformats.org/drawingml/2006/main" noGrp="1"/>
          </p:cNvSpPr>
          <p:nvPr/>
        </p:nvSpPr>
        <p:spPr>
          <a:xfrm xmlns:a="http://schemas.openxmlformats.org/drawingml/2006/main">
            <a:off x="6057900" y="2924175"/>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4EE"/>
                </a:solidFill>
                <a:latin typeface="Arial"/>
                <a:ea typeface="Arial"/>
                <a:cs typeface="Arial"/>
              </a:defRPr>
            </a:defPPr>
          </a:lstStyle>
          <a:p xmlns:a="http://schemas.openxmlformats.org/drawingml/2006/main">
            <a:pPr algn="l">
              <a:defRPr sz="1800" b="1">
                <a:solidFill>
                  <a:srgbClr val="F5F4EE"/>
                </a:solidFill>
                <a:latin typeface="Arial"/>
                <a:ea typeface="Arial"/>
                <a:cs typeface="Arial"/>
              </a:defRPr>
            </a:pPr>
            <a:r>
              <a:rPr sz="1800" b="1">
                <a:solidFill>
                  <a:srgbClr val="F5F4EE"/>
                </a:solidFill>
                <a:latin typeface="Arial"/>
                <a:ea typeface="Arial"/>
                <a:cs typeface="Arial"/>
              </a:rPr>
              <a:t>Activation</a:t>
            </a:r>
          </a:p>
        </p:txBody>
      </p:sp>
      <p:sp>
        <p:nvSpPr>
          <p:cNvPr id="13" name="Nova prefix">
            <a:extLst xmlns:a="http://schemas.openxmlformats.org/drawingml/2006/main">
              <a:ext uri="{FF2B5EF4-FFF2-40B4-BE49-F238E27FC236}">
                <a16:creationId xmlns:a16="http://schemas.microsoft.com/office/drawing/2014/main" id="{92664BCF-8F67-4CA6-9D49-9E3652524A75}"/>
              </a:ext>
            </a:extLst>
          </p:cNvPr>
          <p:cNvSpPr>
            <a:spLocks xmlns:a="http://schemas.openxmlformats.org/drawingml/2006/main" noGrp="1"/>
          </p:cNvSpPr>
          <p:nvPr/>
        </p:nvSpPr>
        <p:spPr>
          <a:xfrm xmlns:a="http://schemas.openxmlformats.org/drawingml/2006/main">
            <a:off x="6057900" y="3343275"/>
            <a:ext cx="1790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5F4EE"/>
                </a:solidFill>
                <a:latin typeface="Arial"/>
                <a:ea typeface="Arial"/>
                <a:cs typeface="Arial"/>
              </a:defRPr>
            </a:defPPr>
          </a:lstStyle>
          <a:p xmlns:a="http://schemas.openxmlformats.org/drawingml/2006/main">
            <a:pPr algn="l">
              <a:defRPr sz="1575" b="0">
                <a:solidFill>
                  <a:srgbClr val="F5F4EE"/>
                </a:solidFill>
                <a:latin typeface="Arial"/>
                <a:ea typeface="Arial"/>
                <a:cs typeface="Arial"/>
              </a:defRPr>
            </a:pPr>
            <a:r>
              <a:rPr sz="1575" b="0">
                <a:solidFill>
                  <a:srgbClr val="F5F4EE"/>
                </a:solidFill>
                <a:latin typeface="Arial"/>
                <a:ea typeface="Arial"/>
                <a:cs typeface="Arial"/>
              </a:rPr>
              <a:t>Nova prefix</a:t>
            </a:r>
          </a:p>
        </p:txBody>
      </p:sp>
      <p:sp>
        <p:nvSpPr>
          <p:cNvPr id="14" name="Assistant">
            <a:extLst xmlns:a="http://schemas.openxmlformats.org/drawingml/2006/main">
              <a:ext uri="{FF2B5EF4-FFF2-40B4-BE49-F238E27FC236}">
                <a16:creationId xmlns:a16="http://schemas.microsoft.com/office/drawing/2014/main" id="{91FB2707-0443-4528-BE1D-4CC2D2C892AA}"/>
              </a:ext>
            </a:extLst>
          </p:cNvPr>
          <p:cNvSpPr>
            <a:spLocks xmlns:a="http://schemas.openxmlformats.org/drawingml/2006/main" noGrp="1"/>
          </p:cNvSpPr>
          <p:nvPr/>
        </p:nvSpPr>
        <p:spPr>
          <a:xfrm xmlns:a="http://schemas.openxmlformats.org/drawingml/2006/main">
            <a:off x="8477250" y="2762250"/>
            <a:ext cx="2286000" cy="1047750"/>
          </a:xfrm>
          <a:prstGeom xmlns:a="http://schemas.openxmlformats.org/drawingml/2006/main" prst="rect">
            <a:avLst/>
          </a:prstGeom>
          <a:solidFill xmlns:a="http://schemas.openxmlformats.org/drawingml/2006/main">
            <a:srgbClr val="142B36"/>
          </a:solidFill>
          <a:ln xmlns:a="http://schemas.openxmlformats.org/drawingml/2006/main" w="9525">
            <a:solidFill>
              <a:srgbClr val="42606C"/>
            </a:solidFill>
          </a:ln>
        </p:spPr>
      </p:sp>
      <p:sp>
        <p:nvSpPr>
          <p:cNvPr id="15" name="Assistant">
            <a:extLst xmlns:a="http://schemas.openxmlformats.org/drawingml/2006/main">
              <a:ext uri="{FF2B5EF4-FFF2-40B4-BE49-F238E27FC236}">
                <a16:creationId xmlns:a16="http://schemas.microsoft.com/office/drawing/2014/main" id="{DCD90BAE-B9C3-4BB0-BEEA-3301F90B45C0}"/>
              </a:ext>
            </a:extLst>
          </p:cNvPr>
          <p:cNvSpPr>
            <a:spLocks xmlns:a="http://schemas.openxmlformats.org/drawingml/2006/main" noGrp="1"/>
          </p:cNvSpPr>
          <p:nvPr/>
        </p:nvSpPr>
        <p:spPr>
          <a:xfrm xmlns:a="http://schemas.openxmlformats.org/drawingml/2006/main">
            <a:off x="8629650" y="2924175"/>
            <a:ext cx="198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4EE"/>
                </a:solidFill>
                <a:latin typeface="Arial"/>
                <a:ea typeface="Arial"/>
                <a:cs typeface="Arial"/>
              </a:defRPr>
            </a:defPPr>
          </a:lstStyle>
          <a:p xmlns:a="http://schemas.openxmlformats.org/drawingml/2006/main">
            <a:pPr algn="l">
              <a:defRPr sz="1800" b="1">
                <a:solidFill>
                  <a:srgbClr val="F5F4EE"/>
                </a:solidFill>
                <a:latin typeface="Arial"/>
                <a:ea typeface="Arial"/>
                <a:cs typeface="Arial"/>
              </a:defRPr>
            </a:pPr>
            <a:r>
              <a:rPr sz="1800" b="1">
                <a:solidFill>
                  <a:srgbClr val="F5F4EE"/>
                </a:solidFill>
                <a:latin typeface="Arial"/>
                <a:ea typeface="Arial"/>
                <a:cs typeface="Arial"/>
              </a:rPr>
              <a:t>Assistant</a:t>
            </a:r>
          </a:p>
        </p:txBody>
      </p:sp>
      <p:sp>
        <p:nvSpPr>
          <p:cNvPr id="16" name="Recall / tools / chat">
            <a:extLst xmlns:a="http://schemas.openxmlformats.org/drawingml/2006/main">
              <a:ext uri="{FF2B5EF4-FFF2-40B4-BE49-F238E27FC236}">
                <a16:creationId xmlns:a16="http://schemas.microsoft.com/office/drawing/2014/main" id="{ABD8CCE6-3720-4C77-8E5B-68BED9B1CD0F}"/>
              </a:ext>
            </a:extLst>
          </p:cNvPr>
          <p:cNvSpPr>
            <a:spLocks xmlns:a="http://schemas.openxmlformats.org/drawingml/2006/main" noGrp="1"/>
          </p:cNvSpPr>
          <p:nvPr/>
        </p:nvSpPr>
        <p:spPr>
          <a:xfrm xmlns:a="http://schemas.openxmlformats.org/drawingml/2006/main">
            <a:off x="8629650" y="3343275"/>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5F4EE"/>
                </a:solidFill>
                <a:latin typeface="Arial"/>
                <a:ea typeface="Arial"/>
                <a:cs typeface="Arial"/>
              </a:defRPr>
            </a:defPPr>
          </a:lstStyle>
          <a:p xmlns:a="http://schemas.openxmlformats.org/drawingml/2006/main">
            <a:pPr algn="l">
              <a:defRPr sz="1575" b="0">
                <a:solidFill>
                  <a:srgbClr val="F5F4EE"/>
                </a:solidFill>
                <a:latin typeface="Arial"/>
                <a:ea typeface="Arial"/>
                <a:cs typeface="Arial"/>
              </a:defRPr>
            </a:pPr>
            <a:r>
              <a:rPr sz="1575" b="0">
                <a:solidFill>
                  <a:srgbClr val="F5F4EE"/>
                </a:solidFill>
                <a:latin typeface="Arial"/>
                <a:ea typeface="Arial"/>
                <a:cs typeface="Arial"/>
              </a:rPr>
              <a:t>Recall / tools / chat</a:t>
            </a:r>
          </a:p>
        </p:txBody>
      </p:sp>
      <p:sp>
        <p:nvSpPr>
          <p:cNvPr id="17" name="Piper + speaker">
            <a:extLst xmlns:a="http://schemas.openxmlformats.org/drawingml/2006/main">
              <a:ext uri="{FF2B5EF4-FFF2-40B4-BE49-F238E27FC236}">
                <a16:creationId xmlns:a16="http://schemas.microsoft.com/office/drawing/2014/main" id="{85E6C2FA-2EE5-411A-9D48-D182F1A638DB}"/>
              </a:ext>
            </a:extLst>
          </p:cNvPr>
          <p:cNvSpPr>
            <a:spLocks xmlns:a="http://schemas.openxmlformats.org/drawingml/2006/main" noGrp="1"/>
          </p:cNvSpPr>
          <p:nvPr/>
        </p:nvSpPr>
        <p:spPr>
          <a:xfrm xmlns:a="http://schemas.openxmlformats.org/drawingml/2006/main">
            <a:off x="11525250" y="2762250"/>
            <a:ext cx="2952750" cy="1047750"/>
          </a:xfrm>
          <a:prstGeom xmlns:a="http://schemas.openxmlformats.org/drawingml/2006/main" prst="rect">
            <a:avLst/>
          </a:prstGeom>
          <a:solidFill xmlns:a="http://schemas.openxmlformats.org/drawingml/2006/main">
            <a:srgbClr val="142B36"/>
          </a:solidFill>
          <a:ln xmlns:a="http://schemas.openxmlformats.org/drawingml/2006/main" w="9525">
            <a:solidFill>
              <a:srgbClr val="42606C"/>
            </a:solidFill>
          </a:ln>
        </p:spPr>
      </p:sp>
      <p:sp>
        <p:nvSpPr>
          <p:cNvPr id="18" name="Piper + speaker">
            <a:extLst xmlns:a="http://schemas.openxmlformats.org/drawingml/2006/main">
              <a:ext uri="{FF2B5EF4-FFF2-40B4-BE49-F238E27FC236}">
                <a16:creationId xmlns:a16="http://schemas.microsoft.com/office/drawing/2014/main" id="{26D09936-F5CF-403C-96BF-56C41868827B}"/>
              </a:ext>
            </a:extLst>
          </p:cNvPr>
          <p:cNvSpPr>
            <a:spLocks xmlns:a="http://schemas.openxmlformats.org/drawingml/2006/main" noGrp="1"/>
          </p:cNvSpPr>
          <p:nvPr/>
        </p:nvSpPr>
        <p:spPr>
          <a:xfrm xmlns:a="http://schemas.openxmlformats.org/drawingml/2006/main">
            <a:off x="11677650" y="2924175"/>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4EE"/>
                </a:solidFill>
                <a:latin typeface="Arial"/>
                <a:ea typeface="Arial"/>
                <a:cs typeface="Arial"/>
              </a:defRPr>
            </a:defPPr>
          </a:lstStyle>
          <a:p xmlns:a="http://schemas.openxmlformats.org/drawingml/2006/main">
            <a:pPr algn="l">
              <a:defRPr sz="1800" b="1">
                <a:solidFill>
                  <a:srgbClr val="F5F4EE"/>
                </a:solidFill>
                <a:latin typeface="Arial"/>
                <a:ea typeface="Arial"/>
                <a:cs typeface="Arial"/>
              </a:defRPr>
            </a:pPr>
            <a:r>
              <a:rPr sz="1800" b="1">
                <a:solidFill>
                  <a:srgbClr val="F5F4EE"/>
                </a:solidFill>
                <a:latin typeface="Arial"/>
                <a:ea typeface="Arial"/>
                <a:cs typeface="Arial"/>
              </a:rPr>
              <a:t>Piper + speaker</a:t>
            </a:r>
          </a:p>
        </p:txBody>
      </p:sp>
      <p:sp>
        <p:nvSpPr>
          <p:cNvPr id="19" name="Local speech output">
            <a:extLst xmlns:a="http://schemas.openxmlformats.org/drawingml/2006/main">
              <a:ext uri="{FF2B5EF4-FFF2-40B4-BE49-F238E27FC236}">
                <a16:creationId xmlns:a16="http://schemas.microsoft.com/office/drawing/2014/main" id="{2B3213E6-02E8-4C77-8C63-1F0F057DA6E5}"/>
              </a:ext>
            </a:extLst>
          </p:cNvPr>
          <p:cNvSpPr>
            <a:spLocks xmlns:a="http://schemas.openxmlformats.org/drawingml/2006/main" noGrp="1"/>
          </p:cNvSpPr>
          <p:nvPr/>
        </p:nvSpPr>
        <p:spPr>
          <a:xfrm xmlns:a="http://schemas.openxmlformats.org/drawingml/2006/main">
            <a:off x="11677650" y="3343275"/>
            <a:ext cx="2647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5F4EE"/>
                </a:solidFill>
                <a:latin typeface="Arial"/>
                <a:ea typeface="Arial"/>
                <a:cs typeface="Arial"/>
              </a:defRPr>
            </a:defPPr>
          </a:lstStyle>
          <a:p xmlns:a="http://schemas.openxmlformats.org/drawingml/2006/main">
            <a:pPr algn="l">
              <a:defRPr sz="1575" b="0">
                <a:solidFill>
                  <a:srgbClr val="F5F4EE"/>
                </a:solidFill>
                <a:latin typeface="Arial"/>
                <a:ea typeface="Arial"/>
                <a:cs typeface="Arial"/>
              </a:defRPr>
            </a:pPr>
            <a:r>
              <a:rPr sz="1575" b="0">
                <a:solidFill>
                  <a:srgbClr val="F5F4EE"/>
                </a:solidFill>
                <a:latin typeface="Arial"/>
                <a:ea typeface="Arial"/>
                <a:cs typeface="Arial"/>
              </a:rPr>
              <a:t>Local speech output</a:t>
            </a:r>
          </a:p>
        </p:txBody>
      </p:sp>
      <p:sp>
        <p:nvSpPr>
          <p:cNvPr id="24" name="Passive worker">
            <a:extLst xmlns:a="http://schemas.openxmlformats.org/drawingml/2006/main">
              <a:ext uri="{FF2B5EF4-FFF2-40B4-BE49-F238E27FC236}">
                <a16:creationId xmlns:a16="http://schemas.microsoft.com/office/drawing/2014/main" id="{15547F58-641F-4FD5-BE20-0B5E2FFD606B}"/>
              </a:ext>
            </a:extLst>
          </p:cNvPr>
          <p:cNvSpPr>
            <a:spLocks xmlns:a="http://schemas.openxmlformats.org/drawingml/2006/main" noGrp="1"/>
          </p:cNvSpPr>
          <p:nvPr/>
        </p:nvSpPr>
        <p:spPr>
          <a:xfrm xmlns:a="http://schemas.openxmlformats.org/drawingml/2006/main">
            <a:off x="5905500" y="4714875"/>
            <a:ext cx="2095500" cy="1066800"/>
          </a:xfrm>
          <a:prstGeom xmlns:a="http://schemas.openxmlformats.org/drawingml/2006/main" prst="rect">
            <a:avLst/>
          </a:prstGeom>
          <a:solidFill xmlns:a="http://schemas.openxmlformats.org/drawingml/2006/main">
            <a:srgbClr val="142B36"/>
          </a:solidFill>
          <a:ln xmlns:a="http://schemas.openxmlformats.org/drawingml/2006/main" w="9525">
            <a:solidFill>
              <a:srgbClr val="42606C"/>
            </a:solidFill>
          </a:ln>
        </p:spPr>
      </p:sp>
      <p:sp>
        <p:nvSpPr>
          <p:cNvPr id="25" name="Passive worker">
            <a:extLst xmlns:a="http://schemas.openxmlformats.org/drawingml/2006/main">
              <a:ext uri="{FF2B5EF4-FFF2-40B4-BE49-F238E27FC236}">
                <a16:creationId xmlns:a16="http://schemas.microsoft.com/office/drawing/2014/main" id="{86AB5A35-A940-41ED-9E1C-FC06732E980B}"/>
              </a:ext>
            </a:extLst>
          </p:cNvPr>
          <p:cNvSpPr>
            <a:spLocks xmlns:a="http://schemas.openxmlformats.org/drawingml/2006/main" noGrp="1"/>
          </p:cNvSpPr>
          <p:nvPr/>
        </p:nvSpPr>
        <p:spPr>
          <a:xfrm xmlns:a="http://schemas.openxmlformats.org/drawingml/2006/main">
            <a:off x="6057900" y="4876800"/>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4EE"/>
                </a:solidFill>
                <a:latin typeface="Arial"/>
                <a:ea typeface="Arial"/>
                <a:cs typeface="Arial"/>
              </a:defRPr>
            </a:defPPr>
          </a:lstStyle>
          <a:p xmlns:a="http://schemas.openxmlformats.org/drawingml/2006/main">
            <a:pPr algn="l">
              <a:defRPr sz="1800" b="1">
                <a:solidFill>
                  <a:srgbClr val="F5F4EE"/>
                </a:solidFill>
                <a:latin typeface="Arial"/>
                <a:ea typeface="Arial"/>
                <a:cs typeface="Arial"/>
              </a:defRPr>
            </a:pPr>
            <a:r>
              <a:rPr sz="1800" b="1">
                <a:solidFill>
                  <a:srgbClr val="F5F4EE"/>
                </a:solidFill>
                <a:latin typeface="Arial"/>
                <a:ea typeface="Arial"/>
                <a:cs typeface="Arial"/>
              </a:rPr>
              <a:t>Passive worker</a:t>
            </a:r>
          </a:p>
        </p:txBody>
      </p:sp>
      <p:sp>
        <p:nvSpPr>
          <p:cNvPr id="26" name="Opt-in observations">
            <a:extLst xmlns:a="http://schemas.openxmlformats.org/drawingml/2006/main">
              <a:ext uri="{FF2B5EF4-FFF2-40B4-BE49-F238E27FC236}">
                <a16:creationId xmlns:a16="http://schemas.microsoft.com/office/drawing/2014/main" id="{5FCA4DD3-97CF-4232-B930-A33A89DFBEB4}"/>
              </a:ext>
            </a:extLst>
          </p:cNvPr>
          <p:cNvSpPr>
            <a:spLocks xmlns:a="http://schemas.openxmlformats.org/drawingml/2006/main" noGrp="1"/>
          </p:cNvSpPr>
          <p:nvPr/>
        </p:nvSpPr>
        <p:spPr>
          <a:xfrm xmlns:a="http://schemas.openxmlformats.org/drawingml/2006/main">
            <a:off x="6057900" y="5295900"/>
            <a:ext cx="1790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5F4EE"/>
                </a:solidFill>
                <a:latin typeface="Arial"/>
                <a:ea typeface="Arial"/>
                <a:cs typeface="Arial"/>
              </a:defRPr>
            </a:defPPr>
          </a:lstStyle>
          <a:p xmlns:a="http://schemas.openxmlformats.org/drawingml/2006/main">
            <a:pPr algn="l">
              <a:defRPr sz="1575" b="0">
                <a:solidFill>
                  <a:srgbClr val="F5F4EE"/>
                </a:solidFill>
                <a:latin typeface="Arial"/>
                <a:ea typeface="Arial"/>
                <a:cs typeface="Arial"/>
              </a:defRPr>
            </a:pPr>
            <a:r>
              <a:rPr sz="1575" b="0">
                <a:solidFill>
                  <a:srgbClr val="F5F4EE"/>
                </a:solidFill>
                <a:latin typeface="Arial"/>
                <a:ea typeface="Arial"/>
                <a:cs typeface="Arial"/>
              </a:rPr>
              <a:t>Opt-in observations</a:t>
            </a:r>
          </a:p>
        </p:txBody>
      </p:sp>
      <p:sp>
        <p:nvSpPr>
          <p:cNvPr id="27" name="Ollama">
            <a:extLst xmlns:a="http://schemas.openxmlformats.org/drawingml/2006/main">
              <a:ext uri="{FF2B5EF4-FFF2-40B4-BE49-F238E27FC236}">
                <a16:creationId xmlns:a16="http://schemas.microsoft.com/office/drawing/2014/main" id="{0B6BE139-107C-4843-8CD1-25B8F0FFDFD6}"/>
              </a:ext>
            </a:extLst>
          </p:cNvPr>
          <p:cNvSpPr>
            <a:spLocks xmlns:a="http://schemas.openxmlformats.org/drawingml/2006/main" noGrp="1"/>
          </p:cNvSpPr>
          <p:nvPr/>
        </p:nvSpPr>
        <p:spPr>
          <a:xfrm xmlns:a="http://schemas.openxmlformats.org/drawingml/2006/main">
            <a:off x="8477250" y="4714875"/>
            <a:ext cx="2286000" cy="1066800"/>
          </a:xfrm>
          <a:prstGeom xmlns:a="http://schemas.openxmlformats.org/drawingml/2006/main" prst="rect">
            <a:avLst/>
          </a:prstGeom>
          <a:solidFill xmlns:a="http://schemas.openxmlformats.org/drawingml/2006/main">
            <a:srgbClr val="142B36"/>
          </a:solidFill>
          <a:ln xmlns:a="http://schemas.openxmlformats.org/drawingml/2006/main" w="9525">
            <a:solidFill>
              <a:srgbClr val="42606C"/>
            </a:solidFill>
          </a:ln>
        </p:spPr>
      </p:sp>
      <p:sp>
        <p:nvSpPr>
          <p:cNvPr id="28" name="Ollama">
            <a:extLst xmlns:a="http://schemas.openxmlformats.org/drawingml/2006/main">
              <a:ext uri="{FF2B5EF4-FFF2-40B4-BE49-F238E27FC236}">
                <a16:creationId xmlns:a16="http://schemas.microsoft.com/office/drawing/2014/main" id="{C7CDDD69-7A5D-4132-A894-95987D735DE4}"/>
              </a:ext>
            </a:extLst>
          </p:cNvPr>
          <p:cNvSpPr>
            <a:spLocks xmlns:a="http://schemas.openxmlformats.org/drawingml/2006/main" noGrp="1"/>
          </p:cNvSpPr>
          <p:nvPr/>
        </p:nvSpPr>
        <p:spPr>
          <a:xfrm xmlns:a="http://schemas.openxmlformats.org/drawingml/2006/main">
            <a:off x="8629650" y="4876800"/>
            <a:ext cx="198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4EE"/>
                </a:solidFill>
                <a:latin typeface="Arial"/>
                <a:ea typeface="Arial"/>
                <a:cs typeface="Arial"/>
              </a:defRPr>
            </a:defPPr>
          </a:lstStyle>
          <a:p xmlns:a="http://schemas.openxmlformats.org/drawingml/2006/main">
            <a:pPr algn="l">
              <a:defRPr sz="1800" b="1">
                <a:solidFill>
                  <a:srgbClr val="F5F4EE"/>
                </a:solidFill>
                <a:latin typeface="Arial"/>
                <a:ea typeface="Arial"/>
                <a:cs typeface="Arial"/>
              </a:defRPr>
            </a:pPr>
            <a:r>
              <a:rPr sz="1800" b="1">
                <a:solidFill>
                  <a:srgbClr val="F5F4EE"/>
                </a:solidFill>
                <a:latin typeface="Arial"/>
                <a:ea typeface="Arial"/>
                <a:cs typeface="Arial"/>
              </a:rPr>
              <a:t>Ollama</a:t>
            </a:r>
          </a:p>
        </p:txBody>
      </p:sp>
      <p:sp>
        <p:nvSpPr>
          <p:cNvPr id="29" name="Llama 3.2 1B">
            <a:extLst xmlns:a="http://schemas.openxmlformats.org/drawingml/2006/main">
              <a:ext uri="{FF2B5EF4-FFF2-40B4-BE49-F238E27FC236}">
                <a16:creationId xmlns:a16="http://schemas.microsoft.com/office/drawing/2014/main" id="{FEDDA420-3D61-42D6-8289-0373C934D1E3}"/>
              </a:ext>
            </a:extLst>
          </p:cNvPr>
          <p:cNvSpPr>
            <a:spLocks xmlns:a="http://schemas.openxmlformats.org/drawingml/2006/main" noGrp="1"/>
          </p:cNvSpPr>
          <p:nvPr/>
        </p:nvSpPr>
        <p:spPr>
          <a:xfrm xmlns:a="http://schemas.openxmlformats.org/drawingml/2006/main">
            <a:off x="8629650" y="52959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5F4EE"/>
                </a:solidFill>
                <a:latin typeface="Arial"/>
                <a:ea typeface="Arial"/>
                <a:cs typeface="Arial"/>
              </a:defRPr>
            </a:defPPr>
          </a:lstStyle>
          <a:p xmlns:a="http://schemas.openxmlformats.org/drawingml/2006/main">
            <a:pPr algn="l">
              <a:defRPr sz="1575" b="0">
                <a:solidFill>
                  <a:srgbClr val="F5F4EE"/>
                </a:solidFill>
                <a:latin typeface="Arial"/>
                <a:ea typeface="Arial"/>
                <a:cs typeface="Arial"/>
              </a:defRPr>
            </a:pPr>
            <a:r>
              <a:rPr sz="1575" b="0">
                <a:solidFill>
                  <a:srgbClr val="F5F4EE"/>
                </a:solidFill>
                <a:latin typeface="Arial"/>
                <a:ea typeface="Arial"/>
                <a:cs typeface="Arial"/>
              </a:rPr>
              <a:t>Llama 3.2 1B</a:t>
            </a:r>
          </a:p>
        </p:txBody>
      </p:sp>
      <p:sp>
        <p:nvSpPr>
          <p:cNvPr id="30" name="SQLite memory">
            <a:extLst xmlns:a="http://schemas.openxmlformats.org/drawingml/2006/main">
              <a:ext uri="{FF2B5EF4-FFF2-40B4-BE49-F238E27FC236}">
                <a16:creationId xmlns:a16="http://schemas.microsoft.com/office/drawing/2014/main" id="{7CD3DF91-49F8-4270-8016-3C4DF9D275B4}"/>
              </a:ext>
            </a:extLst>
          </p:cNvPr>
          <p:cNvSpPr>
            <a:spLocks xmlns:a="http://schemas.openxmlformats.org/drawingml/2006/main" noGrp="1"/>
          </p:cNvSpPr>
          <p:nvPr/>
        </p:nvSpPr>
        <p:spPr>
          <a:xfrm xmlns:a="http://schemas.openxmlformats.org/drawingml/2006/main">
            <a:off x="5905500" y="6381750"/>
            <a:ext cx="2095500" cy="1066800"/>
          </a:xfrm>
          <a:prstGeom xmlns:a="http://schemas.openxmlformats.org/drawingml/2006/main" prst="rect">
            <a:avLst/>
          </a:prstGeom>
          <a:solidFill xmlns:a="http://schemas.openxmlformats.org/drawingml/2006/main">
            <a:srgbClr val="142B36"/>
          </a:solidFill>
          <a:ln xmlns:a="http://schemas.openxmlformats.org/drawingml/2006/main" w="9525">
            <a:solidFill>
              <a:srgbClr val="42606C"/>
            </a:solidFill>
          </a:ln>
        </p:spPr>
      </p:sp>
      <p:sp>
        <p:nvSpPr>
          <p:cNvPr id="31" name="SQLite memory">
            <a:extLst xmlns:a="http://schemas.openxmlformats.org/drawingml/2006/main">
              <a:ext uri="{FF2B5EF4-FFF2-40B4-BE49-F238E27FC236}">
                <a16:creationId xmlns:a16="http://schemas.microsoft.com/office/drawing/2014/main" id="{72362E4E-CEBF-44EE-AB04-5E473921FBBB}"/>
              </a:ext>
            </a:extLst>
          </p:cNvPr>
          <p:cNvSpPr>
            <a:spLocks xmlns:a="http://schemas.openxmlformats.org/drawingml/2006/main" noGrp="1"/>
          </p:cNvSpPr>
          <p:nvPr/>
        </p:nvSpPr>
        <p:spPr>
          <a:xfrm xmlns:a="http://schemas.openxmlformats.org/drawingml/2006/main">
            <a:off x="6057900" y="6543675"/>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4EE"/>
                </a:solidFill>
                <a:latin typeface="Arial"/>
                <a:ea typeface="Arial"/>
                <a:cs typeface="Arial"/>
              </a:defRPr>
            </a:defPPr>
          </a:lstStyle>
          <a:p xmlns:a="http://schemas.openxmlformats.org/drawingml/2006/main">
            <a:pPr algn="l">
              <a:defRPr sz="1800" b="1">
                <a:solidFill>
                  <a:srgbClr val="F5F4EE"/>
                </a:solidFill>
                <a:latin typeface="Arial"/>
                <a:ea typeface="Arial"/>
                <a:cs typeface="Arial"/>
              </a:defRPr>
            </a:pPr>
            <a:r>
              <a:rPr sz="1800" b="1">
                <a:solidFill>
                  <a:srgbClr val="F5F4EE"/>
                </a:solidFill>
                <a:latin typeface="Arial"/>
                <a:ea typeface="Arial"/>
                <a:cs typeface="Arial"/>
              </a:rPr>
              <a:t>SQLite memory</a:t>
            </a:r>
          </a:p>
        </p:txBody>
      </p:sp>
      <p:sp>
        <p:nvSpPr>
          <p:cNvPr id="32" name="Facts / tasks / notes">
            <a:extLst xmlns:a="http://schemas.openxmlformats.org/drawingml/2006/main">
              <a:ext uri="{FF2B5EF4-FFF2-40B4-BE49-F238E27FC236}">
                <a16:creationId xmlns:a16="http://schemas.microsoft.com/office/drawing/2014/main" id="{5031A1AC-D3F9-49A8-92EA-FDB1B313BBAF}"/>
              </a:ext>
            </a:extLst>
          </p:cNvPr>
          <p:cNvSpPr>
            <a:spLocks xmlns:a="http://schemas.openxmlformats.org/drawingml/2006/main" noGrp="1"/>
          </p:cNvSpPr>
          <p:nvPr/>
        </p:nvSpPr>
        <p:spPr>
          <a:xfrm xmlns:a="http://schemas.openxmlformats.org/drawingml/2006/main">
            <a:off x="6057900" y="6962775"/>
            <a:ext cx="1790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5F4EE"/>
                </a:solidFill>
                <a:latin typeface="Arial"/>
                <a:ea typeface="Arial"/>
                <a:cs typeface="Arial"/>
              </a:defRPr>
            </a:defPPr>
          </a:lstStyle>
          <a:p xmlns:a="http://schemas.openxmlformats.org/drawingml/2006/main">
            <a:pPr algn="l">
              <a:defRPr sz="1575" b="0">
                <a:solidFill>
                  <a:srgbClr val="F5F4EE"/>
                </a:solidFill>
                <a:latin typeface="Arial"/>
                <a:ea typeface="Arial"/>
                <a:cs typeface="Arial"/>
              </a:defRPr>
            </a:pPr>
            <a:r>
              <a:rPr sz="1575" b="0">
                <a:solidFill>
                  <a:srgbClr val="F5F4EE"/>
                </a:solidFill>
                <a:latin typeface="Arial"/>
                <a:ea typeface="Arial"/>
                <a:cs typeface="Arial"/>
              </a:rPr>
              <a:t>Facts / tasks / notes</a:t>
            </a:r>
          </a:p>
        </p:txBody>
      </p:sp>
      <p:sp>
        <p:nvSpPr>
          <p:cNvPr id="33" name="Reminders">
            <a:extLst xmlns:a="http://schemas.openxmlformats.org/drawingml/2006/main">
              <a:ext uri="{FF2B5EF4-FFF2-40B4-BE49-F238E27FC236}">
                <a16:creationId xmlns:a16="http://schemas.microsoft.com/office/drawing/2014/main" id="{BAC01934-46F8-4878-B05E-6ABD677FE400}"/>
              </a:ext>
            </a:extLst>
          </p:cNvPr>
          <p:cNvSpPr>
            <a:spLocks xmlns:a="http://schemas.openxmlformats.org/drawingml/2006/main" noGrp="1"/>
          </p:cNvSpPr>
          <p:nvPr/>
        </p:nvSpPr>
        <p:spPr>
          <a:xfrm xmlns:a="http://schemas.openxmlformats.org/drawingml/2006/main">
            <a:off x="11525250" y="6381750"/>
            <a:ext cx="2952750" cy="1066800"/>
          </a:xfrm>
          <a:prstGeom xmlns:a="http://schemas.openxmlformats.org/drawingml/2006/main" prst="rect">
            <a:avLst/>
          </a:prstGeom>
          <a:solidFill xmlns:a="http://schemas.openxmlformats.org/drawingml/2006/main">
            <a:srgbClr val="142B36"/>
          </a:solidFill>
          <a:ln xmlns:a="http://schemas.openxmlformats.org/drawingml/2006/main" w="9525">
            <a:solidFill>
              <a:srgbClr val="42606C"/>
            </a:solidFill>
          </a:ln>
        </p:spPr>
      </p:sp>
      <p:sp>
        <p:nvSpPr>
          <p:cNvPr id="34" name="Reminders">
            <a:extLst xmlns:a="http://schemas.openxmlformats.org/drawingml/2006/main">
              <a:ext uri="{FF2B5EF4-FFF2-40B4-BE49-F238E27FC236}">
                <a16:creationId xmlns:a16="http://schemas.microsoft.com/office/drawing/2014/main" id="{CEBA7B08-F296-4921-9F67-82872FFC80B4}"/>
              </a:ext>
            </a:extLst>
          </p:cNvPr>
          <p:cNvSpPr>
            <a:spLocks xmlns:a="http://schemas.openxmlformats.org/drawingml/2006/main" noGrp="1"/>
          </p:cNvSpPr>
          <p:nvPr/>
        </p:nvSpPr>
        <p:spPr>
          <a:xfrm xmlns:a="http://schemas.openxmlformats.org/drawingml/2006/main">
            <a:off x="11677650" y="6543675"/>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4EE"/>
                </a:solidFill>
                <a:latin typeface="Arial"/>
                <a:ea typeface="Arial"/>
                <a:cs typeface="Arial"/>
              </a:defRPr>
            </a:defPPr>
          </a:lstStyle>
          <a:p xmlns:a="http://schemas.openxmlformats.org/drawingml/2006/main">
            <a:pPr algn="l">
              <a:defRPr sz="1800" b="1">
                <a:solidFill>
                  <a:srgbClr val="F5F4EE"/>
                </a:solidFill>
                <a:latin typeface="Arial"/>
                <a:ea typeface="Arial"/>
                <a:cs typeface="Arial"/>
              </a:defRPr>
            </a:pPr>
            <a:r>
              <a:rPr sz="1800" b="1">
                <a:solidFill>
                  <a:srgbClr val="F5F4EE"/>
                </a:solidFill>
                <a:latin typeface="Arial"/>
                <a:ea typeface="Arial"/>
                <a:cs typeface="Arial"/>
              </a:rPr>
              <a:t>Reminders</a:t>
            </a:r>
          </a:p>
        </p:txBody>
      </p:sp>
      <p:sp>
        <p:nvSpPr>
          <p:cNvPr id="35" name="Leases + playback">
            <a:extLst xmlns:a="http://schemas.openxmlformats.org/drawingml/2006/main">
              <a:ext uri="{FF2B5EF4-FFF2-40B4-BE49-F238E27FC236}">
                <a16:creationId xmlns:a16="http://schemas.microsoft.com/office/drawing/2014/main" id="{B006D593-7B48-4305-A695-CE41358A8661}"/>
              </a:ext>
            </a:extLst>
          </p:cNvPr>
          <p:cNvSpPr>
            <a:spLocks xmlns:a="http://schemas.openxmlformats.org/drawingml/2006/main" noGrp="1"/>
          </p:cNvSpPr>
          <p:nvPr/>
        </p:nvSpPr>
        <p:spPr>
          <a:xfrm xmlns:a="http://schemas.openxmlformats.org/drawingml/2006/main">
            <a:off x="11677650" y="6962775"/>
            <a:ext cx="2647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5F4EE"/>
                </a:solidFill>
                <a:latin typeface="Arial"/>
                <a:ea typeface="Arial"/>
                <a:cs typeface="Arial"/>
              </a:defRPr>
            </a:defPPr>
          </a:lstStyle>
          <a:p xmlns:a="http://schemas.openxmlformats.org/drawingml/2006/main">
            <a:pPr algn="l">
              <a:defRPr sz="1575" b="0">
                <a:solidFill>
                  <a:srgbClr val="F5F4EE"/>
                </a:solidFill>
                <a:latin typeface="Arial"/>
                <a:ea typeface="Arial"/>
                <a:cs typeface="Arial"/>
              </a:defRPr>
            </a:pPr>
            <a:r>
              <a:rPr sz="1575" b="0">
                <a:solidFill>
                  <a:srgbClr val="F5F4EE"/>
                </a:solidFill>
                <a:latin typeface="Arial"/>
                <a:ea typeface="Arial"/>
                <a:cs typeface="Arial"/>
              </a:rPr>
              <a:t>Leases + playback</a:t>
            </a:r>
          </a:p>
        </p:txBody>
      </p:sp>
      <p:sp>
        <p:nvSpPr>
          <p:cNvPr id="42" name="Recall / read / write">
            <a:extLst xmlns:a="http://schemas.openxmlformats.org/drawingml/2006/main">
              <a:ext uri="{FF2B5EF4-FFF2-40B4-BE49-F238E27FC236}">
                <a16:creationId xmlns:a16="http://schemas.microsoft.com/office/drawing/2014/main" id="{3487D174-E64A-4A6A-8092-F89025130A3E}"/>
              </a:ext>
            </a:extLst>
          </p:cNvPr>
          <p:cNvSpPr>
            <a:spLocks xmlns:a="http://schemas.openxmlformats.org/drawingml/2006/main" noGrp="1"/>
          </p:cNvSpPr>
          <p:nvPr/>
        </p:nvSpPr>
        <p:spPr>
          <a:xfrm xmlns:a="http://schemas.openxmlformats.org/drawingml/2006/main">
            <a:off x="8458200" y="59626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C0CB"/>
                </a:solidFill>
                <a:latin typeface="Arial"/>
                <a:ea typeface="Arial"/>
                <a:cs typeface="Arial"/>
              </a:defRPr>
            </a:defPPr>
          </a:lstStyle>
          <a:p xmlns:a="http://schemas.openxmlformats.org/drawingml/2006/main">
            <a:pPr algn="l">
              <a:defRPr sz="1500" b="0">
                <a:solidFill>
                  <a:srgbClr val="AEC0CB"/>
                </a:solidFill>
                <a:latin typeface="Arial"/>
                <a:ea typeface="Arial"/>
                <a:cs typeface="Arial"/>
              </a:defRPr>
            </a:pPr>
            <a:r>
              <a:rPr sz="1500" b="0">
                <a:solidFill>
                  <a:srgbClr val="AEC0CB"/>
                </a:solidFill>
                <a:latin typeface="Arial"/>
                <a:ea typeface="Arial"/>
                <a:cs typeface="Arial"/>
              </a:rPr>
              <a:t>Recall / read / write</a:t>
            </a:r>
          </a:p>
        </p:txBody>
      </p:sp>
      <p:sp>
        <p:nvSpPr>
          <p:cNvPr id="43" name="Reminder output uses the main loop">
            <a:extLst xmlns:a="http://schemas.openxmlformats.org/drawingml/2006/main">
              <a:ext uri="{FF2B5EF4-FFF2-40B4-BE49-F238E27FC236}">
                <a16:creationId xmlns:a16="http://schemas.microsoft.com/office/drawing/2014/main" id="{BB69CCF6-E181-4470-80F3-E0204694E67C}"/>
              </a:ext>
            </a:extLst>
          </p:cNvPr>
          <p:cNvSpPr>
            <a:spLocks xmlns:a="http://schemas.openxmlformats.org/drawingml/2006/main" noGrp="1"/>
          </p:cNvSpPr>
          <p:nvPr/>
        </p:nvSpPr>
        <p:spPr>
          <a:xfrm xmlns:a="http://schemas.openxmlformats.org/drawingml/2006/main">
            <a:off x="11144250" y="75152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EC0CB"/>
                </a:solidFill>
                <a:latin typeface="Arial"/>
                <a:ea typeface="Arial"/>
                <a:cs typeface="Arial"/>
              </a:defRPr>
            </a:defPPr>
          </a:lstStyle>
          <a:p xmlns:a="http://schemas.openxmlformats.org/drawingml/2006/main">
            <a:pPr algn="l">
              <a:defRPr sz="1275" b="0">
                <a:solidFill>
                  <a:srgbClr val="AEC0CB"/>
                </a:solidFill>
                <a:latin typeface="Arial"/>
                <a:ea typeface="Arial"/>
                <a:cs typeface="Arial"/>
              </a:defRPr>
            </a:pPr>
            <a:r>
              <a:rPr sz="1275" b="0">
                <a:solidFill>
                  <a:srgbClr val="AEC0CB"/>
                </a:solidFill>
                <a:latin typeface="Arial"/>
                <a:ea typeface="Arial"/>
                <a:cs typeface="Arial"/>
              </a:rPr>
              <a:t>Reminder output uses the main loop</a:t>
            </a:r>
          </a:p>
        </p:txBody>
      </p:sp>
      <p:sp>
        <p:nvSpPr>
          <p:cNvPr id="44" name="Weather / news">
            <a:extLst xmlns:a="http://schemas.openxmlformats.org/drawingml/2006/main">
              <a:ext uri="{FF2B5EF4-FFF2-40B4-BE49-F238E27FC236}">
                <a16:creationId xmlns:a16="http://schemas.microsoft.com/office/drawing/2014/main" id="{8E243B13-C116-4AAC-BCDB-C84DCA55C494}"/>
              </a:ext>
            </a:extLst>
          </p:cNvPr>
          <p:cNvSpPr>
            <a:spLocks xmlns:a="http://schemas.openxmlformats.org/drawingml/2006/main" noGrp="1"/>
          </p:cNvSpPr>
          <p:nvPr/>
        </p:nvSpPr>
        <p:spPr>
          <a:xfrm xmlns:a="http://schemas.openxmlformats.org/drawingml/2006/main">
            <a:off x="11525250" y="4714875"/>
            <a:ext cx="2952750" cy="1066800"/>
          </a:xfrm>
          <a:prstGeom xmlns:a="http://schemas.openxmlformats.org/drawingml/2006/main" prst="rect">
            <a:avLst/>
          </a:prstGeom>
          <a:solidFill xmlns:a="http://schemas.openxmlformats.org/drawingml/2006/main">
            <a:srgbClr val="3C3021"/>
          </a:solidFill>
          <a:ln xmlns:a="http://schemas.openxmlformats.org/drawingml/2006/main" w="9525">
            <a:solidFill>
              <a:srgbClr val="42606C"/>
            </a:solidFill>
          </a:ln>
        </p:spPr>
      </p:sp>
      <p:sp>
        <p:nvSpPr>
          <p:cNvPr id="45" name="Weather / news">
            <a:extLst xmlns:a="http://schemas.openxmlformats.org/drawingml/2006/main">
              <a:ext uri="{FF2B5EF4-FFF2-40B4-BE49-F238E27FC236}">
                <a16:creationId xmlns:a16="http://schemas.microsoft.com/office/drawing/2014/main" id="{EFDB2147-835E-4A28-AB31-9F1990802E53}"/>
              </a:ext>
            </a:extLst>
          </p:cNvPr>
          <p:cNvSpPr>
            <a:spLocks xmlns:a="http://schemas.openxmlformats.org/drawingml/2006/main" noGrp="1"/>
          </p:cNvSpPr>
          <p:nvPr/>
        </p:nvSpPr>
        <p:spPr>
          <a:xfrm xmlns:a="http://schemas.openxmlformats.org/drawingml/2006/main">
            <a:off x="11677650" y="4876800"/>
            <a:ext cx="2647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0C68A"/>
                </a:solidFill>
                <a:latin typeface="Arial"/>
                <a:ea typeface="Arial"/>
                <a:cs typeface="Arial"/>
              </a:defRPr>
            </a:defPPr>
          </a:lstStyle>
          <a:p xmlns:a="http://schemas.openxmlformats.org/drawingml/2006/main">
            <a:pPr algn="l">
              <a:defRPr sz="1800" b="1">
                <a:solidFill>
                  <a:srgbClr val="F0C68A"/>
                </a:solidFill>
                <a:latin typeface="Arial"/>
                <a:ea typeface="Arial"/>
                <a:cs typeface="Arial"/>
              </a:defRPr>
            </a:pPr>
            <a:r>
              <a:rPr sz="1800" b="1">
                <a:solidFill>
                  <a:srgbClr val="F0C68A"/>
                </a:solidFill>
                <a:latin typeface="Arial"/>
                <a:ea typeface="Arial"/>
                <a:cs typeface="Arial"/>
              </a:rPr>
              <a:t>Weather / news</a:t>
            </a:r>
          </a:p>
        </p:txBody>
      </p:sp>
      <p:sp>
        <p:nvSpPr>
          <p:cNvPr id="46" name="Opt-in HTTPS only">
            <a:extLst xmlns:a="http://schemas.openxmlformats.org/drawingml/2006/main">
              <a:ext uri="{FF2B5EF4-FFF2-40B4-BE49-F238E27FC236}">
                <a16:creationId xmlns:a16="http://schemas.microsoft.com/office/drawing/2014/main" id="{180A8E6B-62C5-46E2-8D5B-11AE624229AC}"/>
              </a:ext>
            </a:extLst>
          </p:cNvPr>
          <p:cNvSpPr>
            <a:spLocks xmlns:a="http://schemas.openxmlformats.org/drawingml/2006/main" noGrp="1"/>
          </p:cNvSpPr>
          <p:nvPr/>
        </p:nvSpPr>
        <p:spPr>
          <a:xfrm xmlns:a="http://schemas.openxmlformats.org/drawingml/2006/main">
            <a:off x="11677650" y="5295900"/>
            <a:ext cx="2647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0C68A"/>
                </a:solidFill>
                <a:latin typeface="Arial"/>
                <a:ea typeface="Arial"/>
                <a:cs typeface="Arial"/>
              </a:defRPr>
            </a:defPPr>
          </a:lstStyle>
          <a:p xmlns:a="http://schemas.openxmlformats.org/drawingml/2006/main">
            <a:pPr algn="l">
              <a:defRPr sz="1575" b="0">
                <a:solidFill>
                  <a:srgbClr val="F0C68A"/>
                </a:solidFill>
                <a:latin typeface="Arial"/>
                <a:ea typeface="Arial"/>
                <a:cs typeface="Arial"/>
              </a:defRPr>
            </a:pPr>
            <a:r>
              <a:rPr sz="1575" b="0">
                <a:solidFill>
                  <a:srgbClr val="F0C68A"/>
                </a:solidFill>
                <a:latin typeface="Arial"/>
                <a:ea typeface="Arial"/>
                <a:cs typeface="Arial"/>
              </a:rPr>
              <a:t>Opt-in HTTPS only</a:t>
            </a:r>
          </a:p>
        </p:txBody>
      </p:sp>
      <p:sp>
        <p:nvSpPr>
          <p:cNvPr id="48" name="GPIO + mute controls">
            <a:extLst xmlns:a="http://schemas.openxmlformats.org/drawingml/2006/main">
              <a:ext uri="{FF2B5EF4-FFF2-40B4-BE49-F238E27FC236}">
                <a16:creationId xmlns:a16="http://schemas.microsoft.com/office/drawing/2014/main" id="{BFD451A6-5AF0-47AF-9258-4C16DBA45876}"/>
              </a:ext>
            </a:extLst>
          </p:cNvPr>
          <p:cNvSpPr>
            <a:spLocks xmlns:a="http://schemas.openxmlformats.org/drawingml/2006/main" noGrp="1"/>
          </p:cNvSpPr>
          <p:nvPr/>
        </p:nvSpPr>
        <p:spPr>
          <a:xfrm xmlns:a="http://schemas.openxmlformats.org/drawingml/2006/main">
            <a:off x="762000" y="47148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F2C7"/>
                </a:solidFill>
                <a:latin typeface="Arial"/>
                <a:ea typeface="Arial"/>
                <a:cs typeface="Arial"/>
              </a:defRPr>
            </a:defPPr>
          </a:lstStyle>
          <a:p xmlns:a="http://schemas.openxmlformats.org/drawingml/2006/main">
            <a:pPr algn="l">
              <a:defRPr sz="2100" b="1">
                <a:solidFill>
                  <a:srgbClr val="9BF2C7"/>
                </a:solidFill>
                <a:latin typeface="Arial"/>
                <a:ea typeface="Arial"/>
                <a:cs typeface="Arial"/>
              </a:defRPr>
            </a:pPr>
            <a:r>
              <a:rPr sz="2100" b="1">
                <a:solidFill>
                  <a:srgbClr val="9BF2C7"/>
                </a:solidFill>
                <a:latin typeface="Arial"/>
                <a:ea typeface="Arial"/>
                <a:cs typeface="Arial"/>
              </a:rPr>
              <a:t>GPIO + mute controls</a:t>
            </a:r>
          </a:p>
        </p:txBody>
      </p:sp>
      <p:sp>
        <p:nvSpPr>
          <p:cNvPr id="49" name="Switch gates microphone permission&#10;RGB LED re">
            <a:extLst xmlns:a="http://schemas.openxmlformats.org/drawingml/2006/main">
              <a:ext uri="{FF2B5EF4-FFF2-40B4-BE49-F238E27FC236}">
                <a16:creationId xmlns:a16="http://schemas.microsoft.com/office/drawing/2014/main" id="{BCD225A8-8D2C-40BE-A355-0E9204935A9C}"/>
              </a:ext>
            </a:extLst>
          </p:cNvPr>
          <p:cNvSpPr>
            <a:spLocks xmlns:a="http://schemas.openxmlformats.org/drawingml/2006/main" noGrp="1"/>
          </p:cNvSpPr>
          <p:nvPr/>
        </p:nvSpPr>
        <p:spPr>
          <a:xfrm xmlns:a="http://schemas.openxmlformats.org/drawingml/2006/main">
            <a:off x="762000" y="5295900"/>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4EE"/>
                </a:solidFill>
                <a:latin typeface="Arial"/>
                <a:ea typeface="Arial"/>
                <a:cs typeface="Arial"/>
              </a:defRPr>
            </a:defPPr>
          </a:lstStyle>
          <a:p xmlns:a="http://schemas.openxmlformats.org/drawingml/2006/main">
            <a:pPr algn="l">
              <a:defRPr sz="1875" b="0">
                <a:solidFill>
                  <a:srgbClr val="F5F4EE"/>
                </a:solidFill>
                <a:latin typeface="Arial"/>
                <a:ea typeface="Arial"/>
                <a:cs typeface="Arial"/>
              </a:defRPr>
            </a:pPr>
            <a:r>
              <a:rPr sz="1875" b="0">
                <a:solidFill>
                  <a:srgbClr val="F5F4EE"/>
                </a:solidFill>
                <a:latin typeface="Arial"/>
                <a:ea typeface="Arial"/>
                <a:cs typeface="Arial"/>
              </a:rPr>
              <a:t>Switch gates microphone permission</a:t>
            </a:r>
          </a:p>
          <a:p xmlns:a="http://schemas.openxmlformats.org/drawingml/2006/main">
            <a:pPr algn="l">
              <a:defRPr sz="1875" b="0">
                <a:solidFill>
                  <a:srgbClr val="F5F4EE"/>
                </a:solidFill>
                <a:latin typeface="Arial"/>
                <a:ea typeface="Arial"/>
                <a:cs typeface="Arial"/>
              </a:defRPr>
            </a:pPr>
            <a:r>
              <a:rPr sz="1875" b="0">
                <a:solidFill>
                  <a:srgbClr val="F5F4EE"/>
                </a:solidFill>
                <a:latin typeface="Arial"/>
                <a:ea typeface="Arial"/>
                <a:cs typeface="Arial"/>
              </a:rPr>
              <a:t>RGB LED reflects runtime state</a:t>
            </a:r>
          </a:p>
          <a:p xmlns:a="http://schemas.openxmlformats.org/drawingml/2006/main">
            <a:r>
              <a:t/>
            </a:r>
          </a:p>
          <a:p xmlns:a="http://schemas.openxmlformats.org/drawingml/2006/main">
            <a:pPr algn="l">
              <a:defRPr sz="1875" b="0">
                <a:solidFill>
                  <a:srgbClr val="F5F4EE"/>
                </a:solidFill>
                <a:latin typeface="Arial"/>
                <a:ea typeface="Arial"/>
                <a:cs typeface="Arial"/>
              </a:defRPr>
            </a:pPr>
            <a:r>
              <a:rPr sz="1875" b="0">
                <a:solidFill>
                  <a:srgbClr val="F5F4EE"/>
                </a:solidFill>
                <a:latin typeface="Arial"/>
                <a:ea typeface="Arial"/>
                <a:cs typeface="Arial"/>
              </a:rPr>
              <a:t>Sequential capture and playback</a:t>
            </a:r>
          </a:p>
        </p:txBody>
      </p:sp>
      <p:sp>
        <p:nvSpPr>
          <p:cNvPr id="50" name="Mint: local flow   Dashed: optional/control f">
            <a:extLst xmlns:a="http://schemas.openxmlformats.org/drawingml/2006/main">
              <a:ext uri="{FF2B5EF4-FFF2-40B4-BE49-F238E27FC236}">
                <a16:creationId xmlns:a16="http://schemas.microsoft.com/office/drawing/2014/main" id="{D2D870B7-E173-48AC-BF0E-C56BEBDC689B}"/>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EC0CB"/>
                </a:solidFill>
                <a:latin typeface="Arial"/>
                <a:ea typeface="Arial"/>
                <a:cs typeface="Arial"/>
              </a:defRPr>
            </a:defPPr>
          </a:lstStyle>
          <a:p xmlns:a="http://schemas.openxmlformats.org/drawingml/2006/main">
            <a:pPr algn="l">
              <a:defRPr sz="1575" b="0">
                <a:solidFill>
                  <a:srgbClr val="AEC0CB"/>
                </a:solidFill>
                <a:latin typeface="Arial"/>
                <a:ea typeface="Arial"/>
                <a:cs typeface="Arial"/>
              </a:defRPr>
            </a:pPr>
            <a:r>
              <a:rPr sz="1575" b="0">
                <a:solidFill>
                  <a:srgbClr val="AEC0CB"/>
                </a:solidFill>
                <a:latin typeface="Arial"/>
                <a:ea typeface="Arial"/>
                <a:cs typeface="Arial"/>
              </a:rPr>
              <a:t>Mint: local flow   Dashed: optional/control flow   Amber: Internet   Memory remains plaintext</a:t>
            </a:r>
          </a:p>
        </p:txBody>
      </p:sp>
    </p:spTree>
    <p:extLst>
      <p:ext uri="{BB962C8B-B14F-4D97-AF65-F5344CB8AC3E}">
        <p14:creationId xmlns:p14="http://schemas.microsoft.com/office/powerpoint/2010/main" val="1733791454"/>
      </p:ext>
    </p:extLst>
  </p:cSld>
</p:sld>
</file>

<file path=ppt/slides/slide5.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3" name="NOVA">
            <a:extLst xmlns:a="http://schemas.openxmlformats.org/drawingml/2006/main">
              <a:ext uri="{FF2B5EF4-FFF2-40B4-BE49-F238E27FC236}">
                <a16:creationId xmlns:a16="http://schemas.microsoft.com/office/drawing/2014/main" id="{79B34AC1-E11D-47EB-B6A4-CE4BFFE9556F}"/>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7C65"/>
                </a:solidFill>
                <a:latin typeface="Arial"/>
                <a:ea typeface="Arial"/>
                <a:cs typeface="Arial"/>
              </a:defRPr>
            </a:defPPr>
          </a:lstStyle>
          <a:p xmlns:a="http://schemas.openxmlformats.org/drawingml/2006/main">
            <a:pPr algn="l">
              <a:defRPr sz="1425" b="1">
                <a:solidFill>
                  <a:srgbClr val="007C65"/>
                </a:solidFill>
                <a:latin typeface="Arial"/>
                <a:ea typeface="Arial"/>
                <a:cs typeface="Arial"/>
              </a:defRPr>
            </a:pPr>
            <a:r>
              <a:rPr sz="1425" b="1">
                <a:solidFill>
                  <a:srgbClr val="007C65"/>
                </a:solidFill>
                <a:latin typeface="Arial"/>
                <a:ea typeface="Arial"/>
                <a:cs typeface="Arial"/>
              </a:rPr>
              <a:t>NOVA</a:t>
            </a:r>
          </a:p>
        </p:txBody>
      </p:sp>
      <p:sp>
        <p:nvSpPr>
          <p:cNvPr id="2" name="05">
            <a:extLst xmlns:a="http://schemas.openxmlformats.org/drawingml/2006/main">
              <a:ext uri="{FF2B5EF4-FFF2-40B4-BE49-F238E27FC236}">
                <a16:creationId xmlns:a16="http://schemas.microsoft.com/office/drawing/2014/main" id="{85A52456-A32B-46D8-9FB5-51A49FF9CF0C}"/>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976"/>
                </a:solidFill>
                <a:latin typeface="Arial"/>
                <a:ea typeface="Arial"/>
                <a:cs typeface="Arial"/>
              </a:defRPr>
            </a:defPPr>
          </a:lstStyle>
          <a:p xmlns:a="http://schemas.openxmlformats.org/drawingml/2006/main">
            <a:pPr algn="r">
              <a:defRPr sz="1350" b="0">
                <a:solidFill>
                  <a:srgbClr val="526976"/>
                </a:solidFill>
                <a:latin typeface="Arial"/>
                <a:ea typeface="Arial"/>
                <a:cs typeface="Arial"/>
              </a:defRPr>
            </a:pPr>
            <a:r>
              <a:rPr sz="1350" b="0">
                <a:solidFill>
                  <a:srgbClr val="526976"/>
                </a:solidFill>
                <a:latin typeface="Arial"/>
                <a:ea typeface="Arial"/>
                <a:cs typeface="Arial"/>
              </a:rPr>
              <a:t>05</a:t>
            </a:r>
          </a:p>
        </p:txBody>
      </p:sp>
      <p:sp>
        <p:nvSpPr>
          <p:cNvPr id="3" name="The technology stack">
            <a:extLst xmlns:a="http://schemas.openxmlformats.org/drawingml/2006/main">
              <a:ext uri="{FF2B5EF4-FFF2-40B4-BE49-F238E27FC236}">
                <a16:creationId xmlns:a16="http://schemas.microsoft.com/office/drawing/2014/main" id="{500B6784-59A3-4B30-9827-38060860A0B0}"/>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02C38"/>
                </a:solidFill>
                <a:latin typeface="Arial"/>
                <a:ea typeface="Arial"/>
                <a:cs typeface="Arial"/>
              </a:defRPr>
            </a:defPPr>
          </a:lstStyle>
          <a:p xmlns:a="http://schemas.openxmlformats.org/drawingml/2006/main">
            <a:pPr algn="l">
              <a:defRPr sz="4350" b="1">
                <a:solidFill>
                  <a:srgbClr val="102C38"/>
                </a:solidFill>
                <a:latin typeface="Arial"/>
                <a:ea typeface="Arial"/>
                <a:cs typeface="Arial"/>
              </a:defRPr>
            </a:pPr>
            <a:r>
              <a:rPr sz="4350" b="1">
                <a:solidFill>
                  <a:srgbClr val="102C38"/>
                </a:solidFill>
                <a:latin typeface="Arial"/>
                <a:ea typeface="Arial"/>
                <a:cs typeface="Arial"/>
              </a:rPr>
              <a:t>The technology stack</a:t>
            </a:r>
          </a:p>
        </p:txBody>
      </p:sp>
      <p:sp>
        <p:nvSpPr>
          <p:cNvPr id="4" name="1B">
            <a:extLst xmlns:a="http://schemas.openxmlformats.org/drawingml/2006/main">
              <a:ext uri="{FF2B5EF4-FFF2-40B4-BE49-F238E27FC236}">
                <a16:creationId xmlns:a16="http://schemas.microsoft.com/office/drawing/2014/main" id="{7BD8FA3E-6C2D-4973-9C18-75752EF57A21}"/>
              </a:ext>
            </a:extLst>
          </p:cNvPr>
          <p:cNvSpPr>
            <a:spLocks xmlns:a="http://schemas.openxmlformats.org/drawingml/2006/main" noGrp="1"/>
          </p:cNvSpPr>
          <p:nvPr/>
        </p:nvSpPr>
        <p:spPr>
          <a:xfrm xmlns:a="http://schemas.openxmlformats.org/drawingml/2006/main">
            <a:off x="762000" y="2505075"/>
            <a:ext cx="5715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50" b="1">
                <a:solidFill>
                  <a:srgbClr val="007C65"/>
                </a:solidFill>
                <a:latin typeface="Arial"/>
                <a:ea typeface="Arial"/>
                <a:cs typeface="Arial"/>
              </a:defRPr>
            </a:defPPr>
          </a:lstStyle>
          <a:p xmlns:a="http://schemas.openxmlformats.org/drawingml/2006/main">
            <a:pPr algn="l">
              <a:defRPr sz="13050" b="1">
                <a:solidFill>
                  <a:srgbClr val="007C65"/>
                </a:solidFill>
                <a:latin typeface="Arial"/>
                <a:ea typeface="Arial"/>
                <a:cs typeface="Arial"/>
              </a:defRPr>
            </a:pPr>
            <a:r>
              <a:rPr sz="13050" b="1">
                <a:solidFill>
                  <a:srgbClr val="007C65"/>
                </a:solidFill>
                <a:latin typeface="Arial"/>
                <a:ea typeface="Arial"/>
                <a:cs typeface="Arial"/>
              </a:rPr>
              <a:t>1B</a:t>
            </a:r>
          </a:p>
        </p:txBody>
      </p:sp>
      <p:sp>
        <p:nvSpPr>
          <p:cNvPr id="5" name="Llama 3.2 parameters">
            <a:extLst xmlns:a="http://schemas.openxmlformats.org/drawingml/2006/main">
              <a:ext uri="{FF2B5EF4-FFF2-40B4-BE49-F238E27FC236}">
                <a16:creationId xmlns:a16="http://schemas.microsoft.com/office/drawing/2014/main" id="{4AFDE3A6-BAF8-4B2C-850A-7514F9FDAAF8}"/>
              </a:ext>
            </a:extLst>
          </p:cNvPr>
          <p:cNvSpPr>
            <a:spLocks xmlns:a="http://schemas.openxmlformats.org/drawingml/2006/main" noGrp="1"/>
          </p:cNvSpPr>
          <p:nvPr/>
        </p:nvSpPr>
        <p:spPr>
          <a:xfrm xmlns:a="http://schemas.openxmlformats.org/drawingml/2006/main">
            <a:off x="838200" y="4705350"/>
            <a:ext cx="542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C38"/>
                </a:solidFill>
                <a:latin typeface="Arial"/>
                <a:ea typeface="Arial"/>
                <a:cs typeface="Arial"/>
              </a:defRPr>
            </a:defPPr>
          </a:lstStyle>
          <a:p xmlns:a="http://schemas.openxmlformats.org/drawingml/2006/main">
            <a:pPr algn="l">
              <a:defRPr sz="2250" b="1">
                <a:solidFill>
                  <a:srgbClr val="102C38"/>
                </a:solidFill>
                <a:latin typeface="Arial"/>
                <a:ea typeface="Arial"/>
                <a:cs typeface="Arial"/>
              </a:defRPr>
            </a:pPr>
            <a:r>
              <a:rPr sz="2250" b="1">
                <a:solidFill>
                  <a:srgbClr val="102C38"/>
                </a:solidFill>
                <a:latin typeface="Arial"/>
                <a:ea typeface="Arial"/>
                <a:cs typeface="Arial"/>
              </a:rPr>
              <a:t>Llama 3.2 parameters</a:t>
            </a:r>
          </a:p>
        </p:txBody>
      </p:sp>
      <p:sp>
        <p:nvSpPr>
          <p:cNvPr id="6" name="Small local model&#10;for a constrained-device ta">
            <a:extLst xmlns:a="http://schemas.openxmlformats.org/drawingml/2006/main">
              <a:ext uri="{FF2B5EF4-FFF2-40B4-BE49-F238E27FC236}">
                <a16:creationId xmlns:a16="http://schemas.microsoft.com/office/drawing/2014/main" id="{51F08FCD-21EE-4C3F-8848-B2DB99B984FD}"/>
              </a:ext>
            </a:extLst>
          </p:cNvPr>
          <p:cNvSpPr>
            <a:spLocks xmlns:a="http://schemas.openxmlformats.org/drawingml/2006/main" noGrp="1"/>
          </p:cNvSpPr>
          <p:nvPr/>
        </p:nvSpPr>
        <p:spPr>
          <a:xfrm xmlns:a="http://schemas.openxmlformats.org/drawingml/2006/main">
            <a:off x="838200" y="54959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6"/>
                </a:solidFill>
                <a:latin typeface="Arial"/>
                <a:ea typeface="Arial"/>
                <a:cs typeface="Arial"/>
              </a:defRPr>
            </a:defPPr>
          </a:lstStyle>
          <a:p xmlns:a="http://schemas.openxmlformats.org/drawingml/2006/main">
            <a:pPr algn="l">
              <a:defRPr sz="2100" b="0">
                <a:solidFill>
                  <a:srgbClr val="526976"/>
                </a:solidFill>
                <a:latin typeface="Arial"/>
                <a:ea typeface="Arial"/>
                <a:cs typeface="Arial"/>
              </a:defRPr>
            </a:pPr>
            <a:r>
              <a:rPr sz="2100" b="0">
                <a:solidFill>
                  <a:srgbClr val="526976"/>
                </a:solidFill>
                <a:latin typeface="Arial"/>
                <a:ea typeface="Arial"/>
                <a:cs typeface="Arial"/>
              </a:rPr>
              <a:t>Small local model</a:t>
            </a:r>
          </a:p>
          <a:p xmlns:a="http://schemas.openxmlformats.org/drawingml/2006/main">
            <a:pPr algn="l">
              <a:defRPr sz="2100" b="0">
                <a:solidFill>
                  <a:srgbClr val="526976"/>
                </a:solidFill>
                <a:latin typeface="Arial"/>
                <a:ea typeface="Arial"/>
                <a:cs typeface="Arial"/>
              </a:defRPr>
            </a:pPr>
            <a:r>
              <a:rPr sz="2100" b="0">
                <a:solidFill>
                  <a:srgbClr val="526976"/>
                </a:solidFill>
                <a:latin typeface="Arial"/>
                <a:ea typeface="Arial"/>
                <a:cs typeface="Arial"/>
              </a:rPr>
              <a:t>for a constrained-device target</a:t>
            </a:r>
          </a:p>
        </p:txBody>
      </p:sp>
      <p:sp>
        <p:nvSpPr>
          <p:cNvPr id="7" name="">
            <a:extLst xmlns:a="http://schemas.openxmlformats.org/drawingml/2006/main">
              <a:ext uri="{FF2B5EF4-FFF2-40B4-BE49-F238E27FC236}">
                <a16:creationId xmlns:a16="http://schemas.microsoft.com/office/drawing/2014/main" id="{1549D4BC-7A11-4267-9FB7-CA6B956DBA16}"/>
              </a:ext>
            </a:extLst>
          </p:cNvPr>
          <p:cNvSpPr>
            <a:spLocks xmlns:a="http://schemas.openxmlformats.org/drawingml/2006/main" noGrp="1"/>
          </p:cNvSpPr>
          <p:nvPr/>
        </p:nvSpPr>
        <p:spPr>
          <a:xfrm xmlns:a="http://schemas.openxmlformats.org/drawingml/2006/main">
            <a:off x="7286625" y="2400300"/>
            <a:ext cx="7191375" cy="0"/>
          </a:xfrm>
          <a:prstGeom xmlns:a="http://schemas.openxmlformats.org/drawingml/2006/main" prst="line">
            <a:avLst/>
          </a:prstGeom>
          <a:ln xmlns:a="http://schemas.openxmlformats.org/drawingml/2006/main" w="13335">
            <a:solidFill>
              <a:srgbClr val="CAD4CE"/>
            </a:solidFill>
          </a:ln>
        </p:spPr>
      </p:sp>
      <p:sp>
        <p:nvSpPr>
          <p:cNvPr id="8" name="Speech input">
            <a:extLst xmlns:a="http://schemas.openxmlformats.org/drawingml/2006/main">
              <a:ext uri="{FF2B5EF4-FFF2-40B4-BE49-F238E27FC236}">
                <a16:creationId xmlns:a16="http://schemas.microsoft.com/office/drawing/2014/main" id="{2264ADB7-EC13-42B9-AC32-928546B49971}"/>
              </a:ext>
            </a:extLst>
          </p:cNvPr>
          <p:cNvSpPr>
            <a:spLocks xmlns:a="http://schemas.openxmlformats.org/drawingml/2006/main" noGrp="1"/>
          </p:cNvSpPr>
          <p:nvPr/>
        </p:nvSpPr>
        <p:spPr>
          <a:xfrm xmlns:a="http://schemas.openxmlformats.org/drawingml/2006/main">
            <a:off x="7286625" y="26193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76"/>
                </a:solidFill>
                <a:latin typeface="Arial"/>
                <a:ea typeface="Arial"/>
                <a:cs typeface="Arial"/>
              </a:defRPr>
            </a:defPPr>
          </a:lstStyle>
          <a:p xmlns:a="http://schemas.openxmlformats.org/drawingml/2006/main">
            <a:pPr algn="l">
              <a:defRPr sz="2025" b="0">
                <a:solidFill>
                  <a:srgbClr val="526976"/>
                </a:solidFill>
                <a:latin typeface="Arial"/>
                <a:ea typeface="Arial"/>
                <a:cs typeface="Arial"/>
              </a:defRPr>
            </a:pPr>
            <a:r>
              <a:rPr sz="2025" b="0">
                <a:solidFill>
                  <a:srgbClr val="526976"/>
                </a:solidFill>
                <a:latin typeface="Arial"/>
                <a:ea typeface="Arial"/>
                <a:cs typeface="Arial"/>
              </a:rPr>
              <a:t>Speech input</a:t>
            </a:r>
          </a:p>
        </p:txBody>
      </p:sp>
      <p:sp>
        <p:nvSpPr>
          <p:cNvPr id="9" name="whisper.cpp / tiny.en">
            <a:extLst xmlns:a="http://schemas.openxmlformats.org/drawingml/2006/main">
              <a:ext uri="{FF2B5EF4-FFF2-40B4-BE49-F238E27FC236}">
                <a16:creationId xmlns:a16="http://schemas.microsoft.com/office/drawing/2014/main" id="{1B6D4CB7-1558-4BB8-B233-11C2FCB016FE}"/>
              </a:ext>
            </a:extLst>
          </p:cNvPr>
          <p:cNvSpPr>
            <a:spLocks xmlns:a="http://schemas.openxmlformats.org/drawingml/2006/main" noGrp="1"/>
          </p:cNvSpPr>
          <p:nvPr/>
        </p:nvSpPr>
        <p:spPr>
          <a:xfrm xmlns:a="http://schemas.openxmlformats.org/drawingml/2006/main">
            <a:off x="10267950" y="26193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C38"/>
                </a:solidFill>
                <a:latin typeface="Arial"/>
                <a:ea typeface="Arial"/>
                <a:cs typeface="Arial"/>
              </a:defRPr>
            </a:defPPr>
          </a:lstStyle>
          <a:p xmlns:a="http://schemas.openxmlformats.org/drawingml/2006/main">
            <a:pPr algn="l">
              <a:defRPr sz="2100" b="1">
                <a:solidFill>
                  <a:srgbClr val="102C38"/>
                </a:solidFill>
                <a:latin typeface="Arial"/>
                <a:ea typeface="Arial"/>
                <a:cs typeface="Arial"/>
              </a:defRPr>
            </a:pPr>
            <a:r>
              <a:rPr sz="2100" b="1">
                <a:solidFill>
                  <a:srgbClr val="102C38"/>
                </a:solidFill>
                <a:latin typeface="Arial"/>
                <a:ea typeface="Arial"/>
                <a:cs typeface="Arial"/>
              </a:rPr>
              <a:t>whisper.cpp / tiny.en</a:t>
            </a:r>
          </a:p>
        </p:txBody>
      </p:sp>
      <p:sp>
        <p:nvSpPr>
          <p:cNvPr id="10" name="">
            <a:extLst xmlns:a="http://schemas.openxmlformats.org/drawingml/2006/main">
              <a:ext uri="{FF2B5EF4-FFF2-40B4-BE49-F238E27FC236}">
                <a16:creationId xmlns:a16="http://schemas.microsoft.com/office/drawing/2014/main" id="{234806C9-7453-4908-B352-398C3C250915}"/>
              </a:ext>
            </a:extLst>
          </p:cNvPr>
          <p:cNvSpPr>
            <a:spLocks xmlns:a="http://schemas.openxmlformats.org/drawingml/2006/main" noGrp="1"/>
          </p:cNvSpPr>
          <p:nvPr/>
        </p:nvSpPr>
        <p:spPr>
          <a:xfrm xmlns:a="http://schemas.openxmlformats.org/drawingml/2006/main">
            <a:off x="7286625" y="3390900"/>
            <a:ext cx="7191375" cy="0"/>
          </a:xfrm>
          <a:prstGeom xmlns:a="http://schemas.openxmlformats.org/drawingml/2006/main" prst="line">
            <a:avLst/>
          </a:prstGeom>
          <a:ln xmlns:a="http://schemas.openxmlformats.org/drawingml/2006/main" w="13335">
            <a:solidFill>
              <a:srgbClr val="CAD4CE"/>
            </a:solidFill>
          </a:ln>
        </p:spPr>
      </p:sp>
      <p:sp>
        <p:nvSpPr>
          <p:cNvPr id="11" name="Reasoning">
            <a:extLst xmlns:a="http://schemas.openxmlformats.org/drawingml/2006/main">
              <a:ext uri="{FF2B5EF4-FFF2-40B4-BE49-F238E27FC236}">
                <a16:creationId xmlns:a16="http://schemas.microsoft.com/office/drawing/2014/main" id="{EC34DB1C-96AA-493B-9D64-A2B8EC6390F6}"/>
              </a:ext>
            </a:extLst>
          </p:cNvPr>
          <p:cNvSpPr>
            <a:spLocks xmlns:a="http://schemas.openxmlformats.org/drawingml/2006/main" noGrp="1"/>
          </p:cNvSpPr>
          <p:nvPr/>
        </p:nvSpPr>
        <p:spPr>
          <a:xfrm xmlns:a="http://schemas.openxmlformats.org/drawingml/2006/main">
            <a:off x="7286625" y="36099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76"/>
                </a:solidFill>
                <a:latin typeface="Arial"/>
                <a:ea typeface="Arial"/>
                <a:cs typeface="Arial"/>
              </a:defRPr>
            </a:defPPr>
          </a:lstStyle>
          <a:p xmlns:a="http://schemas.openxmlformats.org/drawingml/2006/main">
            <a:pPr algn="l">
              <a:defRPr sz="2025" b="0">
                <a:solidFill>
                  <a:srgbClr val="526976"/>
                </a:solidFill>
                <a:latin typeface="Arial"/>
                <a:ea typeface="Arial"/>
                <a:cs typeface="Arial"/>
              </a:defRPr>
            </a:pPr>
            <a:r>
              <a:rPr sz="2025" b="0">
                <a:solidFill>
                  <a:srgbClr val="526976"/>
                </a:solidFill>
                <a:latin typeface="Arial"/>
                <a:ea typeface="Arial"/>
                <a:cs typeface="Arial"/>
              </a:rPr>
              <a:t>Reasoning</a:t>
            </a:r>
          </a:p>
        </p:txBody>
      </p:sp>
      <p:sp>
        <p:nvSpPr>
          <p:cNvPr id="12" name="Ollama / llama3.2:1b">
            <a:extLst xmlns:a="http://schemas.openxmlformats.org/drawingml/2006/main">
              <a:ext uri="{FF2B5EF4-FFF2-40B4-BE49-F238E27FC236}">
                <a16:creationId xmlns:a16="http://schemas.microsoft.com/office/drawing/2014/main" id="{6D5FB660-5400-4B01-B395-E750AEDAE7D7}"/>
              </a:ext>
            </a:extLst>
          </p:cNvPr>
          <p:cNvSpPr>
            <a:spLocks xmlns:a="http://schemas.openxmlformats.org/drawingml/2006/main" noGrp="1"/>
          </p:cNvSpPr>
          <p:nvPr/>
        </p:nvSpPr>
        <p:spPr>
          <a:xfrm xmlns:a="http://schemas.openxmlformats.org/drawingml/2006/main">
            <a:off x="10267950" y="36099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C38"/>
                </a:solidFill>
                <a:latin typeface="Arial"/>
                <a:ea typeface="Arial"/>
                <a:cs typeface="Arial"/>
              </a:defRPr>
            </a:defPPr>
          </a:lstStyle>
          <a:p xmlns:a="http://schemas.openxmlformats.org/drawingml/2006/main">
            <a:pPr algn="l">
              <a:defRPr sz="2100" b="1">
                <a:solidFill>
                  <a:srgbClr val="102C38"/>
                </a:solidFill>
                <a:latin typeface="Arial"/>
                <a:ea typeface="Arial"/>
                <a:cs typeface="Arial"/>
              </a:defRPr>
            </a:pPr>
            <a:r>
              <a:rPr sz="2100" b="1">
                <a:solidFill>
                  <a:srgbClr val="102C38"/>
                </a:solidFill>
                <a:latin typeface="Arial"/>
                <a:ea typeface="Arial"/>
                <a:cs typeface="Arial"/>
              </a:rPr>
              <a:t>Ollama / llama3.2:1b</a:t>
            </a:r>
          </a:p>
        </p:txBody>
      </p:sp>
      <p:sp>
        <p:nvSpPr>
          <p:cNvPr id="13" name="">
            <a:extLst xmlns:a="http://schemas.openxmlformats.org/drawingml/2006/main">
              <a:ext uri="{FF2B5EF4-FFF2-40B4-BE49-F238E27FC236}">
                <a16:creationId xmlns:a16="http://schemas.microsoft.com/office/drawing/2014/main" id="{67BD52F6-B436-41A7-AC90-DAB87966B802}"/>
              </a:ext>
            </a:extLst>
          </p:cNvPr>
          <p:cNvSpPr>
            <a:spLocks xmlns:a="http://schemas.openxmlformats.org/drawingml/2006/main" noGrp="1"/>
          </p:cNvSpPr>
          <p:nvPr/>
        </p:nvSpPr>
        <p:spPr>
          <a:xfrm xmlns:a="http://schemas.openxmlformats.org/drawingml/2006/main">
            <a:off x="7286625" y="4381500"/>
            <a:ext cx="7191375" cy="0"/>
          </a:xfrm>
          <a:prstGeom xmlns:a="http://schemas.openxmlformats.org/drawingml/2006/main" prst="line">
            <a:avLst/>
          </a:prstGeom>
          <a:ln xmlns:a="http://schemas.openxmlformats.org/drawingml/2006/main" w="13335">
            <a:solidFill>
              <a:srgbClr val="CAD4CE"/>
            </a:solidFill>
          </a:ln>
        </p:spPr>
      </p:sp>
      <p:sp>
        <p:nvSpPr>
          <p:cNvPr id="14" name="Personal memory">
            <a:extLst xmlns:a="http://schemas.openxmlformats.org/drawingml/2006/main">
              <a:ext uri="{FF2B5EF4-FFF2-40B4-BE49-F238E27FC236}">
                <a16:creationId xmlns:a16="http://schemas.microsoft.com/office/drawing/2014/main" id="{26B22D3A-6D5A-4C77-B000-554102D3EC3C}"/>
              </a:ext>
            </a:extLst>
          </p:cNvPr>
          <p:cNvSpPr>
            <a:spLocks xmlns:a="http://schemas.openxmlformats.org/drawingml/2006/main" noGrp="1"/>
          </p:cNvSpPr>
          <p:nvPr/>
        </p:nvSpPr>
        <p:spPr>
          <a:xfrm xmlns:a="http://schemas.openxmlformats.org/drawingml/2006/main">
            <a:off x="7286625" y="46005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76"/>
                </a:solidFill>
                <a:latin typeface="Arial"/>
                <a:ea typeface="Arial"/>
                <a:cs typeface="Arial"/>
              </a:defRPr>
            </a:defPPr>
          </a:lstStyle>
          <a:p xmlns:a="http://schemas.openxmlformats.org/drawingml/2006/main">
            <a:pPr algn="l">
              <a:defRPr sz="2025" b="0">
                <a:solidFill>
                  <a:srgbClr val="526976"/>
                </a:solidFill>
                <a:latin typeface="Arial"/>
                <a:ea typeface="Arial"/>
                <a:cs typeface="Arial"/>
              </a:defRPr>
            </a:pPr>
            <a:r>
              <a:rPr sz="2025" b="0">
                <a:solidFill>
                  <a:srgbClr val="526976"/>
                </a:solidFill>
                <a:latin typeface="Arial"/>
                <a:ea typeface="Arial"/>
                <a:cs typeface="Arial"/>
              </a:rPr>
              <a:t>Personal memory</a:t>
            </a:r>
          </a:p>
        </p:txBody>
      </p:sp>
      <p:sp>
        <p:nvSpPr>
          <p:cNvPr id="15" name="SQLite / concept ranking">
            <a:extLst xmlns:a="http://schemas.openxmlformats.org/drawingml/2006/main">
              <a:ext uri="{FF2B5EF4-FFF2-40B4-BE49-F238E27FC236}">
                <a16:creationId xmlns:a16="http://schemas.microsoft.com/office/drawing/2014/main" id="{D40FB732-B4FE-4FC4-80ED-9F42A65759AF}"/>
              </a:ext>
            </a:extLst>
          </p:cNvPr>
          <p:cNvSpPr>
            <a:spLocks xmlns:a="http://schemas.openxmlformats.org/drawingml/2006/main" noGrp="1"/>
          </p:cNvSpPr>
          <p:nvPr/>
        </p:nvSpPr>
        <p:spPr>
          <a:xfrm xmlns:a="http://schemas.openxmlformats.org/drawingml/2006/main">
            <a:off x="10267950" y="46005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C38"/>
                </a:solidFill>
                <a:latin typeface="Arial"/>
                <a:ea typeface="Arial"/>
                <a:cs typeface="Arial"/>
              </a:defRPr>
            </a:defPPr>
          </a:lstStyle>
          <a:p xmlns:a="http://schemas.openxmlformats.org/drawingml/2006/main">
            <a:pPr algn="l">
              <a:defRPr sz="2100" b="1">
                <a:solidFill>
                  <a:srgbClr val="102C38"/>
                </a:solidFill>
                <a:latin typeface="Arial"/>
                <a:ea typeface="Arial"/>
                <a:cs typeface="Arial"/>
              </a:defRPr>
            </a:pPr>
            <a:r>
              <a:rPr sz="2100" b="1">
                <a:solidFill>
                  <a:srgbClr val="102C38"/>
                </a:solidFill>
                <a:latin typeface="Arial"/>
                <a:ea typeface="Arial"/>
                <a:cs typeface="Arial"/>
              </a:rPr>
              <a:t>SQLite / concept ranking</a:t>
            </a:r>
          </a:p>
        </p:txBody>
      </p:sp>
      <p:sp>
        <p:nvSpPr>
          <p:cNvPr id="16" name="">
            <a:extLst xmlns:a="http://schemas.openxmlformats.org/drawingml/2006/main">
              <a:ext uri="{FF2B5EF4-FFF2-40B4-BE49-F238E27FC236}">
                <a16:creationId xmlns:a16="http://schemas.microsoft.com/office/drawing/2014/main" id="{928F520A-F45C-4AA5-9778-4798D64F4ADE}"/>
              </a:ext>
            </a:extLst>
          </p:cNvPr>
          <p:cNvSpPr>
            <a:spLocks xmlns:a="http://schemas.openxmlformats.org/drawingml/2006/main" noGrp="1"/>
          </p:cNvSpPr>
          <p:nvPr/>
        </p:nvSpPr>
        <p:spPr>
          <a:xfrm xmlns:a="http://schemas.openxmlformats.org/drawingml/2006/main">
            <a:off x="7286625" y="5372100"/>
            <a:ext cx="7191375" cy="0"/>
          </a:xfrm>
          <a:prstGeom xmlns:a="http://schemas.openxmlformats.org/drawingml/2006/main" prst="line">
            <a:avLst/>
          </a:prstGeom>
          <a:ln xmlns:a="http://schemas.openxmlformats.org/drawingml/2006/main" w="13335">
            <a:solidFill>
              <a:srgbClr val="CAD4CE"/>
            </a:solidFill>
          </a:ln>
        </p:spPr>
      </p:sp>
      <p:sp>
        <p:nvSpPr>
          <p:cNvPr id="17" name="Speech output">
            <a:extLst xmlns:a="http://schemas.openxmlformats.org/drawingml/2006/main">
              <a:ext uri="{FF2B5EF4-FFF2-40B4-BE49-F238E27FC236}">
                <a16:creationId xmlns:a16="http://schemas.microsoft.com/office/drawing/2014/main" id="{3B86FB10-DC97-4491-BDC9-C229774C3B73}"/>
              </a:ext>
            </a:extLst>
          </p:cNvPr>
          <p:cNvSpPr>
            <a:spLocks xmlns:a="http://schemas.openxmlformats.org/drawingml/2006/main" noGrp="1"/>
          </p:cNvSpPr>
          <p:nvPr/>
        </p:nvSpPr>
        <p:spPr>
          <a:xfrm xmlns:a="http://schemas.openxmlformats.org/drawingml/2006/main">
            <a:off x="7286625" y="55911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76"/>
                </a:solidFill>
                <a:latin typeface="Arial"/>
                <a:ea typeface="Arial"/>
                <a:cs typeface="Arial"/>
              </a:defRPr>
            </a:defPPr>
          </a:lstStyle>
          <a:p xmlns:a="http://schemas.openxmlformats.org/drawingml/2006/main">
            <a:pPr algn="l">
              <a:defRPr sz="2025" b="0">
                <a:solidFill>
                  <a:srgbClr val="526976"/>
                </a:solidFill>
                <a:latin typeface="Arial"/>
                <a:ea typeface="Arial"/>
                <a:cs typeface="Arial"/>
              </a:defRPr>
            </a:pPr>
            <a:r>
              <a:rPr sz="2025" b="0">
                <a:solidFill>
                  <a:srgbClr val="526976"/>
                </a:solidFill>
                <a:latin typeface="Arial"/>
                <a:ea typeface="Arial"/>
                <a:cs typeface="Arial"/>
              </a:rPr>
              <a:t>Speech output</a:t>
            </a:r>
          </a:p>
        </p:txBody>
      </p:sp>
      <p:sp>
        <p:nvSpPr>
          <p:cNvPr id="18" name="Piper / lessac voice">
            <a:extLst xmlns:a="http://schemas.openxmlformats.org/drawingml/2006/main">
              <a:ext uri="{FF2B5EF4-FFF2-40B4-BE49-F238E27FC236}">
                <a16:creationId xmlns:a16="http://schemas.microsoft.com/office/drawing/2014/main" id="{57BD810E-833F-42D4-8015-C907C6915A46}"/>
              </a:ext>
            </a:extLst>
          </p:cNvPr>
          <p:cNvSpPr>
            <a:spLocks xmlns:a="http://schemas.openxmlformats.org/drawingml/2006/main" noGrp="1"/>
          </p:cNvSpPr>
          <p:nvPr/>
        </p:nvSpPr>
        <p:spPr>
          <a:xfrm xmlns:a="http://schemas.openxmlformats.org/drawingml/2006/main">
            <a:off x="10267950" y="55911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C38"/>
                </a:solidFill>
                <a:latin typeface="Arial"/>
                <a:ea typeface="Arial"/>
                <a:cs typeface="Arial"/>
              </a:defRPr>
            </a:defPPr>
          </a:lstStyle>
          <a:p xmlns:a="http://schemas.openxmlformats.org/drawingml/2006/main">
            <a:pPr algn="l">
              <a:defRPr sz="2100" b="1">
                <a:solidFill>
                  <a:srgbClr val="102C38"/>
                </a:solidFill>
                <a:latin typeface="Arial"/>
                <a:ea typeface="Arial"/>
                <a:cs typeface="Arial"/>
              </a:defRPr>
            </a:pPr>
            <a:r>
              <a:rPr sz="2100" b="1">
                <a:solidFill>
                  <a:srgbClr val="102C38"/>
                </a:solidFill>
                <a:latin typeface="Arial"/>
                <a:ea typeface="Arial"/>
                <a:cs typeface="Arial"/>
              </a:rPr>
              <a:t>Piper / lessac voice</a:t>
            </a:r>
          </a:p>
        </p:txBody>
      </p:sp>
      <p:sp>
        <p:nvSpPr>
          <p:cNvPr id="19" name="">
            <a:extLst xmlns:a="http://schemas.openxmlformats.org/drawingml/2006/main">
              <a:ext uri="{FF2B5EF4-FFF2-40B4-BE49-F238E27FC236}">
                <a16:creationId xmlns:a16="http://schemas.microsoft.com/office/drawing/2014/main" id="{809C3E34-F08F-40FC-99F1-D7A54B08D3A3}"/>
              </a:ext>
            </a:extLst>
          </p:cNvPr>
          <p:cNvSpPr>
            <a:spLocks xmlns:a="http://schemas.openxmlformats.org/drawingml/2006/main" noGrp="1"/>
          </p:cNvSpPr>
          <p:nvPr/>
        </p:nvSpPr>
        <p:spPr>
          <a:xfrm xmlns:a="http://schemas.openxmlformats.org/drawingml/2006/main">
            <a:off x="7286625" y="6362700"/>
            <a:ext cx="7191375" cy="0"/>
          </a:xfrm>
          <a:prstGeom xmlns:a="http://schemas.openxmlformats.org/drawingml/2006/main" prst="line">
            <a:avLst/>
          </a:prstGeom>
          <a:ln xmlns:a="http://schemas.openxmlformats.org/drawingml/2006/main" w="13335">
            <a:solidFill>
              <a:srgbClr val="CAD4CE"/>
            </a:solidFill>
          </a:ln>
        </p:spPr>
      </p:sp>
      <p:sp>
        <p:nvSpPr>
          <p:cNvPr id="20" name="Runtime">
            <a:extLst xmlns:a="http://schemas.openxmlformats.org/drawingml/2006/main">
              <a:ext uri="{FF2B5EF4-FFF2-40B4-BE49-F238E27FC236}">
                <a16:creationId xmlns:a16="http://schemas.microsoft.com/office/drawing/2014/main" id="{343A38B3-45BB-4FEB-9FBF-64B044B957FC}"/>
              </a:ext>
            </a:extLst>
          </p:cNvPr>
          <p:cNvSpPr>
            <a:spLocks xmlns:a="http://schemas.openxmlformats.org/drawingml/2006/main" noGrp="1"/>
          </p:cNvSpPr>
          <p:nvPr/>
        </p:nvSpPr>
        <p:spPr>
          <a:xfrm xmlns:a="http://schemas.openxmlformats.org/drawingml/2006/main">
            <a:off x="7286625" y="65817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76"/>
                </a:solidFill>
                <a:latin typeface="Arial"/>
                <a:ea typeface="Arial"/>
                <a:cs typeface="Arial"/>
              </a:defRPr>
            </a:defPPr>
          </a:lstStyle>
          <a:p xmlns:a="http://schemas.openxmlformats.org/drawingml/2006/main">
            <a:pPr algn="l">
              <a:defRPr sz="2025" b="0">
                <a:solidFill>
                  <a:srgbClr val="526976"/>
                </a:solidFill>
                <a:latin typeface="Arial"/>
                <a:ea typeface="Arial"/>
                <a:cs typeface="Arial"/>
              </a:defRPr>
            </a:pPr>
            <a:r>
              <a:rPr sz="2025" b="0">
                <a:solidFill>
                  <a:srgbClr val="526976"/>
                </a:solidFill>
                <a:latin typeface="Arial"/>
                <a:ea typeface="Arial"/>
                <a:cs typeface="Arial"/>
              </a:rPr>
              <a:t>Runtime</a:t>
            </a:r>
          </a:p>
        </p:txBody>
      </p:sp>
      <p:sp>
        <p:nvSpPr>
          <p:cNvPr id="21" name="Python 3.13 / ARM64 target">
            <a:extLst xmlns:a="http://schemas.openxmlformats.org/drawingml/2006/main">
              <a:ext uri="{FF2B5EF4-FFF2-40B4-BE49-F238E27FC236}">
                <a16:creationId xmlns:a16="http://schemas.microsoft.com/office/drawing/2014/main" id="{80EB967C-A408-465A-A2F5-20D80D002DA8}"/>
              </a:ext>
            </a:extLst>
          </p:cNvPr>
          <p:cNvSpPr>
            <a:spLocks xmlns:a="http://schemas.openxmlformats.org/drawingml/2006/main" noGrp="1"/>
          </p:cNvSpPr>
          <p:nvPr/>
        </p:nvSpPr>
        <p:spPr>
          <a:xfrm xmlns:a="http://schemas.openxmlformats.org/drawingml/2006/main">
            <a:off x="10267950" y="65817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C38"/>
                </a:solidFill>
                <a:latin typeface="Arial"/>
                <a:ea typeface="Arial"/>
                <a:cs typeface="Arial"/>
              </a:defRPr>
            </a:defPPr>
          </a:lstStyle>
          <a:p xmlns:a="http://schemas.openxmlformats.org/drawingml/2006/main">
            <a:pPr algn="l">
              <a:defRPr sz="2100" b="1">
                <a:solidFill>
                  <a:srgbClr val="102C38"/>
                </a:solidFill>
                <a:latin typeface="Arial"/>
                <a:ea typeface="Arial"/>
                <a:cs typeface="Arial"/>
              </a:defRPr>
            </a:pPr>
            <a:r>
              <a:rPr sz="2100" b="1">
                <a:solidFill>
                  <a:srgbClr val="102C38"/>
                </a:solidFill>
                <a:latin typeface="Arial"/>
                <a:ea typeface="Arial"/>
                <a:cs typeface="Arial"/>
              </a:rPr>
              <a:t>Python 3.13 / ARM64 target</a:t>
            </a:r>
          </a:p>
        </p:txBody>
      </p:sp>
      <p:sp>
        <p:nvSpPr>
          <p:cNvPr id="22" name="Internet is needed for provisioning. Core ope">
            <a:extLst xmlns:a="http://schemas.openxmlformats.org/drawingml/2006/main">
              <a:ext uri="{FF2B5EF4-FFF2-40B4-BE49-F238E27FC236}">
                <a16:creationId xmlns:a16="http://schemas.microsoft.com/office/drawing/2014/main" id="{36121971-737E-4B1E-BE07-1440C4DD0EA8}"/>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6"/>
                </a:solidFill>
                <a:latin typeface="Arial"/>
                <a:ea typeface="Arial"/>
                <a:cs typeface="Arial"/>
              </a:defRPr>
            </a:defPPr>
          </a:lstStyle>
          <a:p xmlns:a="http://schemas.openxmlformats.org/drawingml/2006/main">
            <a:pPr algn="l">
              <a:defRPr sz="1575" b="0">
                <a:solidFill>
                  <a:srgbClr val="526976"/>
                </a:solidFill>
                <a:latin typeface="Arial"/>
                <a:ea typeface="Arial"/>
                <a:cs typeface="Arial"/>
              </a:defRPr>
            </a:pPr>
            <a:r>
              <a:rPr sz="1575" b="0">
                <a:solidFill>
                  <a:srgbClr val="526976"/>
                </a:solidFill>
                <a:latin typeface="Arial"/>
                <a:ea typeface="Arial"/>
                <a:cs typeface="Arial"/>
              </a:rPr>
              <a:t>Internet is needed for provisioning. Core operation uses preloaded local models.</a:t>
            </a:r>
          </a:p>
        </p:txBody>
      </p:sp>
    </p:spTree>
    <p:extLst>
      <p:ext uri="{BB962C8B-B14F-4D97-AF65-F5344CB8AC3E}">
        <p14:creationId xmlns:p14="http://schemas.microsoft.com/office/powerpoint/2010/main" val="243769534"/>
      </p:ext>
    </p:extLst>
  </p:cSld>
</p:sld>
</file>

<file path=ppt/slides/slide6.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8" name="NOVA">
            <a:extLst xmlns:a="http://schemas.openxmlformats.org/drawingml/2006/main">
              <a:ext uri="{FF2B5EF4-FFF2-40B4-BE49-F238E27FC236}">
                <a16:creationId xmlns:a16="http://schemas.microsoft.com/office/drawing/2014/main" id="{4FAACF49-F44D-4BDC-907C-3883A148DD4A}"/>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9BF2C7"/>
                </a:solidFill>
                <a:latin typeface="Arial"/>
                <a:ea typeface="Arial"/>
                <a:cs typeface="Arial"/>
              </a:defRPr>
            </a:defPPr>
          </a:lstStyle>
          <a:p xmlns:a="http://schemas.openxmlformats.org/drawingml/2006/main">
            <a:pPr algn="l">
              <a:defRPr sz="1425" b="1">
                <a:solidFill>
                  <a:srgbClr val="9BF2C7"/>
                </a:solidFill>
                <a:latin typeface="Arial"/>
                <a:ea typeface="Arial"/>
                <a:cs typeface="Arial"/>
              </a:defRPr>
            </a:pPr>
            <a:r>
              <a:rPr sz="1425" b="1">
                <a:solidFill>
                  <a:srgbClr val="9BF2C7"/>
                </a:solidFill>
                <a:latin typeface="Arial"/>
                <a:ea typeface="Arial"/>
                <a:cs typeface="Arial"/>
              </a:rPr>
              <a:t>NOVA</a:t>
            </a:r>
          </a:p>
        </p:txBody>
      </p:sp>
      <p:sp>
        <p:nvSpPr>
          <p:cNvPr id="2" name="06">
            <a:extLst xmlns:a="http://schemas.openxmlformats.org/drawingml/2006/main">
              <a:ext uri="{FF2B5EF4-FFF2-40B4-BE49-F238E27FC236}">
                <a16:creationId xmlns:a16="http://schemas.microsoft.com/office/drawing/2014/main" id="{A6CE0A26-D411-4E34-81E7-7EF57288A5E4}"/>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B"/>
                </a:solidFill>
                <a:latin typeface="Arial"/>
                <a:ea typeface="Arial"/>
                <a:cs typeface="Arial"/>
              </a:defRPr>
            </a:defPPr>
          </a:lstStyle>
          <a:p xmlns:a="http://schemas.openxmlformats.org/drawingml/2006/main">
            <a:pPr algn="r">
              <a:defRPr sz="1350" b="0">
                <a:solidFill>
                  <a:srgbClr val="AEC0CB"/>
                </a:solidFill>
                <a:latin typeface="Arial"/>
                <a:ea typeface="Arial"/>
                <a:cs typeface="Arial"/>
              </a:defRPr>
            </a:pPr>
            <a:r>
              <a:rPr sz="1350" b="0">
                <a:solidFill>
                  <a:srgbClr val="AEC0CB"/>
                </a:solidFill>
                <a:latin typeface="Arial"/>
                <a:ea typeface="Arial"/>
                <a:cs typeface="Arial"/>
              </a:rPr>
              <a:t>06</a:t>
            </a:r>
          </a:p>
        </p:txBody>
      </p:sp>
      <p:sp>
        <p:nvSpPr>
          <p:cNvPr id="3" name="Working flow">
            <a:extLst xmlns:a="http://schemas.openxmlformats.org/drawingml/2006/main">
              <a:ext uri="{FF2B5EF4-FFF2-40B4-BE49-F238E27FC236}">
                <a16:creationId xmlns:a16="http://schemas.microsoft.com/office/drawing/2014/main" id="{6C5CC7B6-B22E-48FC-AE41-4CB1FAD8E1C8}"/>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5F4EE"/>
                </a:solidFill>
                <a:latin typeface="Arial"/>
                <a:ea typeface="Arial"/>
                <a:cs typeface="Arial"/>
              </a:defRPr>
            </a:defPPr>
          </a:lstStyle>
          <a:p xmlns:a="http://schemas.openxmlformats.org/drawingml/2006/main">
            <a:pPr algn="l">
              <a:defRPr sz="4350" b="1">
                <a:solidFill>
                  <a:srgbClr val="F5F4EE"/>
                </a:solidFill>
                <a:latin typeface="Arial"/>
                <a:ea typeface="Arial"/>
                <a:cs typeface="Arial"/>
              </a:defRPr>
            </a:pPr>
            <a:r>
              <a:rPr sz="4350" b="1">
                <a:solidFill>
                  <a:srgbClr val="F5F4EE"/>
                </a:solidFill>
                <a:latin typeface="Arial"/>
                <a:ea typeface="Arial"/>
                <a:cs typeface="Arial"/>
              </a:rPr>
              <a:t>Working flow</a:t>
            </a:r>
          </a:p>
        </p:txBody>
      </p:sp>
      <p:sp>
        <p:nvSpPr>
          <p:cNvPr id="4" name="“Nova, remind me to drink&#10;water in one minute">
            <a:extLst xmlns:a="http://schemas.openxmlformats.org/drawingml/2006/main">
              <a:ext uri="{FF2B5EF4-FFF2-40B4-BE49-F238E27FC236}">
                <a16:creationId xmlns:a16="http://schemas.microsoft.com/office/drawing/2014/main" id="{41B4956B-BFB9-46D2-B80A-3024E0B812BB}"/>
              </a:ext>
            </a:extLst>
          </p:cNvPr>
          <p:cNvSpPr>
            <a:spLocks xmlns:a="http://schemas.openxmlformats.org/drawingml/2006/main" noGrp="1"/>
          </p:cNvSpPr>
          <p:nvPr/>
        </p:nvSpPr>
        <p:spPr>
          <a:xfrm xmlns:a="http://schemas.openxmlformats.org/drawingml/2006/main">
            <a:off x="762000" y="2409825"/>
            <a:ext cx="13430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9BF2C7"/>
                </a:solidFill>
                <a:latin typeface="Arial"/>
                <a:ea typeface="Arial"/>
                <a:cs typeface="Arial"/>
              </a:defRPr>
            </a:defPPr>
          </a:lstStyle>
          <a:p xmlns:a="http://schemas.openxmlformats.org/drawingml/2006/main">
            <a:pPr algn="l">
              <a:defRPr sz="4650" b="1">
                <a:solidFill>
                  <a:srgbClr val="9BF2C7"/>
                </a:solidFill>
                <a:latin typeface="Arial"/>
                <a:ea typeface="Arial"/>
                <a:cs typeface="Arial"/>
              </a:defRPr>
            </a:pPr>
            <a:r>
              <a:rPr sz="4650" b="1">
                <a:solidFill>
                  <a:srgbClr val="9BF2C7"/>
                </a:solidFill>
                <a:latin typeface="Arial"/>
                <a:ea typeface="Arial"/>
                <a:cs typeface="Arial"/>
              </a:rPr>
              <a:t>“Nova, remind me to drink</a:t>
            </a:r>
          </a:p>
          <a:p xmlns:a="http://schemas.openxmlformats.org/drawingml/2006/main">
            <a:pPr algn="l">
              <a:defRPr sz="4650" b="1">
                <a:solidFill>
                  <a:srgbClr val="9BF2C7"/>
                </a:solidFill>
                <a:latin typeface="Arial"/>
                <a:ea typeface="Arial"/>
                <a:cs typeface="Arial"/>
              </a:defRPr>
            </a:pPr>
            <a:r>
              <a:rPr sz="4650" b="1">
                <a:solidFill>
                  <a:srgbClr val="9BF2C7"/>
                </a:solidFill>
                <a:latin typeface="Arial"/>
                <a:ea typeface="Arial"/>
                <a:cs typeface="Arial"/>
              </a:rPr>
              <a:t>water in one minute.”</a:t>
            </a:r>
          </a:p>
        </p:txBody>
      </p:sp>
      <p:sp>
        <p:nvSpPr>
          <p:cNvPr id="5" name="01">
            <a:extLst xmlns:a="http://schemas.openxmlformats.org/drawingml/2006/main">
              <a:ext uri="{FF2B5EF4-FFF2-40B4-BE49-F238E27FC236}">
                <a16:creationId xmlns:a16="http://schemas.microsoft.com/office/drawing/2014/main" id="{09A84FA1-605A-4C14-9E25-21EBEE219264}"/>
              </a:ext>
            </a:extLst>
          </p:cNvPr>
          <p:cNvSpPr>
            <a:spLocks xmlns:a="http://schemas.openxmlformats.org/drawingml/2006/main" noGrp="1"/>
          </p:cNvSpPr>
          <p:nvPr/>
        </p:nvSpPr>
        <p:spPr>
          <a:xfrm xmlns:a="http://schemas.openxmlformats.org/drawingml/2006/main">
            <a:off x="762000" y="462915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0">
                <a:solidFill>
                  <a:srgbClr val="9BF2C7"/>
                </a:solidFill>
                <a:latin typeface="Arial"/>
                <a:ea typeface="Arial"/>
                <a:cs typeface="Arial"/>
              </a:defRPr>
            </a:defPPr>
          </a:lstStyle>
          <a:p xmlns:a="http://schemas.openxmlformats.org/drawingml/2006/main">
            <a:pPr algn="l">
              <a:defRPr sz="4350" b="0">
                <a:solidFill>
                  <a:srgbClr val="9BF2C7"/>
                </a:solidFill>
                <a:latin typeface="Arial"/>
                <a:ea typeface="Arial"/>
                <a:cs typeface="Arial"/>
              </a:defRPr>
            </a:pPr>
            <a:r>
              <a:rPr sz="4350" b="0">
                <a:solidFill>
                  <a:srgbClr val="9BF2C7"/>
                </a:solidFill>
                <a:latin typeface="Arial"/>
                <a:ea typeface="Arial"/>
                <a:cs typeface="Arial"/>
              </a:rPr>
              <a:t>01</a:t>
            </a:r>
          </a:p>
        </p:txBody>
      </p:sp>
      <p:sp>
        <p:nvSpPr>
          <p:cNvPr id="6" name="Listen">
            <a:extLst xmlns:a="http://schemas.openxmlformats.org/drawingml/2006/main">
              <a:ext uri="{FF2B5EF4-FFF2-40B4-BE49-F238E27FC236}">
                <a16:creationId xmlns:a16="http://schemas.microsoft.com/office/drawing/2014/main" id="{0DC27399-7B24-4DC1-9AED-1FBE28927860}"/>
              </a:ext>
            </a:extLst>
          </p:cNvPr>
          <p:cNvSpPr>
            <a:spLocks xmlns:a="http://schemas.openxmlformats.org/drawingml/2006/main" noGrp="1"/>
          </p:cNvSpPr>
          <p:nvPr/>
        </p:nvSpPr>
        <p:spPr>
          <a:xfrm xmlns:a="http://schemas.openxmlformats.org/drawingml/2006/main">
            <a:off x="762000" y="56007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5F4EE"/>
                </a:solidFill>
                <a:latin typeface="Arial"/>
                <a:ea typeface="Arial"/>
                <a:cs typeface="Arial"/>
              </a:defRPr>
            </a:defPPr>
          </a:lstStyle>
          <a:p xmlns:a="http://schemas.openxmlformats.org/drawingml/2006/main">
            <a:pPr algn="l">
              <a:defRPr sz="2700" b="1">
                <a:solidFill>
                  <a:srgbClr val="F5F4EE"/>
                </a:solidFill>
                <a:latin typeface="Arial"/>
                <a:ea typeface="Arial"/>
                <a:cs typeface="Arial"/>
              </a:defRPr>
            </a:pPr>
            <a:r>
              <a:rPr sz="2700" b="1">
                <a:solidFill>
                  <a:srgbClr val="F5F4EE"/>
                </a:solidFill>
                <a:latin typeface="Arial"/>
                <a:ea typeface="Arial"/>
                <a:cs typeface="Arial"/>
              </a:rPr>
              <a:t>Listen</a:t>
            </a:r>
          </a:p>
        </p:txBody>
      </p:sp>
      <p:sp>
        <p:nvSpPr>
          <p:cNvPr id="7" name="RMS VAD creates&#10;a bounded utterance">
            <a:extLst xmlns:a="http://schemas.openxmlformats.org/drawingml/2006/main">
              <a:ext uri="{FF2B5EF4-FFF2-40B4-BE49-F238E27FC236}">
                <a16:creationId xmlns:a16="http://schemas.microsoft.com/office/drawing/2014/main" id="{2A0823B2-016D-4EE4-B958-42FDE30A7E70}"/>
              </a:ext>
            </a:extLst>
          </p:cNvPr>
          <p:cNvSpPr>
            <a:spLocks xmlns:a="http://schemas.openxmlformats.org/drawingml/2006/main" noGrp="1"/>
          </p:cNvSpPr>
          <p:nvPr/>
        </p:nvSpPr>
        <p:spPr>
          <a:xfrm xmlns:a="http://schemas.openxmlformats.org/drawingml/2006/main">
            <a:off x="762000" y="63055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C0CB"/>
                </a:solidFill>
                <a:latin typeface="Arial"/>
                <a:ea typeface="Arial"/>
                <a:cs typeface="Arial"/>
              </a:defRPr>
            </a:defPPr>
          </a:lstStyle>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RMS VAD creates</a:t>
            </a:r>
          </a:p>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a bounded utterance</a:t>
            </a:r>
          </a:p>
        </p:txBody>
      </p:sp>
      <p:sp>
        <p:nvSpPr>
          <p:cNvPr id="8" name="02">
            <a:extLst xmlns:a="http://schemas.openxmlformats.org/drawingml/2006/main">
              <a:ext uri="{FF2B5EF4-FFF2-40B4-BE49-F238E27FC236}">
                <a16:creationId xmlns:a16="http://schemas.microsoft.com/office/drawing/2014/main" id="{B1ED8619-E619-4258-A5DB-F1A051FCBE4B}"/>
              </a:ext>
            </a:extLst>
          </p:cNvPr>
          <p:cNvSpPr>
            <a:spLocks xmlns:a="http://schemas.openxmlformats.org/drawingml/2006/main" noGrp="1"/>
          </p:cNvSpPr>
          <p:nvPr/>
        </p:nvSpPr>
        <p:spPr>
          <a:xfrm xmlns:a="http://schemas.openxmlformats.org/drawingml/2006/main">
            <a:off x="4238625" y="462915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0">
                <a:solidFill>
                  <a:srgbClr val="9BF2C7"/>
                </a:solidFill>
                <a:latin typeface="Arial"/>
                <a:ea typeface="Arial"/>
                <a:cs typeface="Arial"/>
              </a:defRPr>
            </a:defPPr>
          </a:lstStyle>
          <a:p xmlns:a="http://schemas.openxmlformats.org/drawingml/2006/main">
            <a:pPr algn="l">
              <a:defRPr sz="4350" b="0">
                <a:solidFill>
                  <a:srgbClr val="9BF2C7"/>
                </a:solidFill>
                <a:latin typeface="Arial"/>
                <a:ea typeface="Arial"/>
                <a:cs typeface="Arial"/>
              </a:defRPr>
            </a:pPr>
            <a:r>
              <a:rPr sz="4350" b="0">
                <a:solidFill>
                  <a:srgbClr val="9BF2C7"/>
                </a:solidFill>
                <a:latin typeface="Arial"/>
                <a:ea typeface="Arial"/>
                <a:cs typeface="Arial"/>
              </a:rPr>
              <a:t>02</a:t>
            </a:r>
          </a:p>
        </p:txBody>
      </p:sp>
      <p:sp>
        <p:nvSpPr>
          <p:cNvPr id="9" name="Understand">
            <a:extLst xmlns:a="http://schemas.openxmlformats.org/drawingml/2006/main">
              <a:ext uri="{FF2B5EF4-FFF2-40B4-BE49-F238E27FC236}">
                <a16:creationId xmlns:a16="http://schemas.microsoft.com/office/drawing/2014/main" id="{FA823EE8-3D95-4BBA-AC22-9D0BC196D58E}"/>
              </a:ext>
            </a:extLst>
          </p:cNvPr>
          <p:cNvSpPr>
            <a:spLocks xmlns:a="http://schemas.openxmlformats.org/drawingml/2006/main" noGrp="1"/>
          </p:cNvSpPr>
          <p:nvPr/>
        </p:nvSpPr>
        <p:spPr>
          <a:xfrm xmlns:a="http://schemas.openxmlformats.org/drawingml/2006/main">
            <a:off x="4238625" y="56007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5F4EE"/>
                </a:solidFill>
                <a:latin typeface="Arial"/>
                <a:ea typeface="Arial"/>
                <a:cs typeface="Arial"/>
              </a:defRPr>
            </a:defPPr>
          </a:lstStyle>
          <a:p xmlns:a="http://schemas.openxmlformats.org/drawingml/2006/main">
            <a:pPr algn="l">
              <a:defRPr sz="2700" b="1">
                <a:solidFill>
                  <a:srgbClr val="F5F4EE"/>
                </a:solidFill>
                <a:latin typeface="Arial"/>
                <a:ea typeface="Arial"/>
                <a:cs typeface="Arial"/>
              </a:defRPr>
            </a:pPr>
            <a:r>
              <a:rPr sz="2700" b="1">
                <a:solidFill>
                  <a:srgbClr val="F5F4EE"/>
                </a:solidFill>
                <a:latin typeface="Arial"/>
                <a:ea typeface="Arial"/>
                <a:cs typeface="Arial"/>
              </a:rPr>
              <a:t>Understand</a:t>
            </a:r>
          </a:p>
        </p:txBody>
      </p:sp>
      <p:sp>
        <p:nvSpPr>
          <p:cNvPr id="10" name="Whisper transcribes.&#10;Nova prefix activates.">
            <a:extLst xmlns:a="http://schemas.openxmlformats.org/drawingml/2006/main">
              <a:ext uri="{FF2B5EF4-FFF2-40B4-BE49-F238E27FC236}">
                <a16:creationId xmlns:a16="http://schemas.microsoft.com/office/drawing/2014/main" id="{EE0929C1-EFED-4877-B1DE-A7B021A84D4E}"/>
              </a:ext>
            </a:extLst>
          </p:cNvPr>
          <p:cNvSpPr>
            <a:spLocks xmlns:a="http://schemas.openxmlformats.org/drawingml/2006/main" noGrp="1"/>
          </p:cNvSpPr>
          <p:nvPr/>
        </p:nvSpPr>
        <p:spPr>
          <a:xfrm xmlns:a="http://schemas.openxmlformats.org/drawingml/2006/main">
            <a:off x="4238625" y="63055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C0CB"/>
                </a:solidFill>
                <a:latin typeface="Arial"/>
                <a:ea typeface="Arial"/>
                <a:cs typeface="Arial"/>
              </a:defRPr>
            </a:defPPr>
          </a:lstStyle>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Whisper transcribes.</a:t>
            </a:r>
          </a:p>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Nova prefix activates.</a:t>
            </a:r>
          </a:p>
        </p:txBody>
      </p:sp>
      <p:sp>
        <p:nvSpPr>
          <p:cNvPr id="11" name="03">
            <a:extLst xmlns:a="http://schemas.openxmlformats.org/drawingml/2006/main">
              <a:ext uri="{FF2B5EF4-FFF2-40B4-BE49-F238E27FC236}">
                <a16:creationId xmlns:a16="http://schemas.microsoft.com/office/drawing/2014/main" id="{CD9213BD-BED4-426E-80DB-08BB3EBC3F25}"/>
              </a:ext>
            </a:extLst>
          </p:cNvPr>
          <p:cNvSpPr>
            <a:spLocks xmlns:a="http://schemas.openxmlformats.org/drawingml/2006/main" noGrp="1"/>
          </p:cNvSpPr>
          <p:nvPr/>
        </p:nvSpPr>
        <p:spPr>
          <a:xfrm xmlns:a="http://schemas.openxmlformats.org/drawingml/2006/main">
            <a:off x="7715250" y="462915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0">
                <a:solidFill>
                  <a:srgbClr val="9BF2C7"/>
                </a:solidFill>
                <a:latin typeface="Arial"/>
                <a:ea typeface="Arial"/>
                <a:cs typeface="Arial"/>
              </a:defRPr>
            </a:defPPr>
          </a:lstStyle>
          <a:p xmlns:a="http://schemas.openxmlformats.org/drawingml/2006/main">
            <a:pPr algn="l">
              <a:defRPr sz="4350" b="0">
                <a:solidFill>
                  <a:srgbClr val="9BF2C7"/>
                </a:solidFill>
                <a:latin typeface="Arial"/>
                <a:ea typeface="Arial"/>
                <a:cs typeface="Arial"/>
              </a:defRPr>
            </a:pPr>
            <a:r>
              <a:rPr sz="4350" b="0">
                <a:solidFill>
                  <a:srgbClr val="9BF2C7"/>
                </a:solidFill>
                <a:latin typeface="Arial"/>
                <a:ea typeface="Arial"/>
                <a:cs typeface="Arial"/>
              </a:rPr>
              <a:t>03</a:t>
            </a:r>
          </a:p>
        </p:txBody>
      </p:sp>
      <p:sp>
        <p:nvSpPr>
          <p:cNvPr id="12" name="Act">
            <a:extLst xmlns:a="http://schemas.openxmlformats.org/drawingml/2006/main">
              <a:ext uri="{FF2B5EF4-FFF2-40B4-BE49-F238E27FC236}">
                <a16:creationId xmlns:a16="http://schemas.microsoft.com/office/drawing/2014/main" id="{4C781BD8-56C2-4C22-8A81-B551D1EEB87F}"/>
              </a:ext>
            </a:extLst>
          </p:cNvPr>
          <p:cNvSpPr>
            <a:spLocks xmlns:a="http://schemas.openxmlformats.org/drawingml/2006/main" noGrp="1"/>
          </p:cNvSpPr>
          <p:nvPr/>
        </p:nvSpPr>
        <p:spPr>
          <a:xfrm xmlns:a="http://schemas.openxmlformats.org/drawingml/2006/main">
            <a:off x="7715250" y="56007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5F4EE"/>
                </a:solidFill>
                <a:latin typeface="Arial"/>
                <a:ea typeface="Arial"/>
                <a:cs typeface="Arial"/>
              </a:defRPr>
            </a:defPPr>
          </a:lstStyle>
          <a:p xmlns:a="http://schemas.openxmlformats.org/drawingml/2006/main">
            <a:pPr algn="l">
              <a:defRPr sz="2700" b="1">
                <a:solidFill>
                  <a:srgbClr val="F5F4EE"/>
                </a:solidFill>
                <a:latin typeface="Arial"/>
                <a:ea typeface="Arial"/>
                <a:cs typeface="Arial"/>
              </a:defRPr>
            </a:pPr>
            <a:r>
              <a:rPr sz="2700" b="1">
                <a:solidFill>
                  <a:srgbClr val="F5F4EE"/>
                </a:solidFill>
                <a:latin typeface="Arial"/>
                <a:ea typeface="Arial"/>
                <a:cs typeface="Arial"/>
              </a:rPr>
              <a:t>Act</a:t>
            </a:r>
          </a:p>
        </p:txBody>
      </p:sp>
      <p:sp>
        <p:nvSpPr>
          <p:cNvPr id="13" name="A deterministic tool&#10;stores the reminder">
            <a:extLst xmlns:a="http://schemas.openxmlformats.org/drawingml/2006/main">
              <a:ext uri="{FF2B5EF4-FFF2-40B4-BE49-F238E27FC236}">
                <a16:creationId xmlns:a16="http://schemas.microsoft.com/office/drawing/2014/main" id="{7C8AD872-9894-4523-878B-6D7DBFC7256D}"/>
              </a:ext>
            </a:extLst>
          </p:cNvPr>
          <p:cNvSpPr>
            <a:spLocks xmlns:a="http://schemas.openxmlformats.org/drawingml/2006/main" noGrp="1"/>
          </p:cNvSpPr>
          <p:nvPr/>
        </p:nvSpPr>
        <p:spPr>
          <a:xfrm xmlns:a="http://schemas.openxmlformats.org/drawingml/2006/main">
            <a:off x="7715250" y="63055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C0CB"/>
                </a:solidFill>
                <a:latin typeface="Arial"/>
                <a:ea typeface="Arial"/>
                <a:cs typeface="Arial"/>
              </a:defRPr>
            </a:defPPr>
          </a:lstStyle>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A deterministic tool</a:t>
            </a:r>
          </a:p>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stores the reminder</a:t>
            </a:r>
          </a:p>
        </p:txBody>
      </p:sp>
      <p:sp>
        <p:nvSpPr>
          <p:cNvPr id="14" name="04">
            <a:extLst xmlns:a="http://schemas.openxmlformats.org/drawingml/2006/main">
              <a:ext uri="{FF2B5EF4-FFF2-40B4-BE49-F238E27FC236}">
                <a16:creationId xmlns:a16="http://schemas.microsoft.com/office/drawing/2014/main" id="{32460554-BBB2-49C8-821B-12218B94C739}"/>
              </a:ext>
            </a:extLst>
          </p:cNvPr>
          <p:cNvSpPr>
            <a:spLocks xmlns:a="http://schemas.openxmlformats.org/drawingml/2006/main" noGrp="1"/>
          </p:cNvSpPr>
          <p:nvPr/>
        </p:nvSpPr>
        <p:spPr>
          <a:xfrm xmlns:a="http://schemas.openxmlformats.org/drawingml/2006/main">
            <a:off x="11191875" y="462915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0">
                <a:solidFill>
                  <a:srgbClr val="9BF2C7"/>
                </a:solidFill>
                <a:latin typeface="Arial"/>
                <a:ea typeface="Arial"/>
                <a:cs typeface="Arial"/>
              </a:defRPr>
            </a:defPPr>
          </a:lstStyle>
          <a:p xmlns:a="http://schemas.openxmlformats.org/drawingml/2006/main">
            <a:pPr algn="l">
              <a:defRPr sz="4350" b="0">
                <a:solidFill>
                  <a:srgbClr val="9BF2C7"/>
                </a:solidFill>
                <a:latin typeface="Arial"/>
                <a:ea typeface="Arial"/>
                <a:cs typeface="Arial"/>
              </a:defRPr>
            </a:pPr>
            <a:r>
              <a:rPr sz="4350" b="0">
                <a:solidFill>
                  <a:srgbClr val="9BF2C7"/>
                </a:solidFill>
                <a:latin typeface="Arial"/>
                <a:ea typeface="Arial"/>
                <a:cs typeface="Arial"/>
              </a:rPr>
              <a:t>04</a:t>
            </a:r>
          </a:p>
        </p:txBody>
      </p:sp>
      <p:sp>
        <p:nvSpPr>
          <p:cNvPr id="15" name="Speak">
            <a:extLst xmlns:a="http://schemas.openxmlformats.org/drawingml/2006/main">
              <a:ext uri="{FF2B5EF4-FFF2-40B4-BE49-F238E27FC236}">
                <a16:creationId xmlns:a16="http://schemas.microsoft.com/office/drawing/2014/main" id="{7174FA8C-995D-4C0C-8A2A-F83BC1E0A313}"/>
              </a:ext>
            </a:extLst>
          </p:cNvPr>
          <p:cNvSpPr>
            <a:spLocks xmlns:a="http://schemas.openxmlformats.org/drawingml/2006/main" noGrp="1"/>
          </p:cNvSpPr>
          <p:nvPr/>
        </p:nvSpPr>
        <p:spPr>
          <a:xfrm xmlns:a="http://schemas.openxmlformats.org/drawingml/2006/main">
            <a:off x="11191875" y="560070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5F4EE"/>
                </a:solidFill>
                <a:latin typeface="Arial"/>
                <a:ea typeface="Arial"/>
                <a:cs typeface="Arial"/>
              </a:defRPr>
            </a:defPPr>
          </a:lstStyle>
          <a:p xmlns:a="http://schemas.openxmlformats.org/drawingml/2006/main">
            <a:pPr algn="l">
              <a:defRPr sz="2700" b="1">
                <a:solidFill>
                  <a:srgbClr val="F5F4EE"/>
                </a:solidFill>
                <a:latin typeface="Arial"/>
                <a:ea typeface="Arial"/>
                <a:cs typeface="Arial"/>
              </a:defRPr>
            </a:pPr>
            <a:r>
              <a:rPr sz="2700" b="1">
                <a:solidFill>
                  <a:srgbClr val="F5F4EE"/>
                </a:solidFill>
                <a:latin typeface="Arial"/>
                <a:ea typeface="Arial"/>
                <a:cs typeface="Arial"/>
              </a:rPr>
              <a:t>Speak</a:t>
            </a:r>
          </a:p>
        </p:txBody>
      </p:sp>
      <p:sp>
        <p:nvSpPr>
          <p:cNvPr id="16" name="Piper responds.&#10;Listening resumes.">
            <a:extLst xmlns:a="http://schemas.openxmlformats.org/drawingml/2006/main">
              <a:ext uri="{FF2B5EF4-FFF2-40B4-BE49-F238E27FC236}">
                <a16:creationId xmlns:a16="http://schemas.microsoft.com/office/drawing/2014/main" id="{D4D8030F-0437-4FA6-9F0F-F2D9D7C6636A}"/>
              </a:ext>
            </a:extLst>
          </p:cNvPr>
          <p:cNvSpPr>
            <a:spLocks xmlns:a="http://schemas.openxmlformats.org/drawingml/2006/main" noGrp="1"/>
          </p:cNvSpPr>
          <p:nvPr/>
        </p:nvSpPr>
        <p:spPr>
          <a:xfrm xmlns:a="http://schemas.openxmlformats.org/drawingml/2006/main">
            <a:off x="11191875" y="63055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C0CB"/>
                </a:solidFill>
                <a:latin typeface="Arial"/>
                <a:ea typeface="Arial"/>
                <a:cs typeface="Arial"/>
              </a:defRPr>
            </a:defPPr>
          </a:lstStyle>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Piper responds.</a:t>
            </a:r>
          </a:p>
          <a:p xmlns:a="http://schemas.openxmlformats.org/drawingml/2006/main">
            <a:pPr algn="l">
              <a:defRPr sz="2025" b="0">
                <a:solidFill>
                  <a:srgbClr val="AEC0CB"/>
                </a:solidFill>
                <a:latin typeface="Arial"/>
                <a:ea typeface="Arial"/>
                <a:cs typeface="Arial"/>
              </a:defRPr>
            </a:pPr>
            <a:r>
              <a:rPr sz="2025" b="0">
                <a:solidFill>
                  <a:srgbClr val="AEC0CB"/>
                </a:solidFill>
                <a:latin typeface="Arial"/>
                <a:ea typeface="Arial"/>
                <a:cs typeface="Arial"/>
              </a:rPr>
              <a:t>Listening resumes.</a:t>
            </a:r>
          </a:p>
        </p:txBody>
      </p:sp>
      <p:sp>
        <p:nvSpPr>
          <p:cNvPr id="17" name="Wake-only follow-up lasts 8 seconds. Normal o">
            <a:extLst xmlns:a="http://schemas.openxmlformats.org/drawingml/2006/main">
              <a:ext uri="{FF2B5EF4-FFF2-40B4-BE49-F238E27FC236}">
                <a16:creationId xmlns:a16="http://schemas.microsoft.com/office/drawing/2014/main" id="{FC2E2F61-95B0-4F27-B371-AFC42D28FABE}"/>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EC0CB"/>
                </a:solidFill>
                <a:latin typeface="Arial"/>
                <a:ea typeface="Arial"/>
                <a:cs typeface="Arial"/>
              </a:defRPr>
            </a:defPPr>
          </a:lstStyle>
          <a:p xmlns:a="http://schemas.openxmlformats.org/drawingml/2006/main">
            <a:pPr algn="l">
              <a:defRPr sz="1575" b="0">
                <a:solidFill>
                  <a:srgbClr val="AEC0CB"/>
                </a:solidFill>
                <a:latin typeface="Arial"/>
                <a:ea typeface="Arial"/>
                <a:cs typeface="Arial"/>
              </a:defRPr>
            </a:pPr>
            <a:r>
              <a:rPr sz="1575" b="0">
                <a:solidFill>
                  <a:srgbClr val="AEC0CB"/>
                </a:solidFill>
                <a:latin typeface="Arial"/>
                <a:ea typeface="Arial"/>
                <a:cs typeface="Arial"/>
              </a:rPr>
              <a:t>Wake-only follow-up lasts 8 seconds. Normal operation is sequential and half-duplex.</a:t>
            </a:r>
          </a:p>
        </p:txBody>
      </p:sp>
    </p:spTree>
    <p:extLst>
      <p:ext uri="{BB962C8B-B14F-4D97-AF65-F5344CB8AC3E}">
        <p14:creationId xmlns:p14="http://schemas.microsoft.com/office/powerpoint/2010/main" val="1091526737"/>
      </p:ext>
    </p:extLst>
  </p:cSld>
</p:sld>
</file>

<file path=ppt/slides/slide7.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1" name="NOVA">
            <a:extLst xmlns:a="http://schemas.openxmlformats.org/drawingml/2006/main">
              <a:ext uri="{FF2B5EF4-FFF2-40B4-BE49-F238E27FC236}">
                <a16:creationId xmlns:a16="http://schemas.microsoft.com/office/drawing/2014/main" id="{C4E1826F-D3D0-4D9A-A6E2-830424163050}"/>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7C65"/>
                </a:solidFill>
                <a:latin typeface="Arial"/>
                <a:ea typeface="Arial"/>
                <a:cs typeface="Arial"/>
              </a:defRPr>
            </a:defPPr>
          </a:lstStyle>
          <a:p xmlns:a="http://schemas.openxmlformats.org/drawingml/2006/main">
            <a:pPr algn="l">
              <a:defRPr sz="1425" b="1">
                <a:solidFill>
                  <a:srgbClr val="007C65"/>
                </a:solidFill>
                <a:latin typeface="Arial"/>
                <a:ea typeface="Arial"/>
                <a:cs typeface="Arial"/>
              </a:defRPr>
            </a:pPr>
            <a:r>
              <a:rPr sz="1425" b="1">
                <a:solidFill>
                  <a:srgbClr val="007C65"/>
                </a:solidFill>
                <a:latin typeface="Arial"/>
                <a:ea typeface="Arial"/>
                <a:cs typeface="Arial"/>
              </a:rPr>
              <a:t>NOVA</a:t>
            </a:r>
          </a:p>
        </p:txBody>
      </p:sp>
      <p:sp>
        <p:nvSpPr>
          <p:cNvPr id="2" name="07">
            <a:extLst xmlns:a="http://schemas.openxmlformats.org/drawingml/2006/main">
              <a:ext uri="{FF2B5EF4-FFF2-40B4-BE49-F238E27FC236}">
                <a16:creationId xmlns:a16="http://schemas.microsoft.com/office/drawing/2014/main" id="{B9831144-6489-45DB-AC97-410461775B20}"/>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976"/>
                </a:solidFill>
                <a:latin typeface="Arial"/>
                <a:ea typeface="Arial"/>
                <a:cs typeface="Arial"/>
              </a:defRPr>
            </a:defPPr>
          </a:lstStyle>
          <a:p xmlns:a="http://schemas.openxmlformats.org/drawingml/2006/main">
            <a:pPr algn="r">
              <a:defRPr sz="1350" b="0">
                <a:solidFill>
                  <a:srgbClr val="526976"/>
                </a:solidFill>
                <a:latin typeface="Arial"/>
                <a:ea typeface="Arial"/>
                <a:cs typeface="Arial"/>
              </a:defRPr>
            </a:pPr>
            <a:r>
              <a:rPr sz="1350" b="0">
                <a:solidFill>
                  <a:srgbClr val="526976"/>
                </a:solidFill>
                <a:latin typeface="Arial"/>
                <a:ea typeface="Arial"/>
                <a:cs typeface="Arial"/>
              </a:rPr>
              <a:t>07</a:t>
            </a:r>
          </a:p>
        </p:txBody>
      </p:sp>
      <p:sp>
        <p:nvSpPr>
          <p:cNvPr id="3" name="Memory with provenance">
            <a:extLst xmlns:a="http://schemas.openxmlformats.org/drawingml/2006/main">
              <a:ext uri="{FF2B5EF4-FFF2-40B4-BE49-F238E27FC236}">
                <a16:creationId xmlns:a16="http://schemas.microsoft.com/office/drawing/2014/main" id="{59FB75B4-0FC7-473C-BB41-981F1A738209}"/>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02C38"/>
                </a:solidFill>
                <a:latin typeface="Arial"/>
                <a:ea typeface="Arial"/>
                <a:cs typeface="Arial"/>
              </a:defRPr>
            </a:defPPr>
          </a:lstStyle>
          <a:p xmlns:a="http://schemas.openxmlformats.org/drawingml/2006/main">
            <a:pPr algn="l">
              <a:defRPr sz="4350" b="1">
                <a:solidFill>
                  <a:srgbClr val="102C38"/>
                </a:solidFill>
                <a:latin typeface="Arial"/>
                <a:ea typeface="Arial"/>
                <a:cs typeface="Arial"/>
              </a:defRPr>
            </a:pPr>
            <a:r>
              <a:rPr sz="4350" b="1">
                <a:solidFill>
                  <a:srgbClr val="102C38"/>
                </a:solidFill>
                <a:latin typeface="Arial"/>
                <a:ea typeface="Arial"/>
                <a:cs typeface="Arial"/>
              </a:rPr>
              <a:t>Memory with provenance</a:t>
            </a:r>
          </a:p>
        </p:txBody>
      </p:sp>
      <p:sp>
        <p:nvSpPr>
          <p:cNvPr id="4" name="Confirmed fact">
            <a:extLst xmlns:a="http://schemas.openxmlformats.org/drawingml/2006/main">
              <a:ext uri="{FF2B5EF4-FFF2-40B4-BE49-F238E27FC236}">
                <a16:creationId xmlns:a16="http://schemas.microsoft.com/office/drawing/2014/main" id="{BDDD50EB-D29C-41AA-9987-8053461CAACC}"/>
              </a:ext>
            </a:extLst>
          </p:cNvPr>
          <p:cNvSpPr>
            <a:spLocks xmlns:a="http://schemas.openxmlformats.org/drawingml/2006/main" noGrp="1"/>
          </p:cNvSpPr>
          <p:nvPr/>
        </p:nvSpPr>
        <p:spPr>
          <a:xfrm xmlns:a="http://schemas.openxmlformats.org/drawingml/2006/main">
            <a:off x="762000" y="26003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7C65"/>
                </a:solidFill>
                <a:latin typeface="Arial"/>
                <a:ea typeface="Arial"/>
                <a:cs typeface="Arial"/>
              </a:defRPr>
            </a:defPPr>
          </a:lstStyle>
          <a:p xmlns:a="http://schemas.openxmlformats.org/drawingml/2006/main">
            <a:pPr algn="l">
              <a:defRPr sz="2700" b="1">
                <a:solidFill>
                  <a:srgbClr val="007C65"/>
                </a:solidFill>
                <a:latin typeface="Arial"/>
                <a:ea typeface="Arial"/>
                <a:cs typeface="Arial"/>
              </a:defRPr>
            </a:pPr>
            <a:r>
              <a:rPr sz="2700" b="1">
                <a:solidFill>
                  <a:srgbClr val="007C65"/>
                </a:solidFill>
                <a:latin typeface="Arial"/>
                <a:ea typeface="Arial"/>
                <a:cs typeface="Arial"/>
              </a:rPr>
              <a:t>Confirmed fact</a:t>
            </a:r>
          </a:p>
        </p:txBody>
      </p:sp>
      <p:sp>
        <p:nvSpPr>
          <p:cNvPr id="5" name="“My favorite food&#10;is pizza.”">
            <a:extLst xmlns:a="http://schemas.openxmlformats.org/drawingml/2006/main">
              <a:ext uri="{FF2B5EF4-FFF2-40B4-BE49-F238E27FC236}">
                <a16:creationId xmlns:a16="http://schemas.microsoft.com/office/drawing/2014/main" id="{11A47500-17EF-4AFA-B15F-2357CE9E4FF7}"/>
              </a:ext>
            </a:extLst>
          </p:cNvPr>
          <p:cNvSpPr>
            <a:spLocks xmlns:a="http://schemas.openxmlformats.org/drawingml/2006/main" noGrp="1"/>
          </p:cNvSpPr>
          <p:nvPr/>
        </p:nvSpPr>
        <p:spPr>
          <a:xfrm xmlns:a="http://schemas.openxmlformats.org/drawingml/2006/main">
            <a:off x="762000" y="3590925"/>
            <a:ext cx="6667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02C38"/>
                </a:solidFill>
                <a:latin typeface="Arial"/>
                <a:ea typeface="Arial"/>
                <a:cs typeface="Arial"/>
              </a:defRPr>
            </a:defPPr>
          </a:lstStyle>
          <a:p xmlns:a="http://schemas.openxmlformats.org/drawingml/2006/main">
            <a:pPr algn="l">
              <a:defRPr sz="4650" b="1">
                <a:solidFill>
                  <a:srgbClr val="102C38"/>
                </a:solidFill>
                <a:latin typeface="Arial"/>
                <a:ea typeface="Arial"/>
                <a:cs typeface="Arial"/>
              </a:defRPr>
            </a:pPr>
            <a:r>
              <a:rPr sz="4650" b="1">
                <a:solidFill>
                  <a:srgbClr val="102C38"/>
                </a:solidFill>
                <a:latin typeface="Arial"/>
                <a:ea typeface="Arial"/>
                <a:cs typeface="Arial"/>
              </a:rPr>
              <a:t>“My favorite food</a:t>
            </a:r>
          </a:p>
          <a:p xmlns:a="http://schemas.openxmlformats.org/drawingml/2006/main">
            <a:pPr algn="l">
              <a:defRPr sz="4650" b="1">
                <a:solidFill>
                  <a:srgbClr val="102C38"/>
                </a:solidFill>
                <a:latin typeface="Arial"/>
                <a:ea typeface="Arial"/>
                <a:cs typeface="Arial"/>
              </a:defRPr>
            </a:pPr>
            <a:r>
              <a:rPr sz="4650" b="1">
                <a:solidFill>
                  <a:srgbClr val="102C38"/>
                </a:solidFill>
                <a:latin typeface="Arial"/>
                <a:ea typeface="Arial"/>
                <a:cs typeface="Arial"/>
              </a:rPr>
              <a:t>is pizza.”</a:t>
            </a:r>
          </a:p>
        </p:txBody>
      </p:sp>
      <p:sp>
        <p:nvSpPr>
          <p:cNvPr id="6" name="Explicit confirmation&#10;Persistent SQLite recor">
            <a:extLst xmlns:a="http://schemas.openxmlformats.org/drawingml/2006/main">
              <a:ext uri="{FF2B5EF4-FFF2-40B4-BE49-F238E27FC236}">
                <a16:creationId xmlns:a16="http://schemas.microsoft.com/office/drawing/2014/main" id="{5B053438-5CBA-466F-B760-B3C101F717A5}"/>
              </a:ext>
            </a:extLst>
          </p:cNvPr>
          <p:cNvSpPr>
            <a:spLocks xmlns:a="http://schemas.openxmlformats.org/drawingml/2006/main" noGrp="1"/>
          </p:cNvSpPr>
          <p:nvPr/>
        </p:nvSpPr>
        <p:spPr>
          <a:xfrm xmlns:a="http://schemas.openxmlformats.org/drawingml/2006/main">
            <a:off x="762000" y="5715000"/>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6"/>
                </a:solidFill>
                <a:latin typeface="Arial"/>
                <a:ea typeface="Arial"/>
                <a:cs typeface="Arial"/>
              </a:defRPr>
            </a:defPPr>
          </a:lstStyle>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Explicit confirmation</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Persistent SQLite record</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Priority during recall</a:t>
            </a:r>
          </a:p>
        </p:txBody>
      </p:sp>
      <p:sp>
        <p:nvSpPr>
          <p:cNvPr id="7" name="Passive observation">
            <a:extLst xmlns:a="http://schemas.openxmlformats.org/drawingml/2006/main">
              <a:ext uri="{FF2B5EF4-FFF2-40B4-BE49-F238E27FC236}">
                <a16:creationId xmlns:a16="http://schemas.microsoft.com/office/drawing/2014/main" id="{F7C20041-A6DE-467A-919C-6691CD8C1713}"/>
              </a:ext>
            </a:extLst>
          </p:cNvPr>
          <p:cNvSpPr>
            <a:spLocks xmlns:a="http://schemas.openxmlformats.org/drawingml/2006/main" noGrp="1"/>
          </p:cNvSpPr>
          <p:nvPr/>
        </p:nvSpPr>
        <p:spPr>
          <a:xfrm xmlns:a="http://schemas.openxmlformats.org/drawingml/2006/main">
            <a:off x="8524875" y="2600325"/>
            <a:ext cx="595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02C38"/>
                </a:solidFill>
                <a:latin typeface="Arial"/>
                <a:ea typeface="Arial"/>
                <a:cs typeface="Arial"/>
              </a:defRPr>
            </a:defPPr>
          </a:lstStyle>
          <a:p xmlns:a="http://schemas.openxmlformats.org/drawingml/2006/main">
            <a:pPr algn="l">
              <a:defRPr sz="2700" b="1">
                <a:solidFill>
                  <a:srgbClr val="102C38"/>
                </a:solidFill>
                <a:latin typeface="Arial"/>
                <a:ea typeface="Arial"/>
                <a:cs typeface="Arial"/>
              </a:defRPr>
            </a:pPr>
            <a:r>
              <a:rPr sz="2700" b="1">
                <a:solidFill>
                  <a:srgbClr val="102C38"/>
                </a:solidFill>
                <a:latin typeface="Arial"/>
                <a:ea typeface="Arial"/>
                <a:cs typeface="Arial"/>
              </a:rPr>
              <a:t>Passive observation</a:t>
            </a:r>
          </a:p>
        </p:txBody>
      </p:sp>
      <p:sp>
        <p:nvSpPr>
          <p:cNvPr id="8" name="“Someone mentioned&#10;a dentist visit.”">
            <a:extLst xmlns:a="http://schemas.openxmlformats.org/drawingml/2006/main">
              <a:ext uri="{FF2B5EF4-FFF2-40B4-BE49-F238E27FC236}">
                <a16:creationId xmlns:a16="http://schemas.microsoft.com/office/drawing/2014/main" id="{07521BC9-7C54-4BC7-82AA-E45EDAD7FF33}"/>
              </a:ext>
            </a:extLst>
          </p:cNvPr>
          <p:cNvSpPr>
            <a:spLocks xmlns:a="http://schemas.openxmlformats.org/drawingml/2006/main" noGrp="1"/>
          </p:cNvSpPr>
          <p:nvPr/>
        </p:nvSpPr>
        <p:spPr>
          <a:xfrm xmlns:a="http://schemas.openxmlformats.org/drawingml/2006/main">
            <a:off x="8524875" y="3714750"/>
            <a:ext cx="5953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02C38"/>
                </a:solidFill>
                <a:latin typeface="Arial"/>
                <a:ea typeface="Arial"/>
                <a:cs typeface="Arial"/>
              </a:defRPr>
            </a:defPPr>
          </a:lstStyle>
          <a:p xmlns:a="http://schemas.openxmlformats.org/drawingml/2006/main">
            <a:pPr algn="l">
              <a:defRPr sz="3225" b="0">
                <a:solidFill>
                  <a:srgbClr val="102C38"/>
                </a:solidFill>
                <a:latin typeface="Arial"/>
                <a:ea typeface="Arial"/>
                <a:cs typeface="Arial"/>
              </a:defRPr>
            </a:pPr>
            <a:r>
              <a:rPr sz="3225" b="0">
                <a:solidFill>
                  <a:srgbClr val="102C38"/>
                </a:solidFill>
                <a:latin typeface="Arial"/>
                <a:ea typeface="Arial"/>
                <a:cs typeface="Arial"/>
              </a:rPr>
              <a:t>“Someone mentioned</a:t>
            </a:r>
          </a:p>
          <a:p xmlns:a="http://schemas.openxmlformats.org/drawingml/2006/main">
            <a:pPr algn="l">
              <a:defRPr sz="3225" b="0">
                <a:solidFill>
                  <a:srgbClr val="102C38"/>
                </a:solidFill>
                <a:latin typeface="Arial"/>
                <a:ea typeface="Arial"/>
                <a:cs typeface="Arial"/>
              </a:defRPr>
            </a:pPr>
            <a:r>
              <a:rPr sz="3225" b="0">
                <a:solidFill>
                  <a:srgbClr val="102C38"/>
                </a:solidFill>
                <a:latin typeface="Arial"/>
                <a:ea typeface="Arial"/>
                <a:cs typeface="Arial"/>
              </a:rPr>
              <a:t>a dentist visit.”</a:t>
            </a:r>
          </a:p>
        </p:txBody>
      </p:sp>
      <p:sp>
        <p:nvSpPr>
          <p:cNvPr id="9" name="Optional collection&#10;Evidence and timestamps&#10;U">
            <a:extLst xmlns:a="http://schemas.openxmlformats.org/drawingml/2006/main">
              <a:ext uri="{FF2B5EF4-FFF2-40B4-BE49-F238E27FC236}">
                <a16:creationId xmlns:a16="http://schemas.microsoft.com/office/drawing/2014/main" id="{1BD48423-8A77-41F4-8075-2B4ABAD1A6BC}"/>
              </a:ext>
            </a:extLst>
          </p:cNvPr>
          <p:cNvSpPr>
            <a:spLocks xmlns:a="http://schemas.openxmlformats.org/drawingml/2006/main" noGrp="1"/>
          </p:cNvSpPr>
          <p:nvPr/>
        </p:nvSpPr>
        <p:spPr>
          <a:xfrm xmlns:a="http://schemas.openxmlformats.org/drawingml/2006/main">
            <a:off x="8524875" y="5715000"/>
            <a:ext cx="571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6"/>
                </a:solidFill>
                <a:latin typeface="Arial"/>
                <a:ea typeface="Arial"/>
                <a:cs typeface="Arial"/>
              </a:defRPr>
            </a:defPPr>
          </a:lstStyle>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Optional collection</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Evidence and timestamps</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Unidentified speaker</a:t>
            </a:r>
          </a:p>
        </p:txBody>
      </p:sp>
      <p:sp>
        <p:nvSpPr>
          <p:cNvPr id="10" name="Synthetic examples / grounded recall / scoped">
            <a:extLst xmlns:a="http://schemas.openxmlformats.org/drawingml/2006/main">
              <a:ext uri="{FF2B5EF4-FFF2-40B4-BE49-F238E27FC236}">
                <a16:creationId xmlns:a16="http://schemas.microsoft.com/office/drawing/2014/main" id="{E5FF7B30-3D41-4372-831B-B0F9AF6E53D2}"/>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6"/>
                </a:solidFill>
                <a:latin typeface="Arial"/>
                <a:ea typeface="Arial"/>
                <a:cs typeface="Arial"/>
              </a:defRPr>
            </a:defPPr>
          </a:lstStyle>
          <a:p xmlns:a="http://schemas.openxmlformats.org/drawingml/2006/main">
            <a:pPr algn="l">
              <a:defRPr sz="1575" b="0">
                <a:solidFill>
                  <a:srgbClr val="526976"/>
                </a:solidFill>
                <a:latin typeface="Arial"/>
                <a:ea typeface="Arial"/>
                <a:cs typeface="Arial"/>
              </a:defRPr>
            </a:pPr>
            <a:r>
              <a:rPr sz="1575" b="0">
                <a:solidFill>
                  <a:srgbClr val="526976"/>
                </a:solidFill>
                <a:latin typeface="Arial"/>
                <a:ea typeface="Arial"/>
                <a:cs typeface="Arial"/>
              </a:rPr>
              <a:t>Synthetic examples / grounded recall / scoped corrections and deletions</a:t>
            </a:r>
          </a:p>
        </p:txBody>
      </p:sp>
    </p:spTree>
    <p:extLst>
      <p:ext uri="{BB962C8B-B14F-4D97-AF65-F5344CB8AC3E}">
        <p14:creationId xmlns:p14="http://schemas.microsoft.com/office/powerpoint/2010/main" val="1596067616"/>
      </p:ext>
    </p:extLst>
  </p:cSld>
</p:sld>
</file>

<file path=ppt/slides/slide8.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15" name="NOVA">
            <a:extLst xmlns:a="http://schemas.openxmlformats.org/drawingml/2006/main">
              <a:ext uri="{FF2B5EF4-FFF2-40B4-BE49-F238E27FC236}">
                <a16:creationId xmlns:a16="http://schemas.microsoft.com/office/drawing/2014/main" id="{D5A08D3E-F891-4021-AFCE-FD0B3D399686}"/>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9BF2C7"/>
                </a:solidFill>
                <a:latin typeface="Arial"/>
                <a:ea typeface="Arial"/>
                <a:cs typeface="Arial"/>
              </a:defRPr>
            </a:defPPr>
          </a:lstStyle>
          <a:p xmlns:a="http://schemas.openxmlformats.org/drawingml/2006/main">
            <a:pPr algn="l">
              <a:defRPr sz="1425" b="1">
                <a:solidFill>
                  <a:srgbClr val="9BF2C7"/>
                </a:solidFill>
                <a:latin typeface="Arial"/>
                <a:ea typeface="Arial"/>
                <a:cs typeface="Arial"/>
              </a:defRPr>
            </a:pPr>
            <a:r>
              <a:rPr sz="1425" b="1">
                <a:solidFill>
                  <a:srgbClr val="9BF2C7"/>
                </a:solidFill>
                <a:latin typeface="Arial"/>
                <a:ea typeface="Arial"/>
                <a:cs typeface="Arial"/>
              </a:rPr>
              <a:t>NOVA</a:t>
            </a:r>
          </a:p>
        </p:txBody>
      </p:sp>
      <p:sp>
        <p:nvSpPr>
          <p:cNvPr id="2" name="08">
            <a:extLst xmlns:a="http://schemas.openxmlformats.org/drawingml/2006/main">
              <a:ext uri="{FF2B5EF4-FFF2-40B4-BE49-F238E27FC236}">
                <a16:creationId xmlns:a16="http://schemas.microsoft.com/office/drawing/2014/main" id="{198749B0-F149-44A6-AAAB-4F685BA20C79}"/>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B"/>
                </a:solidFill>
                <a:latin typeface="Arial"/>
                <a:ea typeface="Arial"/>
                <a:cs typeface="Arial"/>
              </a:defRPr>
            </a:defPPr>
          </a:lstStyle>
          <a:p xmlns:a="http://schemas.openxmlformats.org/drawingml/2006/main">
            <a:pPr algn="r">
              <a:defRPr sz="1350" b="0">
                <a:solidFill>
                  <a:srgbClr val="AEC0CB"/>
                </a:solidFill>
                <a:latin typeface="Arial"/>
                <a:ea typeface="Arial"/>
                <a:cs typeface="Arial"/>
              </a:defRPr>
            </a:pPr>
            <a:r>
              <a:rPr sz="1350" b="0">
                <a:solidFill>
                  <a:srgbClr val="AEC0CB"/>
                </a:solidFill>
                <a:latin typeface="Arial"/>
                <a:ea typeface="Arial"/>
                <a:cs typeface="Arial"/>
              </a:rPr>
              <a:t>08</a:t>
            </a:r>
          </a:p>
        </p:txBody>
      </p:sp>
      <p:sp>
        <p:nvSpPr>
          <p:cNvPr id="3" name="Visible hardware controls">
            <a:extLst xmlns:a="http://schemas.openxmlformats.org/drawingml/2006/main">
              <a:ext uri="{FF2B5EF4-FFF2-40B4-BE49-F238E27FC236}">
                <a16:creationId xmlns:a16="http://schemas.microsoft.com/office/drawing/2014/main" id="{3CF2A023-4733-4ED3-8B14-3B1B6D5F025F}"/>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5F4EE"/>
                </a:solidFill>
                <a:latin typeface="Arial"/>
                <a:ea typeface="Arial"/>
                <a:cs typeface="Arial"/>
              </a:defRPr>
            </a:defPPr>
          </a:lstStyle>
          <a:p xmlns:a="http://schemas.openxmlformats.org/drawingml/2006/main">
            <a:pPr algn="l">
              <a:defRPr sz="4350" b="1">
                <a:solidFill>
                  <a:srgbClr val="F5F4EE"/>
                </a:solidFill>
                <a:latin typeface="Arial"/>
                <a:ea typeface="Arial"/>
                <a:cs typeface="Arial"/>
              </a:defRPr>
            </a:pPr>
            <a:r>
              <a:rPr sz="4350" b="1">
                <a:solidFill>
                  <a:srgbClr val="F5F4EE"/>
                </a:solidFill>
                <a:latin typeface="Arial"/>
                <a:ea typeface="Arial"/>
                <a:cs typeface="Arial"/>
              </a:rPr>
              <a:t>Visible hardware controls</a:t>
            </a:r>
          </a:p>
        </p:txBody>
      </p:sp>
      <p:sp>
        <p:nvSpPr>
          <p:cNvPr id="4" name="Raspberry Pi 5">
            <a:extLst xmlns:a="http://schemas.openxmlformats.org/drawingml/2006/main">
              <a:ext uri="{FF2B5EF4-FFF2-40B4-BE49-F238E27FC236}">
                <a16:creationId xmlns:a16="http://schemas.microsoft.com/office/drawing/2014/main" id="{CD637499-F450-4786-8265-CE40AB6B9B44}"/>
              </a:ext>
            </a:extLst>
          </p:cNvPr>
          <p:cNvSpPr>
            <a:spLocks xmlns:a="http://schemas.openxmlformats.org/drawingml/2006/main" noGrp="1"/>
          </p:cNvSpPr>
          <p:nvPr/>
        </p:nvSpPr>
        <p:spPr>
          <a:xfrm xmlns:a="http://schemas.openxmlformats.org/drawingml/2006/main">
            <a:off x="762000" y="2343150"/>
            <a:ext cx="9334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F5F4EE"/>
                </a:solidFill>
                <a:latin typeface="Arial"/>
                <a:ea typeface="Arial"/>
                <a:cs typeface="Arial"/>
              </a:defRPr>
            </a:defPPr>
          </a:lstStyle>
          <a:p xmlns:a="http://schemas.openxmlformats.org/drawingml/2006/main">
            <a:pPr algn="l">
              <a:defRPr sz="5175" b="1">
                <a:solidFill>
                  <a:srgbClr val="F5F4EE"/>
                </a:solidFill>
                <a:latin typeface="Arial"/>
                <a:ea typeface="Arial"/>
                <a:cs typeface="Arial"/>
              </a:defRPr>
            </a:pPr>
            <a:r>
              <a:rPr sz="5175" b="1">
                <a:solidFill>
                  <a:srgbClr val="F5F4EE"/>
                </a:solidFill>
                <a:latin typeface="Arial"/>
                <a:ea typeface="Arial"/>
                <a:cs typeface="Arial"/>
              </a:rPr>
              <a:t>Raspberry Pi 5</a:t>
            </a:r>
          </a:p>
        </p:txBody>
      </p:sp>
      <p:sp>
        <p:nvSpPr>
          <p:cNvPr id="5" name="Linux ARM64 deployment target">
            <a:extLst xmlns:a="http://schemas.openxmlformats.org/drawingml/2006/main">
              <a:ext uri="{FF2B5EF4-FFF2-40B4-BE49-F238E27FC236}">
                <a16:creationId xmlns:a16="http://schemas.microsoft.com/office/drawing/2014/main" id="{9EAF5576-FCB7-40D2-B568-2CD9A982F0FF}"/>
              </a:ext>
            </a:extLst>
          </p:cNvPr>
          <p:cNvSpPr>
            <a:spLocks xmlns:a="http://schemas.openxmlformats.org/drawingml/2006/main" noGrp="1"/>
          </p:cNvSpPr>
          <p:nvPr/>
        </p:nvSpPr>
        <p:spPr>
          <a:xfrm xmlns:a="http://schemas.openxmlformats.org/drawingml/2006/main">
            <a:off x="762000" y="3324225"/>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AEC0CB"/>
                </a:solidFill>
                <a:latin typeface="Arial"/>
                <a:ea typeface="Arial"/>
                <a:cs typeface="Arial"/>
              </a:defRPr>
            </a:defPPr>
          </a:lstStyle>
          <a:p xmlns:a="http://schemas.openxmlformats.org/drawingml/2006/main">
            <a:pPr algn="l">
              <a:defRPr sz="2550" b="0">
                <a:solidFill>
                  <a:srgbClr val="AEC0CB"/>
                </a:solidFill>
                <a:latin typeface="Arial"/>
                <a:ea typeface="Arial"/>
                <a:cs typeface="Arial"/>
              </a:defRPr>
            </a:pPr>
            <a:r>
              <a:rPr sz="2550" b="0">
                <a:solidFill>
                  <a:srgbClr val="AEC0CB"/>
                </a:solidFill>
                <a:latin typeface="Arial"/>
                <a:ea typeface="Arial"/>
                <a:cs typeface="Arial"/>
              </a:rPr>
              <a:t>Linux ARM64 deployment target</a:t>
            </a:r>
          </a:p>
        </p:txBody>
      </p:sp>
      <p:sp>
        <p:nvSpPr>
          <p:cNvPr id="6" name="Muted LED state">
            <a:extLst xmlns:a="http://schemas.openxmlformats.org/drawingml/2006/main">
              <a:ext uri="{FF2B5EF4-FFF2-40B4-BE49-F238E27FC236}">
                <a16:creationId xmlns:a16="http://schemas.microsoft.com/office/drawing/2014/main" id="{C994AC52-06A1-45A4-862C-1A88E3BCF229}"/>
              </a:ext>
            </a:extLst>
          </p:cNvPr>
          <p:cNvSpPr>
            <a:spLocks xmlns:a="http://schemas.openxmlformats.org/drawingml/2006/main" noGrp="1"/>
          </p:cNvSpPr>
          <p:nvPr/>
        </p:nvSpPr>
        <p:spPr>
          <a:xfrm xmlns:a="http://schemas.openxmlformats.org/drawingml/2006/main">
            <a:off x="809625" y="4391025"/>
            <a:ext cx="323850" cy="323850"/>
          </a:xfrm>
          <a:prstGeom xmlns:a="http://schemas.openxmlformats.org/drawingml/2006/main" prst="ellipse">
            <a:avLst/>
          </a:prstGeom>
          <a:solidFill xmlns:a="http://schemas.openxmlformats.org/drawingml/2006/main">
            <a:srgbClr val="ED8C97"/>
          </a:solidFill>
          <a:ln xmlns:a="http://schemas.openxmlformats.org/drawingml/2006/main" w="0">
            <a:noFill/>
          </a:ln>
        </p:spPr>
      </p:sp>
      <p:sp>
        <p:nvSpPr>
          <p:cNvPr id="7" name="Muted">
            <a:extLst xmlns:a="http://schemas.openxmlformats.org/drawingml/2006/main">
              <a:ext uri="{FF2B5EF4-FFF2-40B4-BE49-F238E27FC236}">
                <a16:creationId xmlns:a16="http://schemas.microsoft.com/office/drawing/2014/main" id="{A7486257-8543-4DC6-95F4-30C5382E73DE}"/>
              </a:ext>
            </a:extLst>
          </p:cNvPr>
          <p:cNvSpPr>
            <a:spLocks xmlns:a="http://schemas.openxmlformats.org/drawingml/2006/main" noGrp="1"/>
          </p:cNvSpPr>
          <p:nvPr/>
        </p:nvSpPr>
        <p:spPr>
          <a:xfrm xmlns:a="http://schemas.openxmlformats.org/drawingml/2006/main">
            <a:off x="1476375" y="4352925"/>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ED8C97"/>
                </a:solidFill>
                <a:latin typeface="Arial"/>
                <a:ea typeface="Arial"/>
                <a:cs typeface="Arial"/>
              </a:defRPr>
            </a:defPPr>
          </a:lstStyle>
          <a:p xmlns:a="http://schemas.openxmlformats.org/drawingml/2006/main">
            <a:pPr algn="l">
              <a:defRPr sz="2700" b="1">
                <a:solidFill>
                  <a:srgbClr val="ED8C97"/>
                </a:solidFill>
                <a:latin typeface="Arial"/>
                <a:ea typeface="Arial"/>
                <a:cs typeface="Arial"/>
              </a:defRPr>
            </a:pPr>
            <a:r>
              <a:rPr sz="2700" b="1">
                <a:solidFill>
                  <a:srgbClr val="ED8C97"/>
                </a:solidFill>
                <a:latin typeface="Arial"/>
                <a:ea typeface="Arial"/>
                <a:cs typeface="Arial"/>
              </a:rPr>
              <a:t>Muted</a:t>
            </a:r>
          </a:p>
        </p:txBody>
      </p:sp>
      <p:sp>
        <p:nvSpPr>
          <p:cNvPr id="8" name="Listening LED state">
            <a:extLst xmlns:a="http://schemas.openxmlformats.org/drawingml/2006/main">
              <a:ext uri="{FF2B5EF4-FFF2-40B4-BE49-F238E27FC236}">
                <a16:creationId xmlns:a16="http://schemas.microsoft.com/office/drawing/2014/main" id="{8830672F-7D05-48CC-A96B-E4F9B8421C27}"/>
              </a:ext>
            </a:extLst>
          </p:cNvPr>
          <p:cNvSpPr>
            <a:spLocks xmlns:a="http://schemas.openxmlformats.org/drawingml/2006/main" noGrp="1"/>
          </p:cNvSpPr>
          <p:nvPr/>
        </p:nvSpPr>
        <p:spPr>
          <a:xfrm xmlns:a="http://schemas.openxmlformats.org/drawingml/2006/main">
            <a:off x="809625" y="5400675"/>
            <a:ext cx="323850" cy="323850"/>
          </a:xfrm>
          <a:prstGeom xmlns:a="http://schemas.openxmlformats.org/drawingml/2006/main" prst="ellipse">
            <a:avLst/>
          </a:prstGeom>
          <a:solidFill xmlns:a="http://schemas.openxmlformats.org/drawingml/2006/main">
            <a:srgbClr val="9BF2C7"/>
          </a:solidFill>
          <a:ln xmlns:a="http://schemas.openxmlformats.org/drawingml/2006/main" w="0">
            <a:noFill/>
          </a:ln>
        </p:spPr>
      </p:sp>
      <p:sp>
        <p:nvSpPr>
          <p:cNvPr id="9" name="Listening">
            <a:extLst xmlns:a="http://schemas.openxmlformats.org/drawingml/2006/main">
              <a:ext uri="{FF2B5EF4-FFF2-40B4-BE49-F238E27FC236}">
                <a16:creationId xmlns:a16="http://schemas.microsoft.com/office/drawing/2014/main" id="{78B37038-47C2-4EEB-B5FB-904CB0EF70EB}"/>
              </a:ext>
            </a:extLst>
          </p:cNvPr>
          <p:cNvSpPr>
            <a:spLocks xmlns:a="http://schemas.openxmlformats.org/drawingml/2006/main" noGrp="1"/>
          </p:cNvSpPr>
          <p:nvPr/>
        </p:nvSpPr>
        <p:spPr>
          <a:xfrm xmlns:a="http://schemas.openxmlformats.org/drawingml/2006/main">
            <a:off x="1476375" y="5362575"/>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9BF2C7"/>
                </a:solidFill>
                <a:latin typeface="Arial"/>
                <a:ea typeface="Arial"/>
                <a:cs typeface="Arial"/>
              </a:defRPr>
            </a:defPPr>
          </a:lstStyle>
          <a:p xmlns:a="http://schemas.openxmlformats.org/drawingml/2006/main">
            <a:pPr algn="l">
              <a:defRPr sz="2700" b="1">
                <a:solidFill>
                  <a:srgbClr val="9BF2C7"/>
                </a:solidFill>
                <a:latin typeface="Arial"/>
                <a:ea typeface="Arial"/>
                <a:cs typeface="Arial"/>
              </a:defRPr>
            </a:pPr>
            <a:r>
              <a:rPr sz="2700" b="1">
                <a:solidFill>
                  <a:srgbClr val="9BF2C7"/>
                </a:solidFill>
                <a:latin typeface="Arial"/>
                <a:ea typeface="Arial"/>
                <a:cs typeface="Arial"/>
              </a:rPr>
              <a:t>Listening</a:t>
            </a:r>
          </a:p>
        </p:txBody>
      </p:sp>
      <p:sp>
        <p:nvSpPr>
          <p:cNvPr id="10" name="Processing / speaking LED state">
            <a:extLst xmlns:a="http://schemas.openxmlformats.org/drawingml/2006/main">
              <a:ext uri="{FF2B5EF4-FFF2-40B4-BE49-F238E27FC236}">
                <a16:creationId xmlns:a16="http://schemas.microsoft.com/office/drawing/2014/main" id="{D71D3CD8-1100-41D9-A117-D0FBAF5CB0DD}"/>
              </a:ext>
            </a:extLst>
          </p:cNvPr>
          <p:cNvSpPr>
            <a:spLocks xmlns:a="http://schemas.openxmlformats.org/drawingml/2006/main" noGrp="1"/>
          </p:cNvSpPr>
          <p:nvPr/>
        </p:nvSpPr>
        <p:spPr>
          <a:xfrm xmlns:a="http://schemas.openxmlformats.org/drawingml/2006/main">
            <a:off x="809625" y="6410325"/>
            <a:ext cx="323850" cy="323850"/>
          </a:xfrm>
          <a:prstGeom xmlns:a="http://schemas.openxmlformats.org/drawingml/2006/main" prst="ellipse">
            <a:avLst/>
          </a:prstGeom>
          <a:solidFill xmlns:a="http://schemas.openxmlformats.org/drawingml/2006/main">
            <a:srgbClr val="85BCF2"/>
          </a:solidFill>
          <a:ln xmlns:a="http://schemas.openxmlformats.org/drawingml/2006/main" w="0">
            <a:noFill/>
          </a:ln>
        </p:spPr>
      </p:sp>
      <p:sp>
        <p:nvSpPr>
          <p:cNvPr id="11" name="Processing / speaking">
            <a:extLst xmlns:a="http://schemas.openxmlformats.org/drawingml/2006/main">
              <a:ext uri="{FF2B5EF4-FFF2-40B4-BE49-F238E27FC236}">
                <a16:creationId xmlns:a16="http://schemas.microsoft.com/office/drawing/2014/main" id="{A683FF71-1C92-4E41-A73C-1A3895420DED}"/>
              </a:ext>
            </a:extLst>
          </p:cNvPr>
          <p:cNvSpPr>
            <a:spLocks xmlns:a="http://schemas.openxmlformats.org/drawingml/2006/main" noGrp="1"/>
          </p:cNvSpPr>
          <p:nvPr/>
        </p:nvSpPr>
        <p:spPr>
          <a:xfrm xmlns:a="http://schemas.openxmlformats.org/drawingml/2006/main">
            <a:off x="1476375" y="6372225"/>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5BCF2"/>
                </a:solidFill>
                <a:latin typeface="Arial"/>
                <a:ea typeface="Arial"/>
                <a:cs typeface="Arial"/>
              </a:defRPr>
            </a:defPPr>
          </a:lstStyle>
          <a:p xmlns:a="http://schemas.openxmlformats.org/drawingml/2006/main">
            <a:pPr algn="l">
              <a:defRPr sz="2700" b="1">
                <a:solidFill>
                  <a:srgbClr val="85BCF2"/>
                </a:solidFill>
                <a:latin typeface="Arial"/>
                <a:ea typeface="Arial"/>
                <a:cs typeface="Arial"/>
              </a:defRPr>
            </a:pPr>
            <a:r>
              <a:rPr sz="2700" b="1">
                <a:solidFill>
                  <a:srgbClr val="85BCF2"/>
                </a:solidFill>
                <a:latin typeface="Arial"/>
                <a:ea typeface="Arial"/>
                <a:cs typeface="Arial"/>
              </a:rPr>
              <a:t>Processing / speaking</a:t>
            </a:r>
          </a:p>
        </p:txBody>
      </p:sp>
      <p:sp>
        <p:nvSpPr>
          <p:cNvPr id="12" name="GPIO implementation">
            <a:extLst xmlns:a="http://schemas.openxmlformats.org/drawingml/2006/main">
              <a:ext uri="{FF2B5EF4-FFF2-40B4-BE49-F238E27FC236}">
                <a16:creationId xmlns:a16="http://schemas.microsoft.com/office/drawing/2014/main" id="{003D1003-3BD1-4953-9B78-9C859E24E29B}"/>
              </a:ext>
            </a:extLst>
          </p:cNvPr>
          <p:cNvSpPr>
            <a:spLocks xmlns:a="http://schemas.openxmlformats.org/drawingml/2006/main" noGrp="1"/>
          </p:cNvSpPr>
          <p:nvPr/>
        </p:nvSpPr>
        <p:spPr>
          <a:xfrm xmlns:a="http://schemas.openxmlformats.org/drawingml/2006/main">
            <a:off x="10096500" y="24479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9BF2C7"/>
                </a:solidFill>
                <a:latin typeface="Arial"/>
                <a:ea typeface="Arial"/>
                <a:cs typeface="Arial"/>
              </a:defRPr>
            </a:defPPr>
          </a:lstStyle>
          <a:p xmlns:a="http://schemas.openxmlformats.org/drawingml/2006/main">
            <a:pPr algn="l">
              <a:defRPr sz="2250" b="1">
                <a:solidFill>
                  <a:srgbClr val="9BF2C7"/>
                </a:solidFill>
                <a:latin typeface="Arial"/>
                <a:ea typeface="Arial"/>
                <a:cs typeface="Arial"/>
              </a:defRPr>
            </a:pPr>
            <a:r>
              <a:rPr sz="2250" b="1">
                <a:solidFill>
                  <a:srgbClr val="9BF2C7"/>
                </a:solidFill>
                <a:latin typeface="Arial"/>
                <a:ea typeface="Arial"/>
                <a:cs typeface="Arial"/>
              </a:rPr>
              <a:t>GPIO implementation</a:t>
            </a:r>
          </a:p>
        </p:txBody>
      </p:sp>
      <p:sp>
        <p:nvSpPr>
          <p:cNvPr id="13" name="RGB: BCM 17 / 27 / 22&#10;Switch: BCM 23&#10;&#10;Restart">
            <a:extLst xmlns:a="http://schemas.openxmlformats.org/drawingml/2006/main">
              <a:ext uri="{FF2B5EF4-FFF2-40B4-BE49-F238E27FC236}">
                <a16:creationId xmlns:a16="http://schemas.microsoft.com/office/drawing/2014/main" id="{75E6EC52-32D8-4132-902E-151740BA6F94}"/>
              </a:ext>
            </a:extLst>
          </p:cNvPr>
          <p:cNvSpPr>
            <a:spLocks xmlns:a="http://schemas.openxmlformats.org/drawingml/2006/main" noGrp="1"/>
          </p:cNvSpPr>
          <p:nvPr/>
        </p:nvSpPr>
        <p:spPr>
          <a:xfrm xmlns:a="http://schemas.openxmlformats.org/drawingml/2006/main">
            <a:off x="10096500" y="3209925"/>
            <a:ext cx="4476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4EE"/>
                </a:solidFill>
                <a:latin typeface="Arial"/>
                <a:ea typeface="Arial"/>
                <a:cs typeface="Arial"/>
              </a:defRPr>
            </a:defPPr>
          </a:lstStyle>
          <a:p xmlns:a="http://schemas.openxmlformats.org/drawingml/2006/main">
            <a:pPr algn="l">
              <a:defRPr sz="2100" b="0">
                <a:solidFill>
                  <a:srgbClr val="F5F4EE"/>
                </a:solidFill>
                <a:latin typeface="Arial"/>
                <a:ea typeface="Arial"/>
                <a:cs typeface="Arial"/>
              </a:defRPr>
            </a:pPr>
            <a:r>
              <a:rPr sz="2100" b="0">
                <a:solidFill>
                  <a:srgbClr val="F5F4EE"/>
                </a:solidFill>
                <a:latin typeface="Arial"/>
                <a:ea typeface="Arial"/>
                <a:cs typeface="Arial"/>
              </a:rPr>
              <a:t>RGB: BCM 17 / 27 / 22</a:t>
            </a:r>
          </a:p>
          <a:p xmlns:a="http://schemas.openxmlformats.org/drawingml/2006/main">
            <a:pPr algn="l">
              <a:defRPr sz="2100" b="0">
                <a:solidFill>
                  <a:srgbClr val="F5F4EE"/>
                </a:solidFill>
                <a:latin typeface="Arial"/>
                <a:ea typeface="Arial"/>
                <a:cs typeface="Arial"/>
              </a:defRPr>
            </a:pPr>
            <a:r>
              <a:rPr sz="2100" b="0">
                <a:solidFill>
                  <a:srgbClr val="F5F4EE"/>
                </a:solidFill>
                <a:latin typeface="Arial"/>
                <a:ea typeface="Arial"/>
                <a:cs typeface="Arial"/>
              </a:rPr>
              <a:t>Switch: BCM 23</a:t>
            </a:r>
          </a:p>
          <a:p xmlns:a="http://schemas.openxmlformats.org/drawingml/2006/main">
            <a:r>
              <a:t/>
            </a:r>
          </a:p>
          <a:p xmlns:a="http://schemas.openxmlformats.org/drawingml/2006/main">
            <a:pPr algn="l">
              <a:defRPr sz="2100" b="0">
                <a:solidFill>
                  <a:srgbClr val="F5F4EE"/>
                </a:solidFill>
                <a:latin typeface="Arial"/>
                <a:ea typeface="Arial"/>
                <a:cs typeface="Arial"/>
              </a:defRPr>
            </a:pPr>
            <a:r>
              <a:rPr sz="2100" b="0">
                <a:solidFill>
                  <a:srgbClr val="F5F4EE"/>
                </a:solidFill>
                <a:latin typeface="Arial"/>
                <a:ea typeface="Arial"/>
                <a:cs typeface="Arial"/>
              </a:rPr>
              <a:t>Restart begins muted</a:t>
            </a:r>
          </a:p>
          <a:p xmlns:a="http://schemas.openxmlformats.org/drawingml/2006/main">
            <a:pPr algn="l">
              <a:defRPr sz="2100" b="0">
                <a:solidFill>
                  <a:srgbClr val="F5F4EE"/>
                </a:solidFill>
                <a:latin typeface="Arial"/>
                <a:ea typeface="Arial"/>
                <a:cs typeface="Arial"/>
              </a:defRPr>
            </a:pPr>
            <a:r>
              <a:rPr sz="2100" b="0">
                <a:solidFill>
                  <a:srgbClr val="F5F4EE"/>
                </a:solidFill>
                <a:latin typeface="Arial"/>
                <a:ea typeface="Arial"/>
                <a:cs typeface="Arial"/>
              </a:rPr>
              <a:t>GPIO faults latch mute</a:t>
            </a:r>
          </a:p>
          <a:p xmlns:a="http://schemas.openxmlformats.org/drawingml/2006/main">
            <a:pPr algn="l">
              <a:defRPr sz="2100" b="0">
                <a:solidFill>
                  <a:srgbClr val="F5F4EE"/>
                </a:solidFill>
                <a:latin typeface="Arial"/>
                <a:ea typeface="Arial"/>
                <a:cs typeface="Arial"/>
              </a:defRPr>
            </a:pPr>
            <a:r>
              <a:rPr sz="2100" b="0">
                <a:solidFill>
                  <a:srgbClr val="F5F4EE"/>
                </a:solidFill>
                <a:latin typeface="Arial"/>
                <a:ea typeface="Arial"/>
                <a:cs typeface="Arial"/>
              </a:rPr>
              <a:t>Non-root systemd service</a:t>
            </a:r>
          </a:p>
        </p:txBody>
      </p:sp>
      <p:sp>
        <p:nvSpPr>
          <p:cNvPr id="14" name="Physical Pi validation is pending. The switch">
            <a:extLst xmlns:a="http://schemas.openxmlformats.org/drawingml/2006/main">
              <a:ext uri="{FF2B5EF4-FFF2-40B4-BE49-F238E27FC236}">
                <a16:creationId xmlns:a16="http://schemas.microsoft.com/office/drawing/2014/main" id="{A9AEB39C-DEEA-4212-ABB4-A6AF27A81EC0}"/>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EC0CB"/>
                </a:solidFill>
                <a:latin typeface="Arial"/>
                <a:ea typeface="Arial"/>
                <a:cs typeface="Arial"/>
              </a:defRPr>
            </a:defPPr>
          </a:lstStyle>
          <a:p xmlns:a="http://schemas.openxmlformats.org/drawingml/2006/main">
            <a:pPr algn="l">
              <a:defRPr sz="1575" b="0">
                <a:solidFill>
                  <a:srgbClr val="AEC0CB"/>
                </a:solidFill>
                <a:latin typeface="Arial"/>
                <a:ea typeface="Arial"/>
                <a:cs typeface="Arial"/>
              </a:defRPr>
            </a:pPr>
            <a:r>
              <a:rPr sz="1575" b="0">
                <a:solidFill>
                  <a:srgbClr val="AEC0CB"/>
                </a:solidFill>
                <a:latin typeface="Arial"/>
                <a:ea typeface="Arial"/>
                <a:cs typeface="Arial"/>
              </a:rPr>
              <a:t>Physical Pi validation is pending. The switch controls software permission.</a:t>
            </a:r>
          </a:p>
        </p:txBody>
      </p:sp>
    </p:spTree>
    <p:extLst>
      <p:ext uri="{BB962C8B-B14F-4D97-AF65-F5344CB8AC3E}">
        <p14:creationId xmlns:p14="http://schemas.microsoft.com/office/powerpoint/2010/main" val="103673647"/>
      </p:ext>
    </p:extLst>
  </p:cSld>
</p:sld>
</file>

<file path=ppt/slides/slide9.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1" name="NOVA">
            <a:extLst xmlns:a="http://schemas.openxmlformats.org/drawingml/2006/main">
              <a:ext uri="{FF2B5EF4-FFF2-40B4-BE49-F238E27FC236}">
                <a16:creationId xmlns:a16="http://schemas.microsoft.com/office/drawing/2014/main" id="{2DDEAADE-1F00-4D5B-8237-84598B43C22C}"/>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7C65"/>
                </a:solidFill>
                <a:latin typeface="Arial"/>
                <a:ea typeface="Arial"/>
                <a:cs typeface="Arial"/>
              </a:defRPr>
            </a:defPPr>
          </a:lstStyle>
          <a:p xmlns:a="http://schemas.openxmlformats.org/drawingml/2006/main">
            <a:pPr algn="l">
              <a:defRPr sz="1425" b="1">
                <a:solidFill>
                  <a:srgbClr val="007C65"/>
                </a:solidFill>
                <a:latin typeface="Arial"/>
                <a:ea typeface="Arial"/>
                <a:cs typeface="Arial"/>
              </a:defRPr>
            </a:pPr>
            <a:r>
              <a:rPr sz="1425" b="1">
                <a:solidFill>
                  <a:srgbClr val="007C65"/>
                </a:solidFill>
                <a:latin typeface="Arial"/>
                <a:ea typeface="Arial"/>
                <a:cs typeface="Arial"/>
              </a:rPr>
              <a:t>NOVA</a:t>
            </a:r>
          </a:p>
        </p:txBody>
      </p:sp>
      <p:sp>
        <p:nvSpPr>
          <p:cNvPr id="2" name="09">
            <a:extLst xmlns:a="http://schemas.openxmlformats.org/drawingml/2006/main">
              <a:ext uri="{FF2B5EF4-FFF2-40B4-BE49-F238E27FC236}">
                <a16:creationId xmlns:a16="http://schemas.microsoft.com/office/drawing/2014/main" id="{C8AFA31A-A94D-4499-890E-626BAF279D00}"/>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976"/>
                </a:solidFill>
                <a:latin typeface="Arial"/>
                <a:ea typeface="Arial"/>
                <a:cs typeface="Arial"/>
              </a:defRPr>
            </a:defPPr>
          </a:lstStyle>
          <a:p xmlns:a="http://schemas.openxmlformats.org/drawingml/2006/main">
            <a:pPr algn="r">
              <a:defRPr sz="1350" b="0">
                <a:solidFill>
                  <a:srgbClr val="526976"/>
                </a:solidFill>
                <a:latin typeface="Arial"/>
                <a:ea typeface="Arial"/>
                <a:cs typeface="Arial"/>
              </a:defRPr>
            </a:pPr>
            <a:r>
              <a:rPr sz="1350" b="0">
                <a:solidFill>
                  <a:srgbClr val="526976"/>
                </a:solidFill>
                <a:latin typeface="Arial"/>
                <a:ea typeface="Arial"/>
                <a:cs typeface="Arial"/>
              </a:rPr>
              <a:t>09</a:t>
            </a:r>
          </a:p>
        </p:txBody>
      </p:sp>
      <p:sp>
        <p:nvSpPr>
          <p:cNvPr id="3" name="The live demonstration">
            <a:extLst xmlns:a="http://schemas.openxmlformats.org/drawingml/2006/main">
              <a:ext uri="{FF2B5EF4-FFF2-40B4-BE49-F238E27FC236}">
                <a16:creationId xmlns:a16="http://schemas.microsoft.com/office/drawing/2014/main" id="{207B7C6F-285C-49DC-9C4E-3C2E16740167}"/>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02C38"/>
                </a:solidFill>
                <a:latin typeface="Arial"/>
                <a:ea typeface="Arial"/>
                <a:cs typeface="Arial"/>
              </a:defRPr>
            </a:defPPr>
          </a:lstStyle>
          <a:p xmlns:a="http://schemas.openxmlformats.org/drawingml/2006/main">
            <a:pPr algn="l">
              <a:defRPr sz="4350" b="1">
                <a:solidFill>
                  <a:srgbClr val="102C38"/>
                </a:solidFill>
                <a:latin typeface="Arial"/>
                <a:ea typeface="Arial"/>
                <a:cs typeface="Arial"/>
              </a:defRPr>
            </a:pPr>
            <a:r>
              <a:rPr sz="4350" b="1">
                <a:solidFill>
                  <a:srgbClr val="102C38"/>
                </a:solidFill>
                <a:latin typeface="Arial"/>
                <a:ea typeface="Arial"/>
                <a:cs typeface="Arial"/>
              </a:rPr>
              <a:t>The live demonstration</a:t>
            </a:r>
          </a:p>
        </p:txBody>
      </p:sp>
      <p:sp>
        <p:nvSpPr>
          <p:cNvPr id="4" name="">
            <a:extLst xmlns:a="http://schemas.openxmlformats.org/drawingml/2006/main">
              <a:ext uri="{FF2B5EF4-FFF2-40B4-BE49-F238E27FC236}">
                <a16:creationId xmlns:a16="http://schemas.microsoft.com/office/drawing/2014/main" id="{6310DEB9-7348-4B1E-BD33-85466B610F6D}"/>
              </a:ext>
            </a:extLst>
          </p:cNvPr>
          <p:cNvSpPr>
            <a:spLocks xmlns:a="http://schemas.openxmlformats.org/drawingml/2006/main" noGrp="1"/>
          </p:cNvSpPr>
          <p:nvPr/>
        </p:nvSpPr>
        <p:spPr>
          <a:xfrm xmlns:a="http://schemas.openxmlformats.org/drawingml/2006/main">
            <a:off x="762000" y="2486025"/>
            <a:ext cx="13716000" cy="0"/>
          </a:xfrm>
          <a:prstGeom xmlns:a="http://schemas.openxmlformats.org/drawingml/2006/main" prst="line">
            <a:avLst/>
          </a:prstGeom>
          <a:ln xmlns:a="http://schemas.openxmlformats.org/drawingml/2006/main" w="13335">
            <a:solidFill>
              <a:srgbClr val="CAD4CE"/>
            </a:solidFill>
          </a:ln>
        </p:spPr>
      </p:sp>
      <p:sp>
        <p:nvSpPr>
          <p:cNvPr id="5" name="01">
            <a:extLst xmlns:a="http://schemas.openxmlformats.org/drawingml/2006/main">
              <a:ext uri="{FF2B5EF4-FFF2-40B4-BE49-F238E27FC236}">
                <a16:creationId xmlns:a16="http://schemas.microsoft.com/office/drawing/2014/main" id="{DA25F492-0D21-4623-ACCA-8DE8B64FB39F}"/>
              </a:ext>
            </a:extLst>
          </p:cNvPr>
          <p:cNvSpPr>
            <a:spLocks xmlns:a="http://schemas.openxmlformats.org/drawingml/2006/main" noGrp="1"/>
          </p:cNvSpPr>
          <p:nvPr/>
        </p:nvSpPr>
        <p:spPr>
          <a:xfrm xmlns:a="http://schemas.openxmlformats.org/drawingml/2006/main">
            <a:off x="762000" y="2705100"/>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007C65"/>
                </a:solidFill>
                <a:latin typeface="Arial"/>
                <a:ea typeface="Arial"/>
                <a:cs typeface="Arial"/>
              </a:defRPr>
            </a:defPPr>
          </a:lstStyle>
          <a:p xmlns:a="http://schemas.openxmlformats.org/drawingml/2006/main">
            <a:pPr algn="l">
              <a:defRPr sz="3225" b="0">
                <a:solidFill>
                  <a:srgbClr val="007C65"/>
                </a:solidFill>
                <a:latin typeface="Arial"/>
                <a:ea typeface="Arial"/>
                <a:cs typeface="Arial"/>
              </a:defRPr>
            </a:pPr>
            <a:r>
              <a:rPr sz="3225" b="0">
                <a:solidFill>
                  <a:srgbClr val="007C65"/>
                </a:solidFill>
                <a:latin typeface="Arial"/>
                <a:ea typeface="Arial"/>
                <a:cs typeface="Arial"/>
              </a:rPr>
              <a:t>01</a:t>
            </a:r>
          </a:p>
        </p:txBody>
      </p:sp>
      <p:sp>
        <p:nvSpPr>
          <p:cNvPr id="6" name="Disconnect external Internet">
            <a:extLst xmlns:a="http://schemas.openxmlformats.org/drawingml/2006/main">
              <a:ext uri="{FF2B5EF4-FFF2-40B4-BE49-F238E27FC236}">
                <a16:creationId xmlns:a16="http://schemas.microsoft.com/office/drawing/2014/main" id="{CD71C22C-D3EC-4FA5-A347-F914F7A8E2FE}"/>
              </a:ext>
            </a:extLst>
          </p:cNvPr>
          <p:cNvSpPr>
            <a:spLocks xmlns:a="http://schemas.openxmlformats.org/drawingml/2006/main" noGrp="1"/>
          </p:cNvSpPr>
          <p:nvPr/>
        </p:nvSpPr>
        <p:spPr>
          <a:xfrm xmlns:a="http://schemas.openxmlformats.org/drawingml/2006/main">
            <a:off x="1905000" y="268605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02C38"/>
                </a:solidFill>
                <a:latin typeface="Arial"/>
                <a:ea typeface="Arial"/>
                <a:cs typeface="Arial"/>
              </a:defRPr>
            </a:defPPr>
          </a:lstStyle>
          <a:p xmlns:a="http://schemas.openxmlformats.org/drawingml/2006/main">
            <a:pPr algn="l">
              <a:defRPr sz="2625" b="1">
                <a:solidFill>
                  <a:srgbClr val="102C38"/>
                </a:solidFill>
                <a:latin typeface="Arial"/>
                <a:ea typeface="Arial"/>
                <a:cs typeface="Arial"/>
              </a:defRPr>
            </a:pPr>
            <a:r>
              <a:rPr sz="2625" b="1">
                <a:solidFill>
                  <a:srgbClr val="102C38"/>
                </a:solidFill>
                <a:latin typeface="Arial"/>
                <a:ea typeface="Arial"/>
                <a:cs typeface="Arial"/>
              </a:rPr>
              <a:t>Disconnect external Internet</a:t>
            </a:r>
          </a:p>
        </p:txBody>
      </p:sp>
      <p:sp>
        <p:nvSpPr>
          <p:cNvPr id="7" name="Ask a question using local voice models">
            <a:extLst xmlns:a="http://schemas.openxmlformats.org/drawingml/2006/main">
              <a:ext uri="{FF2B5EF4-FFF2-40B4-BE49-F238E27FC236}">
                <a16:creationId xmlns:a16="http://schemas.microsoft.com/office/drawing/2014/main" id="{6A2AF892-8547-4917-97CD-74F307AFE965}"/>
              </a:ext>
            </a:extLst>
          </p:cNvPr>
          <p:cNvSpPr>
            <a:spLocks xmlns:a="http://schemas.openxmlformats.org/drawingml/2006/main" noGrp="1"/>
          </p:cNvSpPr>
          <p:nvPr/>
        </p:nvSpPr>
        <p:spPr>
          <a:xfrm xmlns:a="http://schemas.openxmlformats.org/drawingml/2006/main">
            <a:off x="7715250" y="2724150"/>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76"/>
                </a:solidFill>
                <a:latin typeface="Arial"/>
                <a:ea typeface="Arial"/>
                <a:cs typeface="Arial"/>
              </a:defRPr>
            </a:defPPr>
          </a:lstStyle>
          <a:p xmlns:a="http://schemas.openxmlformats.org/drawingml/2006/main">
            <a:pPr algn="l">
              <a:defRPr sz="2025" b="0">
                <a:solidFill>
                  <a:srgbClr val="526976"/>
                </a:solidFill>
                <a:latin typeface="Arial"/>
                <a:ea typeface="Arial"/>
                <a:cs typeface="Arial"/>
              </a:defRPr>
            </a:pPr>
            <a:r>
              <a:rPr sz="2025" b="0">
                <a:solidFill>
                  <a:srgbClr val="526976"/>
                </a:solidFill>
                <a:latin typeface="Arial"/>
                <a:ea typeface="Arial"/>
                <a:cs typeface="Arial"/>
              </a:rPr>
              <a:t>Ask a question using local voice models</a:t>
            </a:r>
          </a:p>
        </p:txBody>
      </p:sp>
      <p:sp>
        <p:nvSpPr>
          <p:cNvPr id="8" name="">
            <a:extLst xmlns:a="http://schemas.openxmlformats.org/drawingml/2006/main">
              <a:ext uri="{FF2B5EF4-FFF2-40B4-BE49-F238E27FC236}">
                <a16:creationId xmlns:a16="http://schemas.microsoft.com/office/drawing/2014/main" id="{5CEF25D0-FE3E-4605-821A-0DFF14BB41C8}"/>
              </a:ext>
            </a:extLst>
          </p:cNvPr>
          <p:cNvSpPr>
            <a:spLocks xmlns:a="http://schemas.openxmlformats.org/drawingml/2006/main" noGrp="1"/>
          </p:cNvSpPr>
          <p:nvPr/>
        </p:nvSpPr>
        <p:spPr>
          <a:xfrm xmlns:a="http://schemas.openxmlformats.org/drawingml/2006/main">
            <a:off x="762000" y="3752850"/>
            <a:ext cx="13716000" cy="0"/>
          </a:xfrm>
          <a:prstGeom xmlns:a="http://schemas.openxmlformats.org/drawingml/2006/main" prst="line">
            <a:avLst/>
          </a:prstGeom>
          <a:ln xmlns:a="http://schemas.openxmlformats.org/drawingml/2006/main" w="13335">
            <a:solidFill>
              <a:srgbClr val="CAD4CE"/>
            </a:solidFill>
          </a:ln>
        </p:spPr>
      </p:sp>
      <p:sp>
        <p:nvSpPr>
          <p:cNvPr id="9" name="02">
            <a:extLst xmlns:a="http://schemas.openxmlformats.org/drawingml/2006/main">
              <a:ext uri="{FF2B5EF4-FFF2-40B4-BE49-F238E27FC236}">
                <a16:creationId xmlns:a16="http://schemas.microsoft.com/office/drawing/2014/main" id="{23702469-2965-47DD-90AF-5809A217C7CB}"/>
              </a:ext>
            </a:extLst>
          </p:cNvPr>
          <p:cNvSpPr>
            <a:spLocks xmlns:a="http://schemas.openxmlformats.org/drawingml/2006/main" noGrp="1"/>
          </p:cNvSpPr>
          <p:nvPr/>
        </p:nvSpPr>
        <p:spPr>
          <a:xfrm xmlns:a="http://schemas.openxmlformats.org/drawingml/2006/main">
            <a:off x="762000" y="397192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007C65"/>
                </a:solidFill>
                <a:latin typeface="Arial"/>
                <a:ea typeface="Arial"/>
                <a:cs typeface="Arial"/>
              </a:defRPr>
            </a:defPPr>
          </a:lstStyle>
          <a:p xmlns:a="http://schemas.openxmlformats.org/drawingml/2006/main">
            <a:pPr algn="l">
              <a:defRPr sz="3225" b="0">
                <a:solidFill>
                  <a:srgbClr val="007C65"/>
                </a:solidFill>
                <a:latin typeface="Arial"/>
                <a:ea typeface="Arial"/>
                <a:cs typeface="Arial"/>
              </a:defRPr>
            </a:pPr>
            <a:r>
              <a:rPr sz="3225" b="0">
                <a:solidFill>
                  <a:srgbClr val="007C65"/>
                </a:solidFill>
                <a:latin typeface="Arial"/>
                <a:ea typeface="Arial"/>
                <a:cs typeface="Arial"/>
              </a:rPr>
              <a:t>02</a:t>
            </a:r>
          </a:p>
        </p:txBody>
      </p:sp>
      <p:sp>
        <p:nvSpPr>
          <p:cNvPr id="10" name="Save and recall">
            <a:extLst xmlns:a="http://schemas.openxmlformats.org/drawingml/2006/main">
              <a:ext uri="{FF2B5EF4-FFF2-40B4-BE49-F238E27FC236}">
                <a16:creationId xmlns:a16="http://schemas.microsoft.com/office/drawing/2014/main" id="{C8581B36-4E0A-40DE-94ED-85DB17F48D6E}"/>
              </a:ext>
            </a:extLst>
          </p:cNvPr>
          <p:cNvSpPr>
            <a:spLocks xmlns:a="http://schemas.openxmlformats.org/drawingml/2006/main" noGrp="1"/>
          </p:cNvSpPr>
          <p:nvPr/>
        </p:nvSpPr>
        <p:spPr>
          <a:xfrm xmlns:a="http://schemas.openxmlformats.org/drawingml/2006/main">
            <a:off x="1905000" y="39528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02C38"/>
                </a:solidFill>
                <a:latin typeface="Arial"/>
                <a:ea typeface="Arial"/>
                <a:cs typeface="Arial"/>
              </a:defRPr>
            </a:defPPr>
          </a:lstStyle>
          <a:p xmlns:a="http://schemas.openxmlformats.org/drawingml/2006/main">
            <a:pPr algn="l">
              <a:defRPr sz="2625" b="1">
                <a:solidFill>
                  <a:srgbClr val="102C38"/>
                </a:solidFill>
                <a:latin typeface="Arial"/>
                <a:ea typeface="Arial"/>
                <a:cs typeface="Arial"/>
              </a:defRPr>
            </a:pPr>
            <a:r>
              <a:rPr sz="2625" b="1">
                <a:solidFill>
                  <a:srgbClr val="102C38"/>
                </a:solidFill>
                <a:latin typeface="Arial"/>
                <a:ea typeface="Arial"/>
                <a:cs typeface="Arial"/>
              </a:rPr>
              <a:t>Save and recall</a:t>
            </a:r>
          </a:p>
        </p:txBody>
      </p:sp>
      <p:sp>
        <p:nvSpPr>
          <p:cNvPr id="11" name="Confirm a synthetic preference, restart, then">
            <a:extLst xmlns:a="http://schemas.openxmlformats.org/drawingml/2006/main">
              <a:ext uri="{FF2B5EF4-FFF2-40B4-BE49-F238E27FC236}">
                <a16:creationId xmlns:a16="http://schemas.microsoft.com/office/drawing/2014/main" id="{8B0DB5FD-5A42-4DB5-9F31-F5579F865CC2}"/>
              </a:ext>
            </a:extLst>
          </p:cNvPr>
          <p:cNvSpPr>
            <a:spLocks xmlns:a="http://schemas.openxmlformats.org/drawingml/2006/main" noGrp="1"/>
          </p:cNvSpPr>
          <p:nvPr/>
        </p:nvSpPr>
        <p:spPr>
          <a:xfrm xmlns:a="http://schemas.openxmlformats.org/drawingml/2006/main">
            <a:off x="7715250" y="399097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76"/>
                </a:solidFill>
                <a:latin typeface="Arial"/>
                <a:ea typeface="Arial"/>
                <a:cs typeface="Arial"/>
              </a:defRPr>
            </a:defPPr>
          </a:lstStyle>
          <a:p xmlns:a="http://schemas.openxmlformats.org/drawingml/2006/main">
            <a:pPr algn="l">
              <a:defRPr sz="2025" b="0">
                <a:solidFill>
                  <a:srgbClr val="526976"/>
                </a:solidFill>
                <a:latin typeface="Arial"/>
                <a:ea typeface="Arial"/>
                <a:cs typeface="Arial"/>
              </a:defRPr>
            </a:pPr>
            <a:r>
              <a:rPr sz="2025" b="0">
                <a:solidFill>
                  <a:srgbClr val="526976"/>
                </a:solidFill>
                <a:latin typeface="Arial"/>
                <a:ea typeface="Arial"/>
                <a:cs typeface="Arial"/>
              </a:rPr>
              <a:t>Confirm a synthetic preference, restart, then recall it</a:t>
            </a:r>
          </a:p>
        </p:txBody>
      </p:sp>
      <p:sp>
        <p:nvSpPr>
          <p:cNvPr id="12" name="">
            <a:extLst xmlns:a="http://schemas.openxmlformats.org/drawingml/2006/main">
              <a:ext uri="{FF2B5EF4-FFF2-40B4-BE49-F238E27FC236}">
                <a16:creationId xmlns:a16="http://schemas.microsoft.com/office/drawing/2014/main" id="{819D5B24-8E72-453F-BA86-8C883E56F147}"/>
              </a:ext>
            </a:extLst>
          </p:cNvPr>
          <p:cNvSpPr>
            <a:spLocks xmlns:a="http://schemas.openxmlformats.org/drawingml/2006/main" noGrp="1"/>
          </p:cNvSpPr>
          <p:nvPr/>
        </p:nvSpPr>
        <p:spPr>
          <a:xfrm xmlns:a="http://schemas.openxmlformats.org/drawingml/2006/main">
            <a:off x="762000" y="5019675"/>
            <a:ext cx="13716000" cy="0"/>
          </a:xfrm>
          <a:prstGeom xmlns:a="http://schemas.openxmlformats.org/drawingml/2006/main" prst="line">
            <a:avLst/>
          </a:prstGeom>
          <a:ln xmlns:a="http://schemas.openxmlformats.org/drawingml/2006/main" w="13335">
            <a:solidFill>
              <a:srgbClr val="CAD4CE"/>
            </a:solidFill>
          </a:ln>
        </p:spPr>
      </p:sp>
      <p:sp>
        <p:nvSpPr>
          <p:cNvPr id="13" name="03">
            <a:extLst xmlns:a="http://schemas.openxmlformats.org/drawingml/2006/main">
              <a:ext uri="{FF2B5EF4-FFF2-40B4-BE49-F238E27FC236}">
                <a16:creationId xmlns:a16="http://schemas.microsoft.com/office/drawing/2014/main" id="{1E83CB31-4926-41AE-A9D3-55CF918EC5D6}"/>
              </a:ext>
            </a:extLst>
          </p:cNvPr>
          <p:cNvSpPr>
            <a:spLocks xmlns:a="http://schemas.openxmlformats.org/drawingml/2006/main" noGrp="1"/>
          </p:cNvSpPr>
          <p:nvPr/>
        </p:nvSpPr>
        <p:spPr>
          <a:xfrm xmlns:a="http://schemas.openxmlformats.org/drawingml/2006/main">
            <a:off x="762000" y="5238750"/>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007C65"/>
                </a:solidFill>
                <a:latin typeface="Arial"/>
                <a:ea typeface="Arial"/>
                <a:cs typeface="Arial"/>
              </a:defRPr>
            </a:defPPr>
          </a:lstStyle>
          <a:p xmlns:a="http://schemas.openxmlformats.org/drawingml/2006/main">
            <a:pPr algn="l">
              <a:defRPr sz="3225" b="0">
                <a:solidFill>
                  <a:srgbClr val="007C65"/>
                </a:solidFill>
                <a:latin typeface="Arial"/>
                <a:ea typeface="Arial"/>
                <a:cs typeface="Arial"/>
              </a:defRPr>
            </a:pPr>
            <a:r>
              <a:rPr sz="3225" b="0">
                <a:solidFill>
                  <a:srgbClr val="007C65"/>
                </a:solidFill>
                <a:latin typeface="Arial"/>
                <a:ea typeface="Arial"/>
                <a:cs typeface="Arial"/>
              </a:rPr>
              <a:t>03</a:t>
            </a:r>
          </a:p>
        </p:txBody>
      </p:sp>
      <p:sp>
        <p:nvSpPr>
          <p:cNvPr id="14" name="Create a reminder">
            <a:extLst xmlns:a="http://schemas.openxmlformats.org/drawingml/2006/main">
              <a:ext uri="{FF2B5EF4-FFF2-40B4-BE49-F238E27FC236}">
                <a16:creationId xmlns:a16="http://schemas.microsoft.com/office/drawing/2014/main" id="{DED94D9D-3DC1-4BFB-B6FB-05A5F23BC59E}"/>
              </a:ext>
            </a:extLst>
          </p:cNvPr>
          <p:cNvSpPr>
            <a:spLocks xmlns:a="http://schemas.openxmlformats.org/drawingml/2006/main" noGrp="1"/>
          </p:cNvSpPr>
          <p:nvPr/>
        </p:nvSpPr>
        <p:spPr>
          <a:xfrm xmlns:a="http://schemas.openxmlformats.org/drawingml/2006/main">
            <a:off x="1905000" y="52197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02C38"/>
                </a:solidFill>
                <a:latin typeface="Arial"/>
                <a:ea typeface="Arial"/>
                <a:cs typeface="Arial"/>
              </a:defRPr>
            </a:defPPr>
          </a:lstStyle>
          <a:p xmlns:a="http://schemas.openxmlformats.org/drawingml/2006/main">
            <a:pPr algn="l">
              <a:defRPr sz="2625" b="1">
                <a:solidFill>
                  <a:srgbClr val="102C38"/>
                </a:solidFill>
                <a:latin typeface="Arial"/>
                <a:ea typeface="Arial"/>
                <a:cs typeface="Arial"/>
              </a:defRPr>
            </a:pPr>
            <a:r>
              <a:rPr sz="2625" b="1">
                <a:solidFill>
                  <a:srgbClr val="102C38"/>
                </a:solidFill>
                <a:latin typeface="Arial"/>
                <a:ea typeface="Arial"/>
                <a:cs typeface="Arial"/>
              </a:rPr>
              <a:t>Create a reminder</a:t>
            </a:r>
          </a:p>
        </p:txBody>
      </p:sp>
      <p:sp>
        <p:nvSpPr>
          <p:cNvPr id="15" name="Show task persistence and audible reminder de">
            <a:extLst xmlns:a="http://schemas.openxmlformats.org/drawingml/2006/main">
              <a:ext uri="{FF2B5EF4-FFF2-40B4-BE49-F238E27FC236}">
                <a16:creationId xmlns:a16="http://schemas.microsoft.com/office/drawing/2014/main" id="{75B22FC3-E6D6-434A-9210-AE60EE50993B}"/>
              </a:ext>
            </a:extLst>
          </p:cNvPr>
          <p:cNvSpPr>
            <a:spLocks xmlns:a="http://schemas.openxmlformats.org/drawingml/2006/main" noGrp="1"/>
          </p:cNvSpPr>
          <p:nvPr/>
        </p:nvSpPr>
        <p:spPr>
          <a:xfrm xmlns:a="http://schemas.openxmlformats.org/drawingml/2006/main">
            <a:off x="7715250" y="5257800"/>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76"/>
                </a:solidFill>
                <a:latin typeface="Arial"/>
                <a:ea typeface="Arial"/>
                <a:cs typeface="Arial"/>
              </a:defRPr>
            </a:defPPr>
          </a:lstStyle>
          <a:p xmlns:a="http://schemas.openxmlformats.org/drawingml/2006/main">
            <a:pPr algn="l">
              <a:defRPr sz="2025" b="0">
                <a:solidFill>
                  <a:srgbClr val="526976"/>
                </a:solidFill>
                <a:latin typeface="Arial"/>
                <a:ea typeface="Arial"/>
                <a:cs typeface="Arial"/>
              </a:defRPr>
            </a:pPr>
            <a:r>
              <a:rPr sz="2025" b="0">
                <a:solidFill>
                  <a:srgbClr val="526976"/>
                </a:solidFill>
                <a:latin typeface="Arial"/>
                <a:ea typeface="Arial"/>
                <a:cs typeface="Arial"/>
              </a:rPr>
              <a:t>Show task persistence and audible reminder delivery</a:t>
            </a:r>
          </a:p>
        </p:txBody>
      </p:sp>
      <p:sp>
        <p:nvSpPr>
          <p:cNvPr id="16" name="">
            <a:extLst xmlns:a="http://schemas.openxmlformats.org/drawingml/2006/main">
              <a:ext uri="{FF2B5EF4-FFF2-40B4-BE49-F238E27FC236}">
                <a16:creationId xmlns:a16="http://schemas.microsoft.com/office/drawing/2014/main" id="{FC522AEE-6245-43EC-A725-42BCCDDE3520}"/>
              </a:ext>
            </a:extLst>
          </p:cNvPr>
          <p:cNvSpPr>
            <a:spLocks xmlns:a="http://schemas.openxmlformats.org/drawingml/2006/main" noGrp="1"/>
          </p:cNvSpPr>
          <p:nvPr/>
        </p:nvSpPr>
        <p:spPr>
          <a:xfrm xmlns:a="http://schemas.openxmlformats.org/drawingml/2006/main">
            <a:off x="762000" y="6286500"/>
            <a:ext cx="13716000" cy="0"/>
          </a:xfrm>
          <a:prstGeom xmlns:a="http://schemas.openxmlformats.org/drawingml/2006/main" prst="line">
            <a:avLst/>
          </a:prstGeom>
          <a:ln xmlns:a="http://schemas.openxmlformats.org/drawingml/2006/main" w="13335">
            <a:solidFill>
              <a:srgbClr val="CAD4CE"/>
            </a:solidFill>
          </a:ln>
        </p:spPr>
      </p:sp>
      <p:sp>
        <p:nvSpPr>
          <p:cNvPr id="17" name="04">
            <a:extLst xmlns:a="http://schemas.openxmlformats.org/drawingml/2006/main">
              <a:ext uri="{FF2B5EF4-FFF2-40B4-BE49-F238E27FC236}">
                <a16:creationId xmlns:a16="http://schemas.microsoft.com/office/drawing/2014/main" id="{9A13E642-7A2B-415B-9A61-CF104FD53996}"/>
              </a:ext>
            </a:extLst>
          </p:cNvPr>
          <p:cNvSpPr>
            <a:spLocks xmlns:a="http://schemas.openxmlformats.org/drawingml/2006/main" noGrp="1"/>
          </p:cNvSpPr>
          <p:nvPr/>
        </p:nvSpPr>
        <p:spPr>
          <a:xfrm xmlns:a="http://schemas.openxmlformats.org/drawingml/2006/main">
            <a:off x="762000" y="650557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007C65"/>
                </a:solidFill>
                <a:latin typeface="Arial"/>
                <a:ea typeface="Arial"/>
                <a:cs typeface="Arial"/>
              </a:defRPr>
            </a:defPPr>
          </a:lstStyle>
          <a:p xmlns:a="http://schemas.openxmlformats.org/drawingml/2006/main">
            <a:pPr algn="l">
              <a:defRPr sz="3225" b="0">
                <a:solidFill>
                  <a:srgbClr val="007C65"/>
                </a:solidFill>
                <a:latin typeface="Arial"/>
                <a:ea typeface="Arial"/>
                <a:cs typeface="Arial"/>
              </a:defRPr>
            </a:pPr>
            <a:r>
              <a:rPr sz="3225" b="0">
                <a:solidFill>
                  <a:srgbClr val="007C65"/>
                </a:solidFill>
                <a:latin typeface="Arial"/>
                <a:ea typeface="Arial"/>
                <a:cs typeface="Arial"/>
              </a:rPr>
              <a:t>04</a:t>
            </a:r>
          </a:p>
        </p:txBody>
      </p:sp>
      <p:sp>
        <p:nvSpPr>
          <p:cNvPr id="18" name="Mute input">
            <a:extLst xmlns:a="http://schemas.openxmlformats.org/drawingml/2006/main">
              <a:ext uri="{FF2B5EF4-FFF2-40B4-BE49-F238E27FC236}">
                <a16:creationId xmlns:a16="http://schemas.microsoft.com/office/drawing/2014/main" id="{4BEBD2A3-9D3B-42CD-8D64-4B14D9D357E8}"/>
              </a:ext>
            </a:extLst>
          </p:cNvPr>
          <p:cNvSpPr>
            <a:spLocks xmlns:a="http://schemas.openxmlformats.org/drawingml/2006/main" noGrp="1"/>
          </p:cNvSpPr>
          <p:nvPr/>
        </p:nvSpPr>
        <p:spPr>
          <a:xfrm xmlns:a="http://schemas.openxmlformats.org/drawingml/2006/main">
            <a:off x="1905000" y="64865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02C38"/>
                </a:solidFill>
                <a:latin typeface="Arial"/>
                <a:ea typeface="Arial"/>
                <a:cs typeface="Arial"/>
              </a:defRPr>
            </a:defPPr>
          </a:lstStyle>
          <a:p xmlns:a="http://schemas.openxmlformats.org/drawingml/2006/main">
            <a:pPr algn="l">
              <a:defRPr sz="2625" b="1">
                <a:solidFill>
                  <a:srgbClr val="102C38"/>
                </a:solidFill>
                <a:latin typeface="Arial"/>
                <a:ea typeface="Arial"/>
                <a:cs typeface="Arial"/>
              </a:defRPr>
            </a:pPr>
            <a:r>
              <a:rPr sz="2625" b="1">
                <a:solidFill>
                  <a:srgbClr val="102C38"/>
                </a:solidFill>
                <a:latin typeface="Arial"/>
                <a:ea typeface="Arial"/>
                <a:cs typeface="Arial"/>
              </a:rPr>
              <a:t>Mute input</a:t>
            </a:r>
          </a:p>
        </p:txBody>
      </p:sp>
      <p:sp>
        <p:nvSpPr>
          <p:cNvPr id="19" name="Verify that muted speech creates no new task">
            <a:extLst xmlns:a="http://schemas.openxmlformats.org/drawingml/2006/main">
              <a:ext uri="{FF2B5EF4-FFF2-40B4-BE49-F238E27FC236}">
                <a16:creationId xmlns:a16="http://schemas.microsoft.com/office/drawing/2014/main" id="{963158BA-DA03-478C-855B-07008022A333}"/>
              </a:ext>
            </a:extLst>
          </p:cNvPr>
          <p:cNvSpPr>
            <a:spLocks xmlns:a="http://schemas.openxmlformats.org/drawingml/2006/main" noGrp="1"/>
          </p:cNvSpPr>
          <p:nvPr/>
        </p:nvSpPr>
        <p:spPr>
          <a:xfrm xmlns:a="http://schemas.openxmlformats.org/drawingml/2006/main">
            <a:off x="7715250" y="652462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976"/>
                </a:solidFill>
                <a:latin typeface="Arial"/>
                <a:ea typeface="Arial"/>
                <a:cs typeface="Arial"/>
              </a:defRPr>
            </a:defPPr>
          </a:lstStyle>
          <a:p xmlns:a="http://schemas.openxmlformats.org/drawingml/2006/main">
            <a:pPr algn="l">
              <a:defRPr sz="2025" b="0">
                <a:solidFill>
                  <a:srgbClr val="526976"/>
                </a:solidFill>
                <a:latin typeface="Arial"/>
                <a:ea typeface="Arial"/>
                <a:cs typeface="Arial"/>
              </a:defRPr>
            </a:pPr>
            <a:r>
              <a:rPr sz="2025" b="0">
                <a:solidFill>
                  <a:srgbClr val="526976"/>
                </a:solidFill>
                <a:latin typeface="Arial"/>
                <a:ea typeface="Arial"/>
                <a:cs typeface="Arial"/>
              </a:rPr>
              <a:t>Verify that muted speech creates no new task</a:t>
            </a:r>
          </a:p>
        </p:txBody>
      </p:sp>
      <p:sp>
        <p:nvSpPr>
          <p:cNvPr id="20" name="Use a separate demo database and preloaded mo">
            <a:extLst xmlns:a="http://schemas.openxmlformats.org/drawingml/2006/main">
              <a:ext uri="{FF2B5EF4-FFF2-40B4-BE49-F238E27FC236}">
                <a16:creationId xmlns:a16="http://schemas.microsoft.com/office/drawing/2014/main" id="{29FC9B22-A4BB-4FC1-A60C-524C503BA4AD}"/>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6"/>
                </a:solidFill>
                <a:latin typeface="Arial"/>
                <a:ea typeface="Arial"/>
                <a:cs typeface="Arial"/>
              </a:defRPr>
            </a:defPPr>
          </a:lstStyle>
          <a:p xmlns:a="http://schemas.openxmlformats.org/drawingml/2006/main">
            <a:pPr algn="l">
              <a:defRPr sz="1575" b="0">
                <a:solidFill>
                  <a:srgbClr val="526976"/>
                </a:solidFill>
                <a:latin typeface="Arial"/>
                <a:ea typeface="Arial"/>
                <a:cs typeface="Arial"/>
              </a:defRPr>
            </a:pPr>
            <a:r>
              <a:rPr sz="1575" b="0">
                <a:solidFill>
                  <a:srgbClr val="526976"/>
                </a:solidFill>
                <a:latin typeface="Arial"/>
                <a:ea typeface="Arial"/>
                <a:cs typeface="Arial"/>
              </a:rPr>
              <a:t>Use a separate demo database and preloaded models. Rehearse on the presentation device.</a:t>
            </a:r>
          </a:p>
        </p:txBody>
      </p:sp>
    </p:spTree>
    <p:extLst>
      <p:ext uri="{BB962C8B-B14F-4D97-AF65-F5344CB8AC3E}">
        <p14:creationId xmlns:p14="http://schemas.microsoft.com/office/powerpoint/2010/main" val="723932131"/>
      </p:ext>
    </p:extLst>
  </p:cSld>
</p:sld>
</file>

<file path=ppt/slides/slide10.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9" name="NOVA">
            <a:extLst xmlns:a="http://schemas.openxmlformats.org/drawingml/2006/main">
              <a:ext uri="{FF2B5EF4-FFF2-40B4-BE49-F238E27FC236}">
                <a16:creationId xmlns:a16="http://schemas.microsoft.com/office/drawing/2014/main" id="{6215D156-04C2-4779-AB01-C5FAFC92BF55}"/>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9BF2C7"/>
                </a:solidFill>
                <a:latin typeface="Arial"/>
                <a:ea typeface="Arial"/>
                <a:cs typeface="Arial"/>
              </a:defRPr>
            </a:defPPr>
          </a:lstStyle>
          <a:p xmlns:a="http://schemas.openxmlformats.org/drawingml/2006/main">
            <a:pPr algn="l">
              <a:defRPr sz="1425" b="1">
                <a:solidFill>
                  <a:srgbClr val="9BF2C7"/>
                </a:solidFill>
                <a:latin typeface="Arial"/>
                <a:ea typeface="Arial"/>
                <a:cs typeface="Arial"/>
              </a:defRPr>
            </a:pPr>
            <a:r>
              <a:rPr sz="1425" b="1">
                <a:solidFill>
                  <a:srgbClr val="9BF2C7"/>
                </a:solidFill>
                <a:latin typeface="Arial"/>
                <a:ea typeface="Arial"/>
                <a:cs typeface="Arial"/>
              </a:rPr>
              <a:t>NOVA</a:t>
            </a:r>
          </a:p>
        </p:txBody>
      </p:sp>
      <p:sp>
        <p:nvSpPr>
          <p:cNvPr id="2" name="10">
            <a:extLst xmlns:a="http://schemas.openxmlformats.org/drawingml/2006/main">
              <a:ext uri="{FF2B5EF4-FFF2-40B4-BE49-F238E27FC236}">
                <a16:creationId xmlns:a16="http://schemas.microsoft.com/office/drawing/2014/main" id="{BF17BA2A-CFED-41A6-A0CD-21610629D005}"/>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B"/>
                </a:solidFill>
                <a:latin typeface="Arial"/>
                <a:ea typeface="Arial"/>
                <a:cs typeface="Arial"/>
              </a:defRPr>
            </a:defPPr>
          </a:lstStyle>
          <a:p xmlns:a="http://schemas.openxmlformats.org/drawingml/2006/main">
            <a:pPr algn="r">
              <a:defRPr sz="1350" b="0">
                <a:solidFill>
                  <a:srgbClr val="AEC0CB"/>
                </a:solidFill>
                <a:latin typeface="Arial"/>
                <a:ea typeface="Arial"/>
                <a:cs typeface="Arial"/>
              </a:defRPr>
            </a:pPr>
            <a:r>
              <a:rPr sz="1350" b="0">
                <a:solidFill>
                  <a:srgbClr val="AEC0CB"/>
                </a:solidFill>
                <a:latin typeface="Arial"/>
                <a:ea typeface="Arial"/>
                <a:cs typeface="Arial"/>
              </a:rPr>
              <a:t>10</a:t>
            </a:r>
          </a:p>
        </p:txBody>
      </p:sp>
      <p:sp>
        <p:nvSpPr>
          <p:cNvPr id="3" name="Challenges and limits">
            <a:extLst xmlns:a="http://schemas.openxmlformats.org/drawingml/2006/main">
              <a:ext uri="{FF2B5EF4-FFF2-40B4-BE49-F238E27FC236}">
                <a16:creationId xmlns:a16="http://schemas.microsoft.com/office/drawing/2014/main" id="{57DEFB99-1BED-4006-A2F4-C745686197C0}"/>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5F4EE"/>
                </a:solidFill>
                <a:latin typeface="Arial"/>
                <a:ea typeface="Arial"/>
                <a:cs typeface="Arial"/>
              </a:defRPr>
            </a:defPPr>
          </a:lstStyle>
          <a:p xmlns:a="http://schemas.openxmlformats.org/drawingml/2006/main">
            <a:pPr algn="l">
              <a:defRPr sz="4350" b="1">
                <a:solidFill>
                  <a:srgbClr val="F5F4EE"/>
                </a:solidFill>
                <a:latin typeface="Arial"/>
                <a:ea typeface="Arial"/>
                <a:cs typeface="Arial"/>
              </a:defRPr>
            </a:pPr>
            <a:r>
              <a:rPr sz="4350" b="1">
                <a:solidFill>
                  <a:srgbClr val="F5F4EE"/>
                </a:solidFill>
                <a:latin typeface="Arial"/>
                <a:ea typeface="Arial"/>
                <a:cs typeface="Arial"/>
              </a:rPr>
              <a:t>Challenges and limits</a:t>
            </a:r>
          </a:p>
        </p:txBody>
      </p:sp>
      <p:sp>
        <p:nvSpPr>
          <p:cNvPr id="4" name="Runtime tradeoffs">
            <a:extLst xmlns:a="http://schemas.openxmlformats.org/drawingml/2006/main">
              <a:ext uri="{FF2B5EF4-FFF2-40B4-BE49-F238E27FC236}">
                <a16:creationId xmlns:a16="http://schemas.microsoft.com/office/drawing/2014/main" id="{00012FCC-0C00-420F-8F75-3FA3C5680FD5}"/>
              </a:ext>
            </a:extLst>
          </p:cNvPr>
          <p:cNvSpPr>
            <a:spLocks xmlns:a="http://schemas.openxmlformats.org/drawingml/2006/main" noGrp="1"/>
          </p:cNvSpPr>
          <p:nvPr/>
        </p:nvSpPr>
        <p:spPr>
          <a:xfrm xmlns:a="http://schemas.openxmlformats.org/drawingml/2006/main">
            <a:off x="762000" y="25146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9BF2C7"/>
                </a:solidFill>
                <a:latin typeface="Arial"/>
                <a:ea typeface="Arial"/>
                <a:cs typeface="Arial"/>
              </a:defRPr>
            </a:defPPr>
          </a:lstStyle>
          <a:p xmlns:a="http://schemas.openxmlformats.org/drawingml/2006/main">
            <a:pPr algn="l">
              <a:defRPr sz="2700" b="1">
                <a:solidFill>
                  <a:srgbClr val="9BF2C7"/>
                </a:solidFill>
                <a:latin typeface="Arial"/>
                <a:ea typeface="Arial"/>
                <a:cs typeface="Arial"/>
              </a:defRPr>
            </a:pPr>
            <a:r>
              <a:rPr sz="2700" b="1">
                <a:solidFill>
                  <a:srgbClr val="9BF2C7"/>
                </a:solidFill>
                <a:latin typeface="Arial"/>
                <a:ea typeface="Arial"/>
                <a:cs typeface="Arial"/>
              </a:rPr>
              <a:t>Runtime tradeoffs</a:t>
            </a:r>
          </a:p>
        </p:txBody>
      </p:sp>
      <p:sp>
        <p:nvSpPr>
          <p:cNvPr id="5" name="Noise-sensitive RMS VAD&#10;&#10;STT before wake acti">
            <a:extLst xmlns:a="http://schemas.openxmlformats.org/drawingml/2006/main">
              <a:ext uri="{FF2B5EF4-FFF2-40B4-BE49-F238E27FC236}">
                <a16:creationId xmlns:a16="http://schemas.microsoft.com/office/drawing/2014/main" id="{8E7BF43C-0F39-4FA3-BFF7-8AAABE51149D}"/>
              </a:ext>
            </a:extLst>
          </p:cNvPr>
          <p:cNvSpPr>
            <a:spLocks xmlns:a="http://schemas.openxmlformats.org/drawingml/2006/main" noGrp="1"/>
          </p:cNvSpPr>
          <p:nvPr/>
        </p:nvSpPr>
        <p:spPr>
          <a:xfrm xmlns:a="http://schemas.openxmlformats.org/drawingml/2006/main">
            <a:off x="762000" y="3486150"/>
            <a:ext cx="6667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5F4EE"/>
                </a:solidFill>
                <a:latin typeface="Arial"/>
                <a:ea typeface="Arial"/>
                <a:cs typeface="Arial"/>
              </a:defRPr>
            </a:defPPr>
          </a:lstStyle>
          <a:p xmlns:a="http://schemas.openxmlformats.org/drawingml/2006/main">
            <a:pPr algn="l">
              <a:defRPr sz="2400" b="0">
                <a:solidFill>
                  <a:srgbClr val="F5F4EE"/>
                </a:solidFill>
                <a:latin typeface="Arial"/>
                <a:ea typeface="Arial"/>
                <a:cs typeface="Arial"/>
              </a:defRPr>
            </a:pPr>
            <a:r>
              <a:rPr sz="2400" b="0">
                <a:solidFill>
                  <a:srgbClr val="F5F4EE"/>
                </a:solidFill>
                <a:latin typeface="Arial"/>
                <a:ea typeface="Arial"/>
                <a:cs typeface="Arial"/>
              </a:rPr>
              <a:t>Noise-sensitive RMS VAD</a:t>
            </a:r>
          </a:p>
          <a:p xmlns:a="http://schemas.openxmlformats.org/drawingml/2006/main">
            <a:r>
              <a:t/>
            </a:r>
          </a:p>
          <a:p xmlns:a="http://schemas.openxmlformats.org/drawingml/2006/main">
            <a:pPr algn="l">
              <a:defRPr sz="2400" b="0">
                <a:solidFill>
                  <a:srgbClr val="F5F4EE"/>
                </a:solidFill>
                <a:latin typeface="Arial"/>
                <a:ea typeface="Arial"/>
                <a:cs typeface="Arial"/>
              </a:defRPr>
            </a:pPr>
            <a:r>
              <a:rPr sz="2400" b="0">
                <a:solidFill>
                  <a:srgbClr val="F5F4EE"/>
                </a:solidFill>
                <a:latin typeface="Arial"/>
                <a:ea typeface="Arial"/>
                <a:cs typeface="Arial"/>
              </a:rPr>
              <a:t>STT before wake activation</a:t>
            </a:r>
          </a:p>
          <a:p xmlns:a="http://schemas.openxmlformats.org/drawingml/2006/main">
            <a:r>
              <a:t/>
            </a:r>
          </a:p>
          <a:p xmlns:a="http://schemas.openxmlformats.org/drawingml/2006/main">
            <a:pPr algn="l">
              <a:defRPr sz="2400" b="0">
                <a:solidFill>
                  <a:srgbClr val="F5F4EE"/>
                </a:solidFill>
                <a:latin typeface="Arial"/>
                <a:ea typeface="Arial"/>
                <a:cs typeface="Arial"/>
              </a:defRPr>
            </a:pPr>
            <a:r>
              <a:rPr sz="2400" b="0">
                <a:solidFill>
                  <a:srgbClr val="F5F4EE"/>
                </a:solidFill>
                <a:latin typeface="Arial"/>
                <a:ea typeface="Arial"/>
                <a:cs typeface="Arial"/>
              </a:rPr>
              <a:t>Sequential capture and response</a:t>
            </a:r>
          </a:p>
          <a:p xmlns:a="http://schemas.openxmlformats.org/drawingml/2006/main">
            <a:r>
              <a:t/>
            </a:r>
          </a:p>
          <a:p xmlns:a="http://schemas.openxmlformats.org/drawingml/2006/main">
            <a:pPr algn="l">
              <a:defRPr sz="2400" b="0">
                <a:solidFill>
                  <a:srgbClr val="F5F4EE"/>
                </a:solidFill>
                <a:latin typeface="Arial"/>
                <a:ea typeface="Arial"/>
                <a:cs typeface="Arial"/>
              </a:defRPr>
            </a:pPr>
            <a:r>
              <a:rPr sz="2400" b="0">
                <a:solidFill>
                  <a:srgbClr val="F5F4EE"/>
                </a:solidFill>
                <a:latin typeface="Arial"/>
                <a:ea typeface="Arial"/>
                <a:cs typeface="Arial"/>
              </a:rPr>
              <a:t>Small context and shared CPU</a:t>
            </a:r>
          </a:p>
        </p:txBody>
      </p:sp>
      <p:sp>
        <p:nvSpPr>
          <p:cNvPr id="6" name="Validation and privacy">
            <a:extLst xmlns:a="http://schemas.openxmlformats.org/drawingml/2006/main">
              <a:ext uri="{FF2B5EF4-FFF2-40B4-BE49-F238E27FC236}">
                <a16:creationId xmlns:a16="http://schemas.microsoft.com/office/drawing/2014/main" id="{792E0A3E-057E-47A0-8F77-3A47CE6FC416}"/>
              </a:ext>
            </a:extLst>
          </p:cNvPr>
          <p:cNvSpPr>
            <a:spLocks xmlns:a="http://schemas.openxmlformats.org/drawingml/2006/main" noGrp="1"/>
          </p:cNvSpPr>
          <p:nvPr/>
        </p:nvSpPr>
        <p:spPr>
          <a:xfrm xmlns:a="http://schemas.openxmlformats.org/drawingml/2006/main">
            <a:off x="8524875" y="251460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0C68A"/>
                </a:solidFill>
                <a:latin typeface="Arial"/>
                <a:ea typeface="Arial"/>
                <a:cs typeface="Arial"/>
              </a:defRPr>
            </a:defPPr>
          </a:lstStyle>
          <a:p xmlns:a="http://schemas.openxmlformats.org/drawingml/2006/main">
            <a:pPr algn="l">
              <a:defRPr sz="2700" b="1">
                <a:solidFill>
                  <a:srgbClr val="F0C68A"/>
                </a:solidFill>
                <a:latin typeface="Arial"/>
                <a:ea typeface="Arial"/>
                <a:cs typeface="Arial"/>
              </a:defRPr>
            </a:pPr>
            <a:r>
              <a:rPr sz="2700" b="1">
                <a:solidFill>
                  <a:srgbClr val="F0C68A"/>
                </a:solidFill>
                <a:latin typeface="Arial"/>
                <a:ea typeface="Arial"/>
                <a:cs typeface="Arial"/>
              </a:rPr>
              <a:t>Validation and privacy</a:t>
            </a:r>
          </a:p>
        </p:txBody>
      </p:sp>
      <p:sp>
        <p:nvSpPr>
          <p:cNvPr id="7" name="Physical Pi and long soak pending&#10;&#10;Plaintext ">
            <a:extLst xmlns:a="http://schemas.openxmlformats.org/drawingml/2006/main">
              <a:ext uri="{FF2B5EF4-FFF2-40B4-BE49-F238E27FC236}">
                <a16:creationId xmlns:a16="http://schemas.microsoft.com/office/drawing/2014/main" id="{27FB1DEA-E276-4855-924B-F44C99F454B2}"/>
              </a:ext>
            </a:extLst>
          </p:cNvPr>
          <p:cNvSpPr>
            <a:spLocks xmlns:a="http://schemas.openxmlformats.org/drawingml/2006/main" noGrp="1"/>
          </p:cNvSpPr>
          <p:nvPr/>
        </p:nvSpPr>
        <p:spPr>
          <a:xfrm xmlns:a="http://schemas.openxmlformats.org/drawingml/2006/main">
            <a:off x="8524875" y="3486150"/>
            <a:ext cx="5953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F4EE"/>
                </a:solidFill>
                <a:latin typeface="Arial"/>
                <a:ea typeface="Arial"/>
                <a:cs typeface="Arial"/>
              </a:defRPr>
            </a:defPPr>
          </a:lstStyle>
          <a:p xmlns:a="http://schemas.openxmlformats.org/drawingml/2006/main">
            <a:pPr algn="l">
              <a:defRPr sz="2325" b="0">
                <a:solidFill>
                  <a:srgbClr val="F5F4EE"/>
                </a:solidFill>
                <a:latin typeface="Arial"/>
                <a:ea typeface="Arial"/>
                <a:cs typeface="Arial"/>
              </a:defRPr>
            </a:pPr>
            <a:r>
              <a:rPr sz="2325" b="0">
                <a:solidFill>
                  <a:srgbClr val="F5F4EE"/>
                </a:solidFill>
                <a:latin typeface="Arial"/>
                <a:ea typeface="Arial"/>
                <a:cs typeface="Arial"/>
              </a:rPr>
              <a:t>Physical Pi and long soak pending</a:t>
            </a:r>
          </a:p>
          <a:p xmlns:a="http://schemas.openxmlformats.org/drawingml/2006/main">
            <a:r>
              <a:t/>
            </a:r>
          </a:p>
          <a:p xmlns:a="http://schemas.openxmlformats.org/drawingml/2006/main">
            <a:pPr algn="l">
              <a:defRPr sz="2325" b="0">
                <a:solidFill>
                  <a:srgbClr val="F5F4EE"/>
                </a:solidFill>
                <a:latin typeface="Arial"/>
                <a:ea typeface="Arial"/>
                <a:cs typeface="Arial"/>
              </a:defRPr>
            </a:pPr>
            <a:r>
              <a:rPr sz="2325" b="0">
                <a:solidFill>
                  <a:srgbClr val="F5F4EE"/>
                </a:solidFill>
                <a:latin typeface="Arial"/>
                <a:ea typeface="Arial"/>
                <a:cs typeface="Arial"/>
              </a:rPr>
              <a:t>Plaintext memory</a:t>
            </a:r>
          </a:p>
          <a:p xmlns:a="http://schemas.openxmlformats.org/drawingml/2006/main">
            <a:r>
              <a:t/>
            </a:r>
          </a:p>
          <a:p xmlns:a="http://schemas.openxmlformats.org/drawingml/2006/main">
            <a:pPr algn="l">
              <a:defRPr sz="2325" b="0">
                <a:solidFill>
                  <a:srgbClr val="F5F4EE"/>
                </a:solidFill>
                <a:latin typeface="Arial"/>
                <a:ea typeface="Arial"/>
                <a:cs typeface="Arial"/>
              </a:defRPr>
            </a:pPr>
            <a:r>
              <a:rPr sz="2325" b="0">
                <a:solidFill>
                  <a:srgbClr val="F5F4EE"/>
                </a:solidFill>
                <a:latin typeface="Arial"/>
                <a:ea typeface="Arial"/>
                <a:cs typeface="Arial"/>
              </a:rPr>
              <a:t>No speaker authentication</a:t>
            </a:r>
          </a:p>
          <a:p xmlns:a="http://schemas.openxmlformats.org/drawingml/2006/main">
            <a:r>
              <a:t/>
            </a:r>
          </a:p>
          <a:p xmlns:a="http://schemas.openxmlformats.org/drawingml/2006/main">
            <a:pPr algn="l">
              <a:defRPr sz="2325" b="0">
                <a:solidFill>
                  <a:srgbClr val="F5F4EE"/>
                </a:solidFill>
                <a:latin typeface="Arial"/>
                <a:ea typeface="Arial"/>
                <a:cs typeface="Arial"/>
              </a:defRPr>
            </a:pPr>
            <a:r>
              <a:rPr sz="2325" b="0">
                <a:solidFill>
                  <a:srgbClr val="F5F4EE"/>
                </a:solidFill>
                <a:latin typeface="Arial"/>
                <a:ea typeface="Arial"/>
                <a:cs typeface="Arial"/>
              </a:rPr>
              <a:t>No electrical microphone cutoff</a:t>
            </a:r>
          </a:p>
        </p:txBody>
      </p:sp>
      <p:sp>
        <p:nvSpPr>
          <p:cNvPr id="8" name="Experimental spoken interruption remains outs">
            <a:extLst xmlns:a="http://schemas.openxmlformats.org/drawingml/2006/main">
              <a:ext uri="{FF2B5EF4-FFF2-40B4-BE49-F238E27FC236}">
                <a16:creationId xmlns:a16="http://schemas.microsoft.com/office/drawing/2014/main" id="{B3FA98BA-E175-408F-ADA9-6A2FB0268BE6}"/>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EC0CB"/>
                </a:solidFill>
                <a:latin typeface="Arial"/>
                <a:ea typeface="Arial"/>
                <a:cs typeface="Arial"/>
              </a:defRPr>
            </a:defPPr>
          </a:lstStyle>
          <a:p xmlns:a="http://schemas.openxmlformats.org/drawingml/2006/main">
            <a:pPr algn="l">
              <a:defRPr sz="1575" b="0">
                <a:solidFill>
                  <a:srgbClr val="AEC0CB"/>
                </a:solidFill>
                <a:latin typeface="Arial"/>
                <a:ea typeface="Arial"/>
                <a:cs typeface="Arial"/>
              </a:defRPr>
            </a:pPr>
            <a:r>
              <a:rPr sz="1575" b="0">
                <a:solidFill>
                  <a:srgbClr val="AEC0CB"/>
                </a:solidFill>
                <a:latin typeface="Arial"/>
                <a:ea typeface="Arial"/>
                <a:cs typeface="Arial"/>
              </a:rPr>
              <a:t>Experimental spoken interruption remains outside the core demo</a:t>
            </a:r>
          </a:p>
        </p:txBody>
      </p:sp>
    </p:spTree>
    <p:extLst>
      <p:ext uri="{BB962C8B-B14F-4D97-AF65-F5344CB8AC3E}">
        <p14:creationId xmlns:p14="http://schemas.microsoft.com/office/powerpoint/2010/main" val="1313261253"/>
      </p:ext>
    </p:extLst>
  </p:cSld>
</p:sld>
</file>

<file path=ppt/slides/slide11.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4" name="NOVA">
            <a:extLst xmlns:a="http://schemas.openxmlformats.org/drawingml/2006/main">
              <a:ext uri="{FF2B5EF4-FFF2-40B4-BE49-F238E27FC236}">
                <a16:creationId xmlns:a16="http://schemas.microsoft.com/office/drawing/2014/main" id="{3914DD69-DD86-4738-A878-1BD41CA9EF5B}"/>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7C65"/>
                </a:solidFill>
                <a:latin typeface="Arial"/>
                <a:ea typeface="Arial"/>
                <a:cs typeface="Arial"/>
              </a:defRPr>
            </a:defPPr>
          </a:lstStyle>
          <a:p xmlns:a="http://schemas.openxmlformats.org/drawingml/2006/main">
            <a:pPr algn="l">
              <a:defRPr sz="1425" b="1">
                <a:solidFill>
                  <a:srgbClr val="007C65"/>
                </a:solidFill>
                <a:latin typeface="Arial"/>
                <a:ea typeface="Arial"/>
                <a:cs typeface="Arial"/>
              </a:defRPr>
            </a:pPr>
            <a:r>
              <a:rPr sz="1425" b="1">
                <a:solidFill>
                  <a:srgbClr val="007C65"/>
                </a:solidFill>
                <a:latin typeface="Arial"/>
                <a:ea typeface="Arial"/>
                <a:cs typeface="Arial"/>
              </a:rPr>
              <a:t>NOVA</a:t>
            </a:r>
          </a:p>
        </p:txBody>
      </p:sp>
      <p:sp>
        <p:nvSpPr>
          <p:cNvPr id="2" name="11">
            <a:extLst xmlns:a="http://schemas.openxmlformats.org/drawingml/2006/main">
              <a:ext uri="{FF2B5EF4-FFF2-40B4-BE49-F238E27FC236}">
                <a16:creationId xmlns:a16="http://schemas.microsoft.com/office/drawing/2014/main" id="{62E40A76-8CA7-470B-AA7C-1D924FDA0BC5}"/>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976"/>
                </a:solidFill>
                <a:latin typeface="Arial"/>
                <a:ea typeface="Arial"/>
                <a:cs typeface="Arial"/>
              </a:defRPr>
            </a:defPPr>
          </a:lstStyle>
          <a:p xmlns:a="http://schemas.openxmlformats.org/drawingml/2006/main">
            <a:pPr algn="r">
              <a:defRPr sz="1350" b="0">
                <a:solidFill>
                  <a:srgbClr val="526976"/>
                </a:solidFill>
                <a:latin typeface="Arial"/>
                <a:ea typeface="Arial"/>
                <a:cs typeface="Arial"/>
              </a:defRPr>
            </a:pPr>
            <a:r>
              <a:rPr sz="1350" b="0">
                <a:solidFill>
                  <a:srgbClr val="526976"/>
                </a:solidFill>
                <a:latin typeface="Arial"/>
                <a:ea typeface="Arial"/>
                <a:cs typeface="Arial"/>
              </a:rPr>
              <a:t>11</a:t>
            </a:r>
          </a:p>
        </p:txBody>
      </p:sp>
      <p:sp>
        <p:nvSpPr>
          <p:cNvPr id="3" name="The next milestones">
            <a:extLst xmlns:a="http://schemas.openxmlformats.org/drawingml/2006/main">
              <a:ext uri="{FF2B5EF4-FFF2-40B4-BE49-F238E27FC236}">
                <a16:creationId xmlns:a16="http://schemas.microsoft.com/office/drawing/2014/main" id="{8DBC575F-0AAA-4BAE-9C50-F7713B5F4815}"/>
              </a:ext>
            </a:extLst>
          </p:cNvPr>
          <p:cNvSpPr>
            <a:spLocks xmlns:a="http://schemas.openxmlformats.org/drawingml/2006/main" noGrp="1"/>
          </p:cNvSpPr>
          <p:nvPr/>
        </p:nvSpPr>
        <p:spPr>
          <a:xfrm xmlns:a="http://schemas.openxmlformats.org/drawingml/2006/main">
            <a:off x="762000" y="1095375"/>
            <a:ext cx="1352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02C38"/>
                </a:solidFill>
                <a:latin typeface="Arial"/>
                <a:ea typeface="Arial"/>
                <a:cs typeface="Arial"/>
              </a:defRPr>
            </a:defPPr>
          </a:lstStyle>
          <a:p xmlns:a="http://schemas.openxmlformats.org/drawingml/2006/main">
            <a:pPr algn="l">
              <a:defRPr sz="4350" b="1">
                <a:solidFill>
                  <a:srgbClr val="102C38"/>
                </a:solidFill>
                <a:latin typeface="Arial"/>
                <a:ea typeface="Arial"/>
                <a:cs typeface="Arial"/>
              </a:defRPr>
            </a:pPr>
            <a:r>
              <a:rPr sz="4350" b="1">
                <a:solidFill>
                  <a:srgbClr val="102C38"/>
                </a:solidFill>
                <a:latin typeface="Arial"/>
                <a:ea typeface="Arial"/>
                <a:cs typeface="Arial"/>
              </a:rPr>
              <a:t>The next milestones</a:t>
            </a:r>
          </a:p>
        </p:txBody>
      </p:sp>
      <p:sp>
        <p:nvSpPr>
          <p:cNvPr id="4" name="01">
            <a:extLst xmlns:a="http://schemas.openxmlformats.org/drawingml/2006/main">
              <a:ext uri="{FF2B5EF4-FFF2-40B4-BE49-F238E27FC236}">
                <a16:creationId xmlns:a16="http://schemas.microsoft.com/office/drawing/2014/main" id="{89E8DF79-D7F2-4C3D-9C31-50204F98A0ED}"/>
              </a:ext>
            </a:extLst>
          </p:cNvPr>
          <p:cNvSpPr>
            <a:spLocks xmlns:a="http://schemas.openxmlformats.org/drawingml/2006/main" noGrp="1"/>
          </p:cNvSpPr>
          <p:nvPr/>
        </p:nvSpPr>
        <p:spPr>
          <a:xfrm xmlns:a="http://schemas.openxmlformats.org/drawingml/2006/main">
            <a:off x="762000" y="276225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07C65"/>
                </a:solidFill>
                <a:latin typeface="Arial"/>
                <a:ea typeface="Arial"/>
                <a:cs typeface="Arial"/>
              </a:defRPr>
            </a:defPPr>
          </a:lstStyle>
          <a:p xmlns:a="http://schemas.openxmlformats.org/drawingml/2006/main">
            <a:pPr algn="l">
              <a:defRPr sz="6900" b="1">
                <a:solidFill>
                  <a:srgbClr val="007C65"/>
                </a:solidFill>
                <a:latin typeface="Arial"/>
                <a:ea typeface="Arial"/>
                <a:cs typeface="Arial"/>
              </a:defRPr>
            </a:pPr>
            <a:r>
              <a:rPr sz="6900" b="1">
                <a:solidFill>
                  <a:srgbClr val="007C65"/>
                </a:solidFill>
                <a:latin typeface="Arial"/>
                <a:ea typeface="Arial"/>
                <a:cs typeface="Arial"/>
              </a:rPr>
              <a:t>01</a:t>
            </a:r>
          </a:p>
        </p:txBody>
      </p:sp>
      <p:sp>
        <p:nvSpPr>
          <p:cNvPr id="5" name="Validate the Pi">
            <a:extLst xmlns:a="http://schemas.openxmlformats.org/drawingml/2006/main">
              <a:ext uri="{FF2B5EF4-FFF2-40B4-BE49-F238E27FC236}">
                <a16:creationId xmlns:a16="http://schemas.microsoft.com/office/drawing/2014/main" id="{863ABA48-2AE2-44ED-97ED-459D88BB31AF}"/>
              </a:ext>
            </a:extLst>
          </p:cNvPr>
          <p:cNvSpPr>
            <a:spLocks xmlns:a="http://schemas.openxmlformats.org/drawingml/2006/main" noGrp="1"/>
          </p:cNvSpPr>
          <p:nvPr/>
        </p:nvSpPr>
        <p:spPr>
          <a:xfrm xmlns:a="http://schemas.openxmlformats.org/drawingml/2006/main">
            <a:off x="762000" y="4276725"/>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02C38"/>
                </a:solidFill>
                <a:latin typeface="Arial"/>
                <a:ea typeface="Arial"/>
                <a:cs typeface="Arial"/>
              </a:defRPr>
            </a:defPPr>
          </a:lstStyle>
          <a:p xmlns:a="http://schemas.openxmlformats.org/drawingml/2006/main">
            <a:pPr algn="l">
              <a:defRPr sz="2850" b="1">
                <a:solidFill>
                  <a:srgbClr val="102C38"/>
                </a:solidFill>
                <a:latin typeface="Arial"/>
                <a:ea typeface="Arial"/>
                <a:cs typeface="Arial"/>
              </a:defRPr>
            </a:pPr>
            <a:r>
              <a:rPr sz="2850" b="1">
                <a:solidFill>
                  <a:srgbClr val="102C38"/>
                </a:solidFill>
                <a:latin typeface="Arial"/>
                <a:ea typeface="Arial"/>
                <a:cs typeface="Arial"/>
              </a:rPr>
              <a:t>Validate the Pi</a:t>
            </a:r>
          </a:p>
        </p:txBody>
      </p:sp>
      <p:sp>
        <p:nvSpPr>
          <p:cNvPr id="6" name="Boot and headless audio&#10;GPIO fault behavior&#10;T">
            <a:extLst xmlns:a="http://schemas.openxmlformats.org/drawingml/2006/main">
              <a:ext uri="{FF2B5EF4-FFF2-40B4-BE49-F238E27FC236}">
                <a16:creationId xmlns:a16="http://schemas.microsoft.com/office/drawing/2014/main" id="{AA4B3030-C856-4F95-8E20-D0EA030ADCC3}"/>
              </a:ext>
            </a:extLst>
          </p:cNvPr>
          <p:cNvSpPr>
            <a:spLocks xmlns:a="http://schemas.openxmlformats.org/drawingml/2006/main" noGrp="1"/>
          </p:cNvSpPr>
          <p:nvPr/>
        </p:nvSpPr>
        <p:spPr>
          <a:xfrm xmlns:a="http://schemas.openxmlformats.org/drawingml/2006/main">
            <a:off x="762000" y="5686425"/>
            <a:ext cx="43815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6"/>
                </a:solidFill>
                <a:latin typeface="Arial"/>
                <a:ea typeface="Arial"/>
                <a:cs typeface="Arial"/>
              </a:defRPr>
            </a:defPPr>
          </a:lstStyle>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Boot and headless audio</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GPIO fault behavior</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Thermal and latency soak</a:t>
            </a:r>
          </a:p>
        </p:txBody>
      </p:sp>
      <p:sp>
        <p:nvSpPr>
          <p:cNvPr id="7" name="02">
            <a:extLst xmlns:a="http://schemas.openxmlformats.org/drawingml/2006/main">
              <a:ext uri="{FF2B5EF4-FFF2-40B4-BE49-F238E27FC236}">
                <a16:creationId xmlns:a16="http://schemas.microsoft.com/office/drawing/2014/main" id="{E6EB0529-D893-4AE8-BC0C-7E0EBD0E2FEC}"/>
              </a:ext>
            </a:extLst>
          </p:cNvPr>
          <p:cNvSpPr>
            <a:spLocks xmlns:a="http://schemas.openxmlformats.org/drawingml/2006/main" noGrp="1"/>
          </p:cNvSpPr>
          <p:nvPr/>
        </p:nvSpPr>
        <p:spPr>
          <a:xfrm xmlns:a="http://schemas.openxmlformats.org/drawingml/2006/main">
            <a:off x="5476875" y="276225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07C65"/>
                </a:solidFill>
                <a:latin typeface="Arial"/>
                <a:ea typeface="Arial"/>
                <a:cs typeface="Arial"/>
              </a:defRPr>
            </a:defPPr>
          </a:lstStyle>
          <a:p xmlns:a="http://schemas.openxmlformats.org/drawingml/2006/main">
            <a:pPr algn="l">
              <a:defRPr sz="6900" b="1">
                <a:solidFill>
                  <a:srgbClr val="007C65"/>
                </a:solidFill>
                <a:latin typeface="Arial"/>
                <a:ea typeface="Arial"/>
                <a:cs typeface="Arial"/>
              </a:defRPr>
            </a:pPr>
            <a:r>
              <a:rPr sz="6900" b="1">
                <a:solidFill>
                  <a:srgbClr val="007C65"/>
                </a:solidFill>
                <a:latin typeface="Arial"/>
                <a:ea typeface="Arial"/>
                <a:cs typeface="Arial"/>
              </a:rPr>
              <a:t>02</a:t>
            </a:r>
          </a:p>
        </p:txBody>
      </p:sp>
      <p:sp>
        <p:nvSpPr>
          <p:cNvPr id="8" name="Strengthen the runtime">
            <a:extLst xmlns:a="http://schemas.openxmlformats.org/drawingml/2006/main">
              <a:ext uri="{FF2B5EF4-FFF2-40B4-BE49-F238E27FC236}">
                <a16:creationId xmlns:a16="http://schemas.microsoft.com/office/drawing/2014/main" id="{4740FD23-63B6-475B-B021-3B62FC857336}"/>
              </a:ext>
            </a:extLst>
          </p:cNvPr>
          <p:cNvSpPr>
            <a:spLocks xmlns:a="http://schemas.openxmlformats.org/drawingml/2006/main" noGrp="1"/>
          </p:cNvSpPr>
          <p:nvPr/>
        </p:nvSpPr>
        <p:spPr>
          <a:xfrm xmlns:a="http://schemas.openxmlformats.org/drawingml/2006/main">
            <a:off x="5476875" y="4276725"/>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02C38"/>
                </a:solidFill>
                <a:latin typeface="Arial"/>
                <a:ea typeface="Arial"/>
                <a:cs typeface="Arial"/>
              </a:defRPr>
            </a:defPPr>
          </a:lstStyle>
          <a:p xmlns:a="http://schemas.openxmlformats.org/drawingml/2006/main">
            <a:pPr algn="l">
              <a:defRPr sz="2850" b="1">
                <a:solidFill>
                  <a:srgbClr val="102C38"/>
                </a:solidFill>
                <a:latin typeface="Arial"/>
                <a:ea typeface="Arial"/>
                <a:cs typeface="Arial"/>
              </a:defRPr>
            </a:pPr>
            <a:r>
              <a:rPr sz="2850" b="1">
                <a:solidFill>
                  <a:srgbClr val="102C38"/>
                </a:solidFill>
                <a:latin typeface="Arial"/>
                <a:ea typeface="Arial"/>
                <a:cs typeface="Arial"/>
              </a:rPr>
              <a:t>Strengthen the runtime</a:t>
            </a:r>
          </a:p>
        </p:txBody>
      </p:sp>
      <p:sp>
        <p:nvSpPr>
          <p:cNvPr id="9" name="Portable installation&#10;Real voice CLI&#10;Token-bo">
            <a:extLst xmlns:a="http://schemas.openxmlformats.org/drawingml/2006/main">
              <a:ext uri="{FF2B5EF4-FFF2-40B4-BE49-F238E27FC236}">
                <a16:creationId xmlns:a16="http://schemas.microsoft.com/office/drawing/2014/main" id="{FA7AC527-4C8B-4825-9F80-497D20209C64}"/>
              </a:ext>
            </a:extLst>
          </p:cNvPr>
          <p:cNvSpPr>
            <a:spLocks xmlns:a="http://schemas.openxmlformats.org/drawingml/2006/main" noGrp="1"/>
          </p:cNvSpPr>
          <p:nvPr/>
        </p:nvSpPr>
        <p:spPr>
          <a:xfrm xmlns:a="http://schemas.openxmlformats.org/drawingml/2006/main">
            <a:off x="5476875" y="5686425"/>
            <a:ext cx="43815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6"/>
                </a:solidFill>
                <a:latin typeface="Arial"/>
                <a:ea typeface="Arial"/>
                <a:cs typeface="Arial"/>
              </a:defRPr>
            </a:defPPr>
          </a:lstStyle>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Portable installation</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Real voice CLI</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Token-bounded context</a:t>
            </a:r>
          </a:p>
        </p:txBody>
      </p:sp>
      <p:sp>
        <p:nvSpPr>
          <p:cNvPr id="10" name="03">
            <a:extLst xmlns:a="http://schemas.openxmlformats.org/drawingml/2006/main">
              <a:ext uri="{FF2B5EF4-FFF2-40B4-BE49-F238E27FC236}">
                <a16:creationId xmlns:a16="http://schemas.microsoft.com/office/drawing/2014/main" id="{260E27D8-DAAF-498A-B7A1-613063C96A98}"/>
              </a:ext>
            </a:extLst>
          </p:cNvPr>
          <p:cNvSpPr>
            <a:spLocks xmlns:a="http://schemas.openxmlformats.org/drawingml/2006/main" noGrp="1"/>
          </p:cNvSpPr>
          <p:nvPr/>
        </p:nvSpPr>
        <p:spPr>
          <a:xfrm xmlns:a="http://schemas.openxmlformats.org/drawingml/2006/main">
            <a:off x="10191750" y="276225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07C65"/>
                </a:solidFill>
                <a:latin typeface="Arial"/>
                <a:ea typeface="Arial"/>
                <a:cs typeface="Arial"/>
              </a:defRPr>
            </a:defPPr>
          </a:lstStyle>
          <a:p xmlns:a="http://schemas.openxmlformats.org/drawingml/2006/main">
            <a:pPr algn="l">
              <a:defRPr sz="6900" b="1">
                <a:solidFill>
                  <a:srgbClr val="007C65"/>
                </a:solidFill>
                <a:latin typeface="Arial"/>
                <a:ea typeface="Arial"/>
                <a:cs typeface="Arial"/>
              </a:defRPr>
            </a:pPr>
            <a:r>
              <a:rPr sz="6900" b="1">
                <a:solidFill>
                  <a:srgbClr val="007C65"/>
                </a:solidFill>
                <a:latin typeface="Arial"/>
                <a:ea typeface="Arial"/>
                <a:cs typeface="Arial"/>
              </a:rPr>
              <a:t>03</a:t>
            </a:r>
          </a:p>
        </p:txBody>
      </p:sp>
      <p:sp>
        <p:nvSpPr>
          <p:cNvPr id="11" name="Improve interaction">
            <a:extLst xmlns:a="http://schemas.openxmlformats.org/drawingml/2006/main">
              <a:ext uri="{FF2B5EF4-FFF2-40B4-BE49-F238E27FC236}">
                <a16:creationId xmlns:a16="http://schemas.microsoft.com/office/drawing/2014/main" id="{4C11DCB4-2B04-4099-B298-551B2C53BB9A}"/>
              </a:ext>
            </a:extLst>
          </p:cNvPr>
          <p:cNvSpPr>
            <a:spLocks xmlns:a="http://schemas.openxmlformats.org/drawingml/2006/main" noGrp="1"/>
          </p:cNvSpPr>
          <p:nvPr/>
        </p:nvSpPr>
        <p:spPr>
          <a:xfrm xmlns:a="http://schemas.openxmlformats.org/drawingml/2006/main">
            <a:off x="10191750" y="4276725"/>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02C38"/>
                </a:solidFill>
                <a:latin typeface="Arial"/>
                <a:ea typeface="Arial"/>
                <a:cs typeface="Arial"/>
              </a:defRPr>
            </a:defPPr>
          </a:lstStyle>
          <a:p xmlns:a="http://schemas.openxmlformats.org/drawingml/2006/main">
            <a:pPr algn="l">
              <a:defRPr sz="2850" b="1">
                <a:solidFill>
                  <a:srgbClr val="102C38"/>
                </a:solidFill>
                <a:latin typeface="Arial"/>
                <a:ea typeface="Arial"/>
                <a:cs typeface="Arial"/>
              </a:defRPr>
            </a:pPr>
            <a:r>
              <a:rPr sz="2850" b="1">
                <a:solidFill>
                  <a:srgbClr val="102C38"/>
                </a:solidFill>
                <a:latin typeface="Arial"/>
                <a:ea typeface="Arial"/>
                <a:cs typeface="Arial"/>
              </a:rPr>
              <a:t>Improve interaction</a:t>
            </a:r>
          </a:p>
        </p:txBody>
      </p:sp>
      <p:sp>
        <p:nvSpPr>
          <p:cNvPr id="12" name="Acoustic wake detection&#10;Noise and echo handli">
            <a:extLst xmlns:a="http://schemas.openxmlformats.org/drawingml/2006/main">
              <a:ext uri="{FF2B5EF4-FFF2-40B4-BE49-F238E27FC236}">
                <a16:creationId xmlns:a16="http://schemas.microsoft.com/office/drawing/2014/main" id="{EB4E34EF-B1B2-4F26-8593-569F78B7659C}"/>
              </a:ext>
            </a:extLst>
          </p:cNvPr>
          <p:cNvSpPr>
            <a:spLocks xmlns:a="http://schemas.openxmlformats.org/drawingml/2006/main" noGrp="1"/>
          </p:cNvSpPr>
          <p:nvPr/>
        </p:nvSpPr>
        <p:spPr>
          <a:xfrm xmlns:a="http://schemas.openxmlformats.org/drawingml/2006/main">
            <a:off x="10191750" y="5686425"/>
            <a:ext cx="43815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6"/>
                </a:solidFill>
                <a:latin typeface="Arial"/>
                <a:ea typeface="Arial"/>
                <a:cs typeface="Arial"/>
              </a:defRPr>
            </a:defPPr>
          </a:lstStyle>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Acoustic wake detection</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Noise and echo handling</a:t>
            </a:r>
          </a:p>
          <a:p xmlns:a="http://schemas.openxmlformats.org/drawingml/2006/main">
            <a:pPr algn="l">
              <a:defRPr sz="2175" b="0">
                <a:solidFill>
                  <a:srgbClr val="526976"/>
                </a:solidFill>
                <a:latin typeface="Arial"/>
                <a:ea typeface="Arial"/>
                <a:cs typeface="Arial"/>
              </a:defRPr>
            </a:pPr>
            <a:r>
              <a:rPr sz="2175" b="0">
                <a:solidFill>
                  <a:srgbClr val="526976"/>
                </a:solidFill>
                <a:latin typeface="Arial"/>
                <a:ea typeface="Arial"/>
                <a:cs typeface="Arial"/>
              </a:rPr>
              <a:t>Authentication and encryption</a:t>
            </a:r>
          </a:p>
        </p:txBody>
      </p:sp>
      <p:sp>
        <p:nvSpPr>
          <p:cNvPr id="13" name="Future scope / these capabilities are not cla">
            <a:extLst xmlns:a="http://schemas.openxmlformats.org/drawingml/2006/main">
              <a:ext uri="{FF2B5EF4-FFF2-40B4-BE49-F238E27FC236}">
                <a16:creationId xmlns:a16="http://schemas.microsoft.com/office/drawing/2014/main" id="{FA355660-15F9-4F3C-954A-C13CF8A31B7B}"/>
              </a:ext>
            </a:extLst>
          </p:cNvPr>
          <p:cNvSpPr>
            <a:spLocks xmlns:a="http://schemas.openxmlformats.org/drawingml/2006/main" noGrp="1"/>
          </p:cNvSpPr>
          <p:nvPr/>
        </p:nvSpPr>
        <p:spPr>
          <a:xfrm xmlns:a="http://schemas.openxmlformats.org/drawingml/2006/main">
            <a:off x="762000" y="78486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6"/>
                </a:solidFill>
                <a:latin typeface="Arial"/>
                <a:ea typeface="Arial"/>
                <a:cs typeface="Arial"/>
              </a:defRPr>
            </a:defPPr>
          </a:lstStyle>
          <a:p xmlns:a="http://schemas.openxmlformats.org/drawingml/2006/main">
            <a:pPr algn="l">
              <a:defRPr sz="1575" b="0">
                <a:solidFill>
                  <a:srgbClr val="526976"/>
                </a:solidFill>
                <a:latin typeface="Arial"/>
                <a:ea typeface="Arial"/>
                <a:cs typeface="Arial"/>
              </a:defRPr>
            </a:pPr>
            <a:r>
              <a:rPr sz="1575" b="0">
                <a:solidFill>
                  <a:srgbClr val="526976"/>
                </a:solidFill>
                <a:latin typeface="Arial"/>
                <a:ea typeface="Arial"/>
                <a:cs typeface="Arial"/>
              </a:rPr>
              <a:t>Future scope / these capabilities are not claims of completed implementation</a:t>
            </a:r>
          </a:p>
        </p:txBody>
      </p:sp>
    </p:spTree>
    <p:extLst>
      <p:ext uri="{BB962C8B-B14F-4D97-AF65-F5344CB8AC3E}">
        <p14:creationId xmlns:p14="http://schemas.microsoft.com/office/powerpoint/2010/main" val="530664693"/>
      </p:ext>
    </p:extLst>
  </p:cSld>
</p:sld>
</file>

<file path=ppt/slides/slide12.xml><?xml version="1.0" encoding="utf-8"?>
<p:sld xmlns:p="http://schemas.openxmlformats.org/presentationml/2006/main">
  <p:cSld>
    <p:bg>
      <p:bgPr>
        <a:solidFill xmlns:a="http://schemas.openxmlformats.org/drawingml/2006/main">
          <a:srgbClr val="08131F"/>
        </a:solidFill>
      </p:bgPr>
    </p:bg>
    <p:spTree>
      <p:nvGrpSpPr>
        <p:cNvPr id="1" name=""/>
        <p:cNvGrpSpPr/>
        <p:nvPr/>
      </p:nvGrpSpPr>
      <p:grpSpPr>
        <a:xfrm xmlns:a="http://schemas.openxmlformats.org/drawingml/2006/main"/>
      </p:grpSpPr>
      <p:sp>
        <p:nvSpPr>
          <p:cNvPr id="8" name="NOVA">
            <a:extLst xmlns:a="http://schemas.openxmlformats.org/drawingml/2006/main">
              <a:ext uri="{FF2B5EF4-FFF2-40B4-BE49-F238E27FC236}">
                <a16:creationId xmlns:a16="http://schemas.microsoft.com/office/drawing/2014/main" id="{8F505EFC-63BC-496C-9216-D205EFB101FB}"/>
              </a:ext>
            </a:extLst>
          </p:cNvPr>
          <p:cNvSpPr>
            <a:spLocks xmlns:a="http://schemas.openxmlformats.org/drawingml/2006/main" noGrp="1"/>
          </p:cNvSpPr>
          <p:nvPr/>
        </p:nvSpPr>
        <p:spPr>
          <a:xfrm xmlns:a="http://schemas.openxmlformats.org/drawingml/2006/main">
            <a:off x="762000" y="3810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9BF2C7"/>
                </a:solidFill>
                <a:latin typeface="Arial"/>
                <a:ea typeface="Arial"/>
                <a:cs typeface="Arial"/>
              </a:defRPr>
            </a:defPPr>
          </a:lstStyle>
          <a:p xmlns:a="http://schemas.openxmlformats.org/drawingml/2006/main">
            <a:pPr algn="l">
              <a:defRPr sz="1425" b="1">
                <a:solidFill>
                  <a:srgbClr val="9BF2C7"/>
                </a:solidFill>
                <a:latin typeface="Arial"/>
                <a:ea typeface="Arial"/>
                <a:cs typeface="Arial"/>
              </a:defRPr>
            </a:pPr>
            <a:r>
              <a:rPr sz="1425" b="1">
                <a:solidFill>
                  <a:srgbClr val="9BF2C7"/>
                </a:solidFill>
                <a:latin typeface="Arial"/>
                <a:ea typeface="Arial"/>
                <a:cs typeface="Arial"/>
              </a:rPr>
              <a:t>NOVA</a:t>
            </a:r>
          </a:p>
        </p:txBody>
      </p:sp>
      <p:sp>
        <p:nvSpPr>
          <p:cNvPr id="2" name="12">
            <a:extLst xmlns:a="http://schemas.openxmlformats.org/drawingml/2006/main">
              <a:ext uri="{FF2B5EF4-FFF2-40B4-BE49-F238E27FC236}">
                <a16:creationId xmlns:a16="http://schemas.microsoft.com/office/drawing/2014/main" id="{DF84499B-03EB-4492-8B0D-44D30EBEF643}"/>
              </a:ext>
            </a:extLst>
          </p:cNvPr>
          <p:cNvSpPr>
            <a:spLocks xmlns:a="http://schemas.openxmlformats.org/drawingml/2006/main" noGrp="1"/>
          </p:cNvSpPr>
          <p:nvPr/>
        </p:nvSpPr>
        <p:spPr>
          <a:xfrm xmlns:a="http://schemas.openxmlformats.org/drawingml/2006/main">
            <a:off x="13811250" y="3810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B"/>
                </a:solidFill>
                <a:latin typeface="Arial"/>
                <a:ea typeface="Arial"/>
                <a:cs typeface="Arial"/>
              </a:defRPr>
            </a:defPPr>
          </a:lstStyle>
          <a:p xmlns:a="http://schemas.openxmlformats.org/drawingml/2006/main">
            <a:pPr algn="r">
              <a:defRPr sz="1350" b="0">
                <a:solidFill>
                  <a:srgbClr val="AEC0CB"/>
                </a:solidFill>
                <a:latin typeface="Arial"/>
                <a:ea typeface="Arial"/>
                <a:cs typeface="Arial"/>
              </a:defRPr>
            </a:pPr>
            <a:r>
              <a:rPr sz="1350" b="0">
                <a:solidFill>
                  <a:srgbClr val="AEC0CB"/>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F2A39DDC-9A2B-40C7-BCF2-51D3D53D6A57}"/>
              </a:ext>
            </a:extLst>
          </p:cNvPr>
          <p:cNvPicPr>
            <a:picLocks xmlns:a="http://schemas.openxmlformats.org/drawingml/2006/main" noChangeAspect="1"/>
          </p:cNvPicPr>
          <p:nvPr/>
        </p:nvPicPr>
        <p:blipFill>
          <a:blip xmlns:r="http://schemas.openxmlformats.org/officeDocument/2006/relationships" xmlns:a="http://schemas.openxmlformats.org/drawingml/2006/main" r:embed="R98f4403c23594ad0"/>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4" name="NOVA">
            <a:extLst xmlns:a="http://schemas.openxmlformats.org/drawingml/2006/main">
              <a:ext uri="{FF2B5EF4-FFF2-40B4-BE49-F238E27FC236}">
                <a16:creationId xmlns:a16="http://schemas.microsoft.com/office/drawing/2014/main" id="{B298776A-0B1D-4D5A-A907-64F02ABABFC4}"/>
              </a:ext>
            </a:extLst>
          </p:cNvPr>
          <p:cNvSpPr>
            <a:spLocks xmlns:a="http://schemas.openxmlformats.org/drawingml/2006/main" noGrp="1"/>
          </p:cNvSpPr>
          <p:nvPr/>
        </p:nvSpPr>
        <p:spPr>
          <a:xfrm xmlns:a="http://schemas.openxmlformats.org/drawingml/2006/main">
            <a:off x="762000" y="98107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9BF2C7"/>
                </a:solidFill>
                <a:latin typeface="Arial"/>
                <a:ea typeface="Arial"/>
                <a:cs typeface="Arial"/>
              </a:defRPr>
            </a:defPPr>
          </a:lstStyle>
          <a:p xmlns:a="http://schemas.openxmlformats.org/drawingml/2006/main">
            <a:pPr algn="l">
              <a:defRPr sz="3300" b="1">
                <a:solidFill>
                  <a:srgbClr val="9BF2C7"/>
                </a:solidFill>
                <a:latin typeface="Arial"/>
                <a:ea typeface="Arial"/>
                <a:cs typeface="Arial"/>
              </a:defRPr>
            </a:pPr>
            <a:r>
              <a:rPr sz="3300" b="1">
                <a:solidFill>
                  <a:srgbClr val="9BF2C7"/>
                </a:solidFill>
                <a:latin typeface="Arial"/>
                <a:ea typeface="Arial"/>
                <a:cs typeface="Arial"/>
              </a:rPr>
              <a:t>NOVA</a:t>
            </a:r>
          </a:p>
        </p:txBody>
      </p:sp>
      <p:sp>
        <p:nvSpPr>
          <p:cNvPr id="5" name="Local voice.&#10;Personal memory.&#10;Visible control">
            <a:extLst xmlns:a="http://schemas.openxmlformats.org/drawingml/2006/main">
              <a:ext uri="{FF2B5EF4-FFF2-40B4-BE49-F238E27FC236}">
                <a16:creationId xmlns:a16="http://schemas.microsoft.com/office/drawing/2014/main" id="{D1FAE5E9-7AFF-4156-ADF4-73A7ABE56128}"/>
              </a:ext>
            </a:extLst>
          </p:cNvPr>
          <p:cNvSpPr>
            <a:spLocks xmlns:a="http://schemas.openxmlformats.org/drawingml/2006/main" noGrp="1"/>
          </p:cNvSpPr>
          <p:nvPr/>
        </p:nvSpPr>
        <p:spPr>
          <a:xfrm xmlns:a="http://schemas.openxmlformats.org/drawingml/2006/main">
            <a:off x="762000" y="2428875"/>
            <a:ext cx="7905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F5F4EE"/>
                </a:solidFill>
                <a:latin typeface="Arial"/>
                <a:ea typeface="Arial"/>
                <a:cs typeface="Arial"/>
              </a:defRPr>
            </a:defPPr>
          </a:lstStyle>
          <a:p xmlns:a="http://schemas.openxmlformats.org/drawingml/2006/main">
            <a:pPr algn="l">
              <a:defRPr sz="5850" b="1">
                <a:solidFill>
                  <a:srgbClr val="F5F4EE"/>
                </a:solidFill>
                <a:latin typeface="Arial"/>
                <a:ea typeface="Arial"/>
                <a:cs typeface="Arial"/>
              </a:defRPr>
            </a:pPr>
            <a:r>
              <a:rPr sz="5850" b="1">
                <a:solidFill>
                  <a:srgbClr val="F5F4EE"/>
                </a:solidFill>
                <a:latin typeface="Arial"/>
                <a:ea typeface="Arial"/>
                <a:cs typeface="Arial"/>
              </a:rPr>
              <a:t>Local voice.</a:t>
            </a:r>
          </a:p>
          <a:p xmlns:a="http://schemas.openxmlformats.org/drawingml/2006/main">
            <a:pPr algn="l">
              <a:defRPr sz="5850" b="1">
                <a:solidFill>
                  <a:srgbClr val="F5F4EE"/>
                </a:solidFill>
                <a:latin typeface="Arial"/>
                <a:ea typeface="Arial"/>
                <a:cs typeface="Arial"/>
              </a:defRPr>
            </a:pPr>
            <a:r>
              <a:rPr sz="5850" b="1">
                <a:solidFill>
                  <a:srgbClr val="F5F4EE"/>
                </a:solidFill>
                <a:latin typeface="Arial"/>
                <a:ea typeface="Arial"/>
                <a:cs typeface="Arial"/>
              </a:rPr>
              <a:t>Personal memory.</a:t>
            </a:r>
          </a:p>
          <a:p xmlns:a="http://schemas.openxmlformats.org/drawingml/2006/main">
            <a:pPr algn="l">
              <a:defRPr sz="5850" b="1">
                <a:solidFill>
                  <a:srgbClr val="F5F4EE"/>
                </a:solidFill>
                <a:latin typeface="Arial"/>
                <a:ea typeface="Arial"/>
                <a:cs typeface="Arial"/>
              </a:defRPr>
            </a:pPr>
            <a:r>
              <a:rPr sz="5850" b="1">
                <a:solidFill>
                  <a:srgbClr val="F5F4EE"/>
                </a:solidFill>
                <a:latin typeface="Arial"/>
                <a:ea typeface="Arial"/>
                <a:cs typeface="Arial"/>
              </a:rPr>
              <a:t>Visible control.</a:t>
            </a:r>
          </a:p>
        </p:txBody>
      </p:sp>
      <p:sp>
        <p:nvSpPr>
          <p:cNvPr id="6" name="Implemented software foundation&#10;Next mileston">
            <a:extLst xmlns:a="http://schemas.openxmlformats.org/drawingml/2006/main">
              <a:ext uri="{FF2B5EF4-FFF2-40B4-BE49-F238E27FC236}">
                <a16:creationId xmlns:a16="http://schemas.microsoft.com/office/drawing/2014/main" id="{146326E3-628F-454B-B4E4-5ECA79E905DD}"/>
              </a:ext>
            </a:extLst>
          </p:cNvPr>
          <p:cNvSpPr>
            <a:spLocks xmlns:a="http://schemas.openxmlformats.org/drawingml/2006/main" noGrp="1"/>
          </p:cNvSpPr>
          <p:nvPr/>
        </p:nvSpPr>
        <p:spPr>
          <a:xfrm xmlns:a="http://schemas.openxmlformats.org/drawingml/2006/main">
            <a:off x="828675" y="6010275"/>
            <a:ext cx="7858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9BF2C7"/>
                </a:solidFill>
                <a:latin typeface="Arial"/>
                <a:ea typeface="Arial"/>
                <a:cs typeface="Arial"/>
              </a:defRPr>
            </a:defPPr>
          </a:lstStyle>
          <a:p xmlns:a="http://schemas.openxmlformats.org/drawingml/2006/main">
            <a:pPr algn="l">
              <a:defRPr sz="2400" b="0">
                <a:solidFill>
                  <a:srgbClr val="9BF2C7"/>
                </a:solidFill>
                <a:latin typeface="Arial"/>
                <a:ea typeface="Arial"/>
                <a:cs typeface="Arial"/>
              </a:defRPr>
            </a:pPr>
            <a:r>
              <a:rPr sz="2400" b="0">
                <a:solidFill>
                  <a:srgbClr val="9BF2C7"/>
                </a:solidFill>
                <a:latin typeface="Arial"/>
                <a:ea typeface="Arial"/>
                <a:cs typeface="Arial"/>
              </a:rPr>
              <a:t>Implemented software foundation</a:t>
            </a:r>
          </a:p>
          <a:p xmlns:a="http://schemas.openxmlformats.org/drawingml/2006/main">
            <a:pPr algn="l">
              <a:defRPr sz="2400" b="0">
                <a:solidFill>
                  <a:srgbClr val="9BF2C7"/>
                </a:solidFill>
                <a:latin typeface="Arial"/>
                <a:ea typeface="Arial"/>
                <a:cs typeface="Arial"/>
              </a:defRPr>
            </a:pPr>
            <a:r>
              <a:rPr sz="2400" b="0">
                <a:solidFill>
                  <a:srgbClr val="9BF2C7"/>
                </a:solidFill>
                <a:latin typeface="Arial"/>
                <a:ea typeface="Arial"/>
                <a:cs typeface="Arial"/>
              </a:rPr>
              <a:t>Next milestone: physical Pi validation</a:t>
            </a:r>
          </a:p>
        </p:txBody>
      </p:sp>
      <p:sp>
        <p:nvSpPr>
          <p:cNvPr id="7" name="Thank you">
            <a:extLst xmlns:a="http://schemas.openxmlformats.org/drawingml/2006/main">
              <a:ext uri="{FF2B5EF4-FFF2-40B4-BE49-F238E27FC236}">
                <a16:creationId xmlns:a16="http://schemas.microsoft.com/office/drawing/2014/main" id="{4EE51AC3-5ABF-4DC3-A1E5-D76C2E8B668E}"/>
              </a:ext>
            </a:extLst>
          </p:cNvPr>
          <p:cNvSpPr>
            <a:spLocks xmlns:a="http://schemas.openxmlformats.org/drawingml/2006/main" noGrp="1"/>
          </p:cNvSpPr>
          <p:nvPr/>
        </p:nvSpPr>
        <p:spPr>
          <a:xfrm xmlns:a="http://schemas.openxmlformats.org/drawingml/2006/main">
            <a:off x="828675" y="7800975"/>
            <a:ext cx="714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AEC0CB"/>
                </a:solidFill>
                <a:latin typeface="Arial"/>
                <a:ea typeface="Arial"/>
                <a:cs typeface="Arial"/>
              </a:defRPr>
            </a:defPPr>
          </a:lstStyle>
          <a:p xmlns:a="http://schemas.openxmlformats.org/drawingml/2006/main">
            <a:pPr algn="l">
              <a:defRPr sz="1650" b="0">
                <a:solidFill>
                  <a:srgbClr val="AEC0CB"/>
                </a:solidFill>
                <a:latin typeface="Arial"/>
                <a:ea typeface="Arial"/>
                <a:cs typeface="Arial"/>
              </a:defRPr>
            </a:pPr>
            <a:r>
              <a:rPr sz="1650" b="0">
                <a:solidFill>
                  <a:srgbClr val="AEC0CB"/>
                </a:solidFill>
                <a:latin typeface="Arial"/>
                <a:ea typeface="Arial"/>
                <a:cs typeface="Arial"/>
              </a:rPr>
              <a:t>Thank you</a:t>
            </a:r>
          </a:p>
        </p:txBody>
      </p:sp>
    </p:spTree>
    <p:extLst>
      <p:ext uri="{BB962C8B-B14F-4D97-AF65-F5344CB8AC3E}">
        <p14:creationId xmlns:p14="http://schemas.microsoft.com/office/powerpoint/2010/main" val="18375304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2026-10-10T01:23:39.3300000Z</dcterms:created>
  <dcterms:modified xsi:type="dcterms:W3CDTF">2026-10-10T01:23:39.3310000Z</dcterms:modified>
</coreProperties>
</file>